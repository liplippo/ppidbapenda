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5" r:id="rId1"/>
  </p:sldMasterIdLst>
  <p:notesMasterIdLst>
    <p:notesMasterId r:id="rId16"/>
  </p:notesMasterIdLst>
  <p:sldIdLst>
    <p:sldId id="256" r:id="rId2"/>
    <p:sldId id="265" r:id="rId3"/>
    <p:sldId id="272" r:id="rId4"/>
    <p:sldId id="266" r:id="rId5"/>
    <p:sldId id="267" r:id="rId6"/>
    <p:sldId id="268" r:id="rId7"/>
    <p:sldId id="269" r:id="rId8"/>
    <p:sldId id="270" r:id="rId9"/>
    <p:sldId id="273" r:id="rId10"/>
    <p:sldId id="271" r:id="rId11"/>
    <p:sldId id="262" r:id="rId12"/>
    <p:sldId id="264" r:id="rId13"/>
    <p:sldId id="259" r:id="rId14"/>
    <p:sldId id="26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2" autoAdjust="0"/>
    <p:restoredTop sz="94660"/>
  </p:normalViewPr>
  <p:slideViewPr>
    <p:cSldViewPr snapToGrid="0">
      <p:cViewPr varScale="1">
        <p:scale>
          <a:sx n="83" d="100"/>
          <a:sy n="83" d="100"/>
        </p:scale>
        <p:origin x="90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E6852-48AC-43BD-9D88-77D6AA4C97DE}" type="datetimeFigureOut">
              <a:rPr lang="id-ID" smtClean="0"/>
              <a:t>15/09/2022</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3A5DFF-932D-474F-815D-3B62EE154CA8}" type="slidenum">
              <a:rPr lang="id-ID" smtClean="0"/>
              <a:t>‹#›</a:t>
            </a:fld>
            <a:endParaRPr lang="id-ID"/>
          </a:p>
        </p:txBody>
      </p:sp>
    </p:spTree>
    <p:extLst>
      <p:ext uri="{BB962C8B-B14F-4D97-AF65-F5344CB8AC3E}">
        <p14:creationId xmlns:p14="http://schemas.microsoft.com/office/powerpoint/2010/main" val="146886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7421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241130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6421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9/15/2022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66037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4623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460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9133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639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372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1543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8821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001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7426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4114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9256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39154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0194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9/15/2022</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2327455"/>
      </p:ext>
    </p:extLst>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KENDALI17092022/matrik%20paparan%20inspektorat%202022.xl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2822" y="3059559"/>
            <a:ext cx="9086354" cy="921019"/>
          </a:xfrm>
        </p:spPr>
        <p:txBody>
          <a:bodyPr>
            <a:normAutofit/>
          </a:bodyPr>
          <a:lstStyle/>
          <a:p>
            <a:pPr algn="ctr"/>
            <a:r>
              <a:rPr lang="en-US" sz="4400" b="1" dirty="0">
                <a:latin typeface="Bauhaus 93" panose="04030905020B02020C02" pitchFamily="82" charset="0"/>
              </a:rPr>
              <a:t>BIDANG EVALUASI DAN PEMBINAAN</a:t>
            </a:r>
          </a:p>
        </p:txBody>
      </p:sp>
      <p:sp>
        <p:nvSpPr>
          <p:cNvPr id="3" name="Subtitle 2"/>
          <p:cNvSpPr>
            <a:spLocks noGrp="1"/>
          </p:cNvSpPr>
          <p:nvPr>
            <p:ph type="subTitle" idx="1"/>
          </p:nvPr>
        </p:nvSpPr>
        <p:spPr>
          <a:xfrm>
            <a:off x="3813799" y="6265879"/>
            <a:ext cx="4749595" cy="319072"/>
          </a:xfrm>
        </p:spPr>
        <p:txBody>
          <a:bodyPr>
            <a:noAutofit/>
          </a:bodyPr>
          <a:lstStyle/>
          <a:p>
            <a:pPr algn="ctr"/>
            <a:r>
              <a:rPr lang="en-US" sz="1600" b="1" dirty="0" err="1"/>
              <a:t>jepara</a:t>
            </a:r>
            <a:r>
              <a:rPr lang="en-US" sz="1600" b="1" dirty="0"/>
              <a:t>, 16-17 September 2022</a:t>
            </a:r>
          </a:p>
        </p:txBody>
      </p:sp>
      <p:pic>
        <p:nvPicPr>
          <p:cNvPr id="4" name="Picture 3">
            <a:extLst>
              <a:ext uri="{FF2B5EF4-FFF2-40B4-BE49-F238E27FC236}">
                <a16:creationId xmlns:a16="http://schemas.microsoft.com/office/drawing/2014/main" id="{C08C82F2-501B-4C30-971F-208E3DF30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9513" y="620579"/>
            <a:ext cx="1932971" cy="2095016"/>
          </a:xfrm>
          <a:prstGeom prst="rect">
            <a:avLst/>
          </a:prstGeom>
        </p:spPr>
      </p:pic>
      <p:sp>
        <p:nvSpPr>
          <p:cNvPr id="5" name="TextBox 4">
            <a:extLst>
              <a:ext uri="{FF2B5EF4-FFF2-40B4-BE49-F238E27FC236}">
                <a16:creationId xmlns:a16="http://schemas.microsoft.com/office/drawing/2014/main" id="{E59FAF6D-ECB3-4045-ABBA-7873F332A5BB}"/>
              </a:ext>
            </a:extLst>
          </p:cNvPr>
          <p:cNvSpPr txBox="1"/>
          <p:nvPr/>
        </p:nvSpPr>
        <p:spPr>
          <a:xfrm>
            <a:off x="761944" y="3980578"/>
            <a:ext cx="10915168" cy="769441"/>
          </a:xfrm>
          <a:prstGeom prst="rect">
            <a:avLst/>
          </a:prstGeom>
          <a:noFill/>
        </p:spPr>
        <p:txBody>
          <a:bodyPr wrap="none" rtlCol="0">
            <a:spAutoFit/>
          </a:bodyPr>
          <a:lstStyle/>
          <a:p>
            <a:r>
              <a:rPr lang="en-US" sz="4400" b="1" dirty="0">
                <a:latin typeface="Bauhaus 93" panose="04030905020B02020C02" pitchFamily="82" charset="0"/>
              </a:rPr>
              <a:t>RAPAT PENGENDALIAN BULAN AGUSTUS 2022</a:t>
            </a:r>
          </a:p>
        </p:txBody>
      </p:sp>
    </p:spTree>
    <p:extLst>
      <p:ext uri="{BB962C8B-B14F-4D97-AF65-F5344CB8AC3E}">
        <p14:creationId xmlns:p14="http://schemas.microsoft.com/office/powerpoint/2010/main" val="3758765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E-Controlling _ Rekap _ Progres Agenda Agustus.pdf - Nitro Pro">
            <a:extLst>
              <a:ext uri="{FF2B5EF4-FFF2-40B4-BE49-F238E27FC236}">
                <a16:creationId xmlns:a16="http://schemas.microsoft.com/office/drawing/2014/main" id="{B22C8967-36C9-4227-95BB-FC6E8B780CC5}"/>
              </a:ext>
            </a:extLst>
          </p:cNvPr>
          <p:cNvPicPr>
            <a:picLocks noChangeAspect="1"/>
          </p:cNvPicPr>
          <p:nvPr/>
        </p:nvPicPr>
        <p:blipFill rotWithShape="1">
          <a:blip r:embed="rId2"/>
          <a:srcRect l="19653" t="47579" r="29440" b="8257"/>
          <a:stretch/>
        </p:blipFill>
        <p:spPr>
          <a:xfrm>
            <a:off x="324089" y="1365812"/>
            <a:ext cx="11551536" cy="5324355"/>
          </a:xfrm>
          <a:prstGeom prst="rect">
            <a:avLst/>
          </a:prstGeom>
        </p:spPr>
      </p:pic>
      <p:sp>
        <p:nvSpPr>
          <p:cNvPr id="11" name="TextBox 10">
            <a:extLst>
              <a:ext uri="{FF2B5EF4-FFF2-40B4-BE49-F238E27FC236}">
                <a16:creationId xmlns:a16="http://schemas.microsoft.com/office/drawing/2014/main" id="{94411655-0A7B-4314-BEB0-93D136BEA9AF}"/>
              </a:ext>
            </a:extLst>
          </p:cNvPr>
          <p:cNvSpPr txBox="1"/>
          <p:nvPr/>
        </p:nvSpPr>
        <p:spPr>
          <a:xfrm>
            <a:off x="1530872" y="358815"/>
            <a:ext cx="9130256" cy="830997"/>
          </a:xfrm>
          <a:prstGeom prst="rect">
            <a:avLst/>
          </a:prstGeom>
          <a:noFill/>
        </p:spPr>
        <p:txBody>
          <a:bodyPr wrap="none" rtlCol="0">
            <a:spAutoFit/>
          </a:bodyPr>
          <a:lstStyle/>
          <a:p>
            <a:pPr algn="ctr"/>
            <a:r>
              <a:rPr lang="en-US" sz="2400" b="1" dirty="0"/>
              <a:t>REALISASI FISIK DAN KEUANGAN BIDANG EVALUASI DAN PEMBINAAN </a:t>
            </a:r>
          </a:p>
          <a:p>
            <a:pPr algn="ctr"/>
            <a:r>
              <a:rPr lang="en-US" sz="2400" b="1" dirty="0"/>
              <a:t>SAMPAI DENGAN BULAN AGUSTUS 2022</a:t>
            </a:r>
            <a:endParaRPr lang="id-ID" sz="2400" b="1" dirty="0"/>
          </a:p>
        </p:txBody>
      </p:sp>
    </p:spTree>
    <p:extLst>
      <p:ext uri="{BB962C8B-B14F-4D97-AF65-F5344CB8AC3E}">
        <p14:creationId xmlns:p14="http://schemas.microsoft.com/office/powerpoint/2010/main" val="1388839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98F137-2AE4-4D69-A715-6A0076E0D9CA}"/>
              </a:ext>
            </a:extLst>
          </p:cNvPr>
          <p:cNvSpPr txBox="1"/>
          <p:nvPr/>
        </p:nvSpPr>
        <p:spPr>
          <a:xfrm>
            <a:off x="312516" y="995424"/>
            <a:ext cx="11566967" cy="4524315"/>
          </a:xfrm>
          <a:prstGeom prst="rect">
            <a:avLst/>
          </a:prstGeom>
          <a:noFill/>
        </p:spPr>
        <p:txBody>
          <a:bodyPr wrap="square" rtlCol="0">
            <a:spAutoFit/>
          </a:bodyPr>
          <a:lstStyle/>
          <a:p>
            <a:pPr algn="just"/>
            <a:r>
              <a:rPr lang="en-US" sz="2400" b="1" dirty="0" err="1"/>
              <a:t>Penjelasan</a:t>
            </a:r>
            <a:r>
              <a:rPr lang="en-US" sz="2400" b="1" dirty="0"/>
              <a:t>:</a:t>
            </a:r>
          </a:p>
          <a:p>
            <a:pPr marL="342900" indent="-342900" algn="just">
              <a:buAutoNum type="arabicPeriod"/>
            </a:pPr>
            <a:r>
              <a:rPr lang="en-US" sz="2400" b="1" dirty="0" err="1"/>
              <a:t>Bidang</a:t>
            </a:r>
            <a:r>
              <a:rPr lang="en-US" sz="2400" b="1" dirty="0"/>
              <a:t> </a:t>
            </a:r>
            <a:r>
              <a:rPr lang="en-US" sz="2400" b="1" dirty="0" err="1"/>
              <a:t>Valbin</a:t>
            </a:r>
            <a:r>
              <a:rPr lang="en-US" sz="2400" b="1" dirty="0"/>
              <a:t> Target </a:t>
            </a:r>
            <a:r>
              <a:rPr lang="en-US" sz="2400" b="1" dirty="0" err="1"/>
              <a:t>fisik</a:t>
            </a:r>
            <a:r>
              <a:rPr lang="en-US" sz="2400" b="1" dirty="0"/>
              <a:t> 64,48% </a:t>
            </a:r>
            <a:r>
              <a:rPr lang="en-US" sz="2400" b="1" dirty="0" err="1"/>
              <a:t>dengan</a:t>
            </a:r>
            <a:r>
              <a:rPr lang="en-US" sz="2400" b="1" dirty="0"/>
              <a:t> </a:t>
            </a:r>
            <a:r>
              <a:rPr lang="en-US" sz="2400" b="1" dirty="0" err="1"/>
              <a:t>realisasi</a:t>
            </a:r>
            <a:r>
              <a:rPr lang="en-US" sz="2400" b="1" dirty="0"/>
              <a:t> </a:t>
            </a:r>
            <a:r>
              <a:rPr lang="en-US" sz="2400" b="1" dirty="0" err="1"/>
              <a:t>fisik</a:t>
            </a:r>
            <a:r>
              <a:rPr lang="en-US" sz="2400" b="1" dirty="0"/>
              <a:t> 77,62% </a:t>
            </a:r>
            <a:r>
              <a:rPr lang="en-US" sz="2400" b="1" dirty="0" err="1"/>
              <a:t>sehingga</a:t>
            </a:r>
            <a:r>
              <a:rPr lang="en-US" sz="2400" b="1" dirty="0"/>
              <a:t> </a:t>
            </a:r>
            <a:r>
              <a:rPr lang="en-US" sz="2400" b="1" dirty="0" err="1"/>
              <a:t>terdapat</a:t>
            </a:r>
            <a:r>
              <a:rPr lang="en-US" sz="2400" b="1" dirty="0"/>
              <a:t> </a:t>
            </a:r>
            <a:r>
              <a:rPr lang="en-US" sz="2400" b="1" dirty="0" err="1"/>
              <a:t>deviasi</a:t>
            </a:r>
            <a:r>
              <a:rPr lang="en-US" sz="2400" b="1" dirty="0"/>
              <a:t> </a:t>
            </a:r>
            <a:r>
              <a:rPr lang="en-US" sz="2400" b="1" dirty="0" err="1"/>
              <a:t>positif</a:t>
            </a:r>
            <a:r>
              <a:rPr lang="en-US" sz="2400" b="1" dirty="0"/>
              <a:t> 13,13%</a:t>
            </a:r>
          </a:p>
          <a:p>
            <a:pPr marL="342900" indent="-342900" algn="just">
              <a:buAutoNum type="arabicPeriod"/>
            </a:pPr>
            <a:r>
              <a:rPr lang="en-US" sz="2400" b="1" dirty="0" err="1"/>
              <a:t>Bidang</a:t>
            </a:r>
            <a:r>
              <a:rPr lang="en-US" sz="2400" b="1" dirty="0"/>
              <a:t> </a:t>
            </a:r>
            <a:r>
              <a:rPr lang="en-US" sz="2400" b="1" dirty="0" err="1"/>
              <a:t>Valbin</a:t>
            </a:r>
            <a:r>
              <a:rPr lang="en-US" sz="2400" b="1" dirty="0"/>
              <a:t> Target </a:t>
            </a:r>
            <a:r>
              <a:rPr lang="en-US" sz="2400" b="1" dirty="0" err="1"/>
              <a:t>Keuangan</a:t>
            </a:r>
            <a:r>
              <a:rPr lang="en-US" sz="2400" b="1" dirty="0"/>
              <a:t> 65,20% </a:t>
            </a:r>
            <a:r>
              <a:rPr lang="en-US" sz="2400" b="1" dirty="0" err="1"/>
              <a:t>dengan</a:t>
            </a:r>
            <a:r>
              <a:rPr lang="en-US" sz="2400" b="1" dirty="0"/>
              <a:t> </a:t>
            </a:r>
            <a:r>
              <a:rPr lang="en-US" sz="2400" b="1" dirty="0" err="1"/>
              <a:t>realisasi</a:t>
            </a:r>
            <a:r>
              <a:rPr lang="en-US" sz="2400" b="1" dirty="0"/>
              <a:t> </a:t>
            </a:r>
            <a:r>
              <a:rPr lang="en-US" sz="2400" b="1" dirty="0" err="1"/>
              <a:t>keuangan</a:t>
            </a:r>
            <a:r>
              <a:rPr lang="en-US" sz="2400" b="1" dirty="0"/>
              <a:t> 63,09% </a:t>
            </a:r>
            <a:r>
              <a:rPr lang="en-US" sz="2400" b="1" dirty="0" err="1"/>
              <a:t>terdapat</a:t>
            </a:r>
            <a:r>
              <a:rPr lang="en-US" sz="2400" b="1" dirty="0"/>
              <a:t> </a:t>
            </a:r>
            <a:r>
              <a:rPr lang="en-US" sz="2400" b="1" dirty="0" err="1"/>
              <a:t>deviasi</a:t>
            </a:r>
            <a:r>
              <a:rPr lang="en-US" sz="2400" b="1" dirty="0"/>
              <a:t> negative 2,11%, </a:t>
            </a:r>
            <a:r>
              <a:rPr lang="en-US" sz="2400" b="1" dirty="0" err="1"/>
              <a:t>hal</a:t>
            </a:r>
            <a:r>
              <a:rPr lang="en-US" sz="2400" b="1" dirty="0"/>
              <a:t> </a:t>
            </a:r>
            <a:r>
              <a:rPr lang="en-US" sz="2400" b="1" dirty="0" err="1"/>
              <a:t>ini</a:t>
            </a:r>
            <a:r>
              <a:rPr lang="en-US" sz="2400" b="1" dirty="0"/>
              <a:t> </a:t>
            </a:r>
          </a:p>
          <a:p>
            <a:pPr algn="just">
              <a:tabLst>
                <a:tab pos="358775" algn="l"/>
              </a:tabLst>
            </a:pPr>
            <a:r>
              <a:rPr lang="en-US" sz="2400" b="1" dirty="0"/>
              <a:t>	</a:t>
            </a:r>
            <a:r>
              <a:rPr lang="en-US" sz="2400" b="1" dirty="0" err="1"/>
              <a:t>terjadi</a:t>
            </a:r>
            <a:r>
              <a:rPr lang="en-US" sz="2400" b="1" dirty="0"/>
              <a:t> </a:t>
            </a:r>
            <a:r>
              <a:rPr lang="en-US" sz="2400" b="1" dirty="0" err="1"/>
              <a:t>karena</a:t>
            </a:r>
            <a:r>
              <a:rPr lang="en-US" sz="2400" b="1" dirty="0"/>
              <a:t> :</a:t>
            </a:r>
          </a:p>
          <a:p>
            <a:pPr marL="625475" indent="-266700" algn="just">
              <a:buAutoNum type="alphaLcPeriod"/>
              <a:tabLst>
                <a:tab pos="890588" algn="l"/>
              </a:tabLst>
            </a:pPr>
            <a:r>
              <a:rPr lang="en-US" sz="2400" b="1" dirty="0" err="1"/>
              <a:t>Terdapat</a:t>
            </a:r>
            <a:r>
              <a:rPr lang="en-US" sz="2400" b="1" dirty="0"/>
              <a:t> </a:t>
            </a:r>
            <a:r>
              <a:rPr lang="en-US" sz="2400" b="1" dirty="0" err="1"/>
              <a:t>kegiatan</a:t>
            </a:r>
            <a:r>
              <a:rPr lang="en-US" sz="2400" b="1" dirty="0"/>
              <a:t> </a:t>
            </a:r>
            <a:r>
              <a:rPr lang="en-US" sz="2400" b="1" dirty="0" err="1"/>
              <a:t>makan</a:t>
            </a:r>
            <a:r>
              <a:rPr lang="en-US" sz="2400" b="1" dirty="0"/>
              <a:t> </a:t>
            </a:r>
            <a:r>
              <a:rPr lang="en-US" sz="2400" b="1" dirty="0" err="1"/>
              <a:t>minum</a:t>
            </a:r>
            <a:r>
              <a:rPr lang="en-US" sz="2400" b="1" dirty="0"/>
              <a:t> </a:t>
            </a:r>
            <a:r>
              <a:rPr lang="en-US" sz="2400" b="1" dirty="0" err="1"/>
              <a:t>rapat</a:t>
            </a:r>
            <a:r>
              <a:rPr lang="en-US" sz="2400" b="1" dirty="0"/>
              <a:t> dan </a:t>
            </a:r>
            <a:r>
              <a:rPr lang="en-US" sz="2400" b="1" dirty="0" err="1"/>
              <a:t>evaluasi</a:t>
            </a:r>
            <a:r>
              <a:rPr lang="en-US" sz="2400" b="1" dirty="0"/>
              <a:t> </a:t>
            </a:r>
            <a:r>
              <a:rPr lang="en-US" sz="2400" b="1" dirty="0" err="1"/>
              <a:t>khusus</a:t>
            </a:r>
            <a:r>
              <a:rPr lang="en-US" sz="2400" b="1" dirty="0"/>
              <a:t> </a:t>
            </a:r>
            <a:r>
              <a:rPr lang="en-US" sz="2400" b="1" dirty="0" err="1"/>
              <a:t>terkait</a:t>
            </a:r>
            <a:r>
              <a:rPr lang="en-US" sz="2400" b="1" dirty="0"/>
              <a:t> “LAPOR GUB” yang </a:t>
            </a:r>
            <a:r>
              <a:rPr lang="en-US" sz="2400" b="1" dirty="0" err="1"/>
              <a:t>sudah</a:t>
            </a:r>
            <a:r>
              <a:rPr lang="en-US" sz="2400" b="1" dirty="0"/>
              <a:t> </a:t>
            </a:r>
            <a:r>
              <a:rPr lang="en-US" sz="2400" b="1" dirty="0" err="1"/>
              <a:t>dilaksanakan</a:t>
            </a:r>
            <a:r>
              <a:rPr lang="en-US" sz="2400" b="1" dirty="0"/>
              <a:t> di </a:t>
            </a:r>
            <a:r>
              <a:rPr lang="en-US" sz="2400" b="1" dirty="0" err="1"/>
              <a:t>bulan</a:t>
            </a:r>
            <a:r>
              <a:rPr lang="en-US" sz="2400" b="1" dirty="0"/>
              <a:t> </a:t>
            </a:r>
            <a:r>
              <a:rPr lang="en-US" sz="2400" b="1" dirty="0" err="1"/>
              <a:t>Agustus</a:t>
            </a:r>
            <a:r>
              <a:rPr lang="en-US" sz="2400" b="1" dirty="0"/>
              <a:t> </a:t>
            </a:r>
            <a:r>
              <a:rPr lang="en-US" sz="2400" b="1" dirty="0" err="1"/>
              <a:t>namun</a:t>
            </a:r>
            <a:r>
              <a:rPr lang="en-US" sz="2400" b="1" dirty="0"/>
              <a:t> </a:t>
            </a:r>
            <a:r>
              <a:rPr lang="en-US" sz="2400" b="1" dirty="0" err="1"/>
              <a:t>direalisasikan</a:t>
            </a:r>
            <a:r>
              <a:rPr lang="en-US" sz="2400" b="1" dirty="0"/>
              <a:t> di </a:t>
            </a:r>
            <a:r>
              <a:rPr lang="en-US" sz="2400" b="1" dirty="0" err="1"/>
              <a:t>Bulan</a:t>
            </a:r>
            <a:r>
              <a:rPr lang="en-US" sz="2400" b="1" dirty="0"/>
              <a:t> September.</a:t>
            </a:r>
          </a:p>
          <a:p>
            <a:pPr marL="625475" indent="-266700" algn="just">
              <a:buAutoNum type="alphaLcPeriod"/>
              <a:tabLst>
                <a:tab pos="890588" algn="l"/>
              </a:tabLst>
            </a:pPr>
            <a:r>
              <a:rPr lang="en-US" sz="2400" b="1" dirty="0" err="1"/>
              <a:t>Kegiatan</a:t>
            </a:r>
            <a:r>
              <a:rPr lang="en-US" sz="2400" b="1" dirty="0"/>
              <a:t> Kajian </a:t>
            </a:r>
            <a:r>
              <a:rPr lang="en-US" sz="2400" b="1" dirty="0" err="1"/>
              <a:t>Kinerja</a:t>
            </a:r>
            <a:r>
              <a:rPr lang="en-US" sz="2400" b="1" dirty="0"/>
              <a:t> </a:t>
            </a:r>
            <a:r>
              <a:rPr lang="en-US" sz="2400" b="1" dirty="0" err="1"/>
              <a:t>Bidang</a:t>
            </a:r>
            <a:r>
              <a:rPr lang="en-US" sz="2400" b="1" dirty="0"/>
              <a:t> </a:t>
            </a:r>
            <a:r>
              <a:rPr lang="en-US" sz="2400" b="1" dirty="0" err="1"/>
              <a:t>Evaluasi</a:t>
            </a:r>
            <a:r>
              <a:rPr lang="en-US" sz="2400" b="1" dirty="0"/>
              <a:t> dan </a:t>
            </a:r>
            <a:r>
              <a:rPr lang="en-US" sz="2400" b="1" dirty="0" err="1"/>
              <a:t>Pembinaan</a:t>
            </a:r>
            <a:r>
              <a:rPr lang="en-US" sz="2400" b="1" dirty="0"/>
              <a:t>, </a:t>
            </a:r>
            <a:r>
              <a:rPr lang="en-US" sz="2400" b="1" dirty="0" err="1"/>
              <a:t>masih</a:t>
            </a:r>
            <a:r>
              <a:rPr lang="en-US" sz="2400" b="1" dirty="0"/>
              <a:t> </a:t>
            </a:r>
            <a:r>
              <a:rPr lang="en-US" sz="2400" b="1" dirty="0" err="1"/>
              <a:t>dalam</a:t>
            </a:r>
            <a:r>
              <a:rPr lang="en-US" sz="2400" b="1" dirty="0"/>
              <a:t> proses </a:t>
            </a:r>
            <a:r>
              <a:rPr lang="en-US" sz="2400" b="1" dirty="0" err="1"/>
              <a:t>tahapan</a:t>
            </a:r>
            <a:r>
              <a:rPr lang="en-US" sz="2400" b="1" dirty="0"/>
              <a:t> </a:t>
            </a:r>
            <a:r>
              <a:rPr lang="en-US" sz="2400" b="1" dirty="0" err="1"/>
              <a:t>laporan</a:t>
            </a:r>
            <a:r>
              <a:rPr lang="en-US" sz="2400" b="1" dirty="0"/>
              <a:t> </a:t>
            </a:r>
            <a:r>
              <a:rPr lang="en-US" sz="2400" b="1" dirty="0" err="1"/>
              <a:t>pendahuluan</a:t>
            </a:r>
            <a:r>
              <a:rPr lang="en-US" sz="2400" b="1" dirty="0"/>
              <a:t>.</a:t>
            </a:r>
          </a:p>
          <a:p>
            <a:pPr marL="625475" indent="-266700" algn="just">
              <a:buAutoNum type="alphaLcPeriod"/>
              <a:tabLst>
                <a:tab pos="890588" algn="l"/>
              </a:tabLst>
            </a:pPr>
            <a:r>
              <a:rPr lang="en-US" sz="2400" b="1" dirty="0" err="1"/>
              <a:t>Terdapat</a:t>
            </a:r>
            <a:r>
              <a:rPr lang="en-US" sz="2400" b="1" dirty="0"/>
              <a:t> </a:t>
            </a:r>
            <a:r>
              <a:rPr lang="en-US" sz="2400" b="1" dirty="0" err="1"/>
              <a:t>kegiatan</a:t>
            </a:r>
            <a:r>
              <a:rPr lang="en-US" sz="2400" b="1" dirty="0"/>
              <a:t> yang </a:t>
            </a:r>
            <a:r>
              <a:rPr lang="en-US" sz="2400" b="1" dirty="0" err="1"/>
              <a:t>terjadi</a:t>
            </a:r>
            <a:r>
              <a:rPr lang="en-US" sz="2400" b="1" dirty="0"/>
              <a:t> </a:t>
            </a:r>
            <a:r>
              <a:rPr lang="en-US" sz="2400" b="1" dirty="0" err="1"/>
              <a:t>perubahan</a:t>
            </a:r>
            <a:r>
              <a:rPr lang="en-US" sz="2400" b="1" dirty="0"/>
              <a:t> </a:t>
            </a:r>
            <a:r>
              <a:rPr lang="en-US" sz="2400" b="1" dirty="0" err="1"/>
              <a:t>nomenklatur</a:t>
            </a:r>
            <a:r>
              <a:rPr lang="en-US" sz="2400" b="1" dirty="0"/>
              <a:t>, </a:t>
            </a:r>
            <a:r>
              <a:rPr lang="en-US" sz="2400" b="1" dirty="0" err="1"/>
              <a:t>sehingga</a:t>
            </a:r>
            <a:r>
              <a:rPr lang="en-US" sz="2400" b="1" dirty="0"/>
              <a:t> </a:t>
            </a:r>
            <a:r>
              <a:rPr lang="en-US" sz="2400" b="1" dirty="0" err="1"/>
              <a:t>kegiatan</a:t>
            </a:r>
            <a:r>
              <a:rPr lang="en-US" sz="2400" b="1" dirty="0"/>
              <a:t> </a:t>
            </a:r>
            <a:r>
              <a:rPr lang="en-US" sz="2400" b="1" dirty="0" err="1"/>
              <a:t>tersebut</a:t>
            </a:r>
            <a:r>
              <a:rPr lang="en-US" sz="2400" b="1" dirty="0"/>
              <a:t> </a:t>
            </a:r>
            <a:r>
              <a:rPr lang="en-US" sz="2400" b="1" dirty="0" err="1"/>
              <a:t>dilaksanakan</a:t>
            </a:r>
            <a:r>
              <a:rPr lang="en-US" sz="2400" b="1" dirty="0"/>
              <a:t> </a:t>
            </a:r>
            <a:r>
              <a:rPr lang="en-US" sz="2400" b="1" dirty="0" err="1"/>
              <a:t>setelah</a:t>
            </a:r>
            <a:r>
              <a:rPr lang="en-US" sz="2400" b="1" dirty="0"/>
              <a:t> </a:t>
            </a:r>
            <a:r>
              <a:rPr lang="en-US" sz="2400" b="1" dirty="0" err="1"/>
              <a:t>anggaran</a:t>
            </a:r>
            <a:r>
              <a:rPr lang="en-US" sz="2400" b="1" dirty="0"/>
              <a:t> </a:t>
            </a:r>
            <a:r>
              <a:rPr lang="en-US" sz="2400" b="1" dirty="0" err="1"/>
              <a:t>perubahan</a:t>
            </a:r>
            <a:r>
              <a:rPr lang="en-US" sz="2400" b="1" dirty="0"/>
              <a:t> </a:t>
            </a:r>
            <a:r>
              <a:rPr lang="en-US" sz="2400" b="1" dirty="0" err="1"/>
              <a:t>setalah</a:t>
            </a:r>
            <a:r>
              <a:rPr lang="en-US" sz="2400" b="1" dirty="0"/>
              <a:t> </a:t>
            </a:r>
            <a:r>
              <a:rPr lang="en-US" sz="2400" b="1" dirty="0" err="1"/>
              <a:t>disahkan</a:t>
            </a:r>
            <a:r>
              <a:rPr lang="en-US" sz="2400" b="1" dirty="0"/>
              <a:t>.</a:t>
            </a:r>
          </a:p>
        </p:txBody>
      </p:sp>
    </p:spTree>
    <p:extLst>
      <p:ext uri="{BB962C8B-B14F-4D97-AF65-F5344CB8AC3E}">
        <p14:creationId xmlns:p14="http://schemas.microsoft.com/office/powerpoint/2010/main" val="2832590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1E30131-46D6-4B2B-A338-30C67C0DACAE}"/>
              </a:ext>
            </a:extLst>
          </p:cNvPr>
          <p:cNvGraphicFramePr>
            <a:graphicFrameLocks noGrp="1"/>
          </p:cNvGraphicFramePr>
          <p:nvPr>
            <p:extLst>
              <p:ext uri="{D42A27DB-BD31-4B8C-83A1-F6EECF244321}">
                <p14:modId xmlns:p14="http://schemas.microsoft.com/office/powerpoint/2010/main" val="2259800253"/>
              </p:ext>
            </p:extLst>
          </p:nvPr>
        </p:nvGraphicFramePr>
        <p:xfrm>
          <a:off x="173620" y="1111179"/>
          <a:ext cx="11771453" cy="5369908"/>
        </p:xfrm>
        <a:graphic>
          <a:graphicData uri="http://schemas.openxmlformats.org/drawingml/2006/table">
            <a:tbl>
              <a:tblPr firstRow="1" firstCol="1" bandRow="1"/>
              <a:tblGrid>
                <a:gridCol w="354207">
                  <a:extLst>
                    <a:ext uri="{9D8B030D-6E8A-4147-A177-3AD203B41FA5}">
                      <a16:colId xmlns:a16="http://schemas.microsoft.com/office/drawing/2014/main" val="3590625074"/>
                    </a:ext>
                  </a:extLst>
                </a:gridCol>
                <a:gridCol w="2701510">
                  <a:extLst>
                    <a:ext uri="{9D8B030D-6E8A-4147-A177-3AD203B41FA5}">
                      <a16:colId xmlns:a16="http://schemas.microsoft.com/office/drawing/2014/main" val="3876864469"/>
                    </a:ext>
                  </a:extLst>
                </a:gridCol>
                <a:gridCol w="2882096">
                  <a:extLst>
                    <a:ext uri="{9D8B030D-6E8A-4147-A177-3AD203B41FA5}">
                      <a16:colId xmlns:a16="http://schemas.microsoft.com/office/drawing/2014/main" val="1882072767"/>
                    </a:ext>
                  </a:extLst>
                </a:gridCol>
                <a:gridCol w="1018572">
                  <a:extLst>
                    <a:ext uri="{9D8B030D-6E8A-4147-A177-3AD203B41FA5}">
                      <a16:colId xmlns:a16="http://schemas.microsoft.com/office/drawing/2014/main" val="3646886976"/>
                    </a:ext>
                  </a:extLst>
                </a:gridCol>
                <a:gridCol w="4815068">
                  <a:extLst>
                    <a:ext uri="{9D8B030D-6E8A-4147-A177-3AD203B41FA5}">
                      <a16:colId xmlns:a16="http://schemas.microsoft.com/office/drawing/2014/main" val="33785054"/>
                    </a:ext>
                  </a:extLst>
                </a:gridCol>
              </a:tblGrid>
              <a:tr h="192605">
                <a:tc>
                  <a:txBody>
                    <a:bodyPr/>
                    <a:lstStyle/>
                    <a:p>
                      <a:pPr algn="ctr" fontAlgn="base">
                        <a:lnSpc>
                          <a:spcPct val="115000"/>
                        </a:lnSpc>
                        <a:spcAft>
                          <a:spcPts val="600"/>
                        </a:spcAft>
                      </a:pPr>
                      <a:r>
                        <a:rPr lang="id-ID" sz="1500" b="1" dirty="0" err="1">
                          <a:effectLst/>
                          <a:latin typeface="Calibri" panose="020F0502020204030204" pitchFamily="34" charset="0"/>
                          <a:ea typeface="Times New Roman" panose="02020603050405020304" pitchFamily="18" charset="0"/>
                        </a:rPr>
                        <a:t>No</a:t>
                      </a:r>
                      <a:endParaRPr lang="id-ID" sz="1500" b="1" dirty="0">
                        <a:effectLst/>
                        <a:latin typeface="Calibri" panose="020F0502020204030204" pitchFamily="34" charset="0"/>
                        <a:ea typeface="Times New Roman" panose="02020603050405020304" pitchFamily="18" charset="0"/>
                      </a:endParaRP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b="1" dirty="0">
                          <a:effectLst/>
                          <a:latin typeface="Calibri" panose="020F0502020204030204" pitchFamily="34" charset="0"/>
                          <a:ea typeface="Times New Roman" panose="02020603050405020304" pitchFamily="18" charset="0"/>
                        </a:rPr>
                        <a:t>Indikator Keberhasilan</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b="1" dirty="0">
                          <a:effectLst/>
                          <a:latin typeface="Calibri" panose="020F0502020204030204" pitchFamily="34" charset="0"/>
                          <a:ea typeface="Times New Roman" panose="02020603050405020304" pitchFamily="18" charset="0"/>
                        </a:rPr>
                        <a:t>Sub Indikator</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b="1" dirty="0">
                          <a:effectLst/>
                          <a:latin typeface="Calibri" panose="020F0502020204030204" pitchFamily="34" charset="0"/>
                          <a:ea typeface="Times New Roman" panose="02020603050405020304" pitchFamily="18" charset="0"/>
                        </a:rPr>
                        <a:t>% Capaian Penilaian</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b="1" dirty="0">
                          <a:effectLst/>
                          <a:latin typeface="Calibri" panose="020F0502020204030204" pitchFamily="34" charset="0"/>
                          <a:ea typeface="Times New Roman" panose="02020603050405020304" pitchFamily="18" charset="0"/>
                        </a:rPr>
                        <a:t>Keterangan</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4642966"/>
                  </a:ext>
                </a:extLst>
              </a:tr>
              <a:tr h="293000">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Regulasi</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Kelengkapan Regulasi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445938"/>
                  </a:ext>
                </a:extLst>
              </a:tr>
              <a:tr h="192605">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2</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err="1">
                          <a:effectLst/>
                          <a:latin typeface="Calibri" panose="020F0502020204030204" pitchFamily="34" charset="0"/>
                          <a:ea typeface="Times New Roman" panose="02020603050405020304" pitchFamily="18" charset="0"/>
                        </a:rPr>
                        <a:t>Database</a:t>
                      </a:r>
                      <a:r>
                        <a:rPr lang="id-ID" sz="1500" dirty="0">
                          <a:effectLst/>
                          <a:latin typeface="Calibri" panose="020F0502020204030204" pitchFamily="34" charset="0"/>
                          <a:ea typeface="Times New Roman" panose="02020603050405020304" pitchFamily="18" charset="0"/>
                        </a:rPr>
                        <a:t>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Data Potensi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6149908"/>
                  </a:ext>
                </a:extLst>
              </a:tr>
              <a:tr h="192605">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Data Tunggakan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306648"/>
                  </a:ext>
                </a:extLst>
              </a:tr>
              <a:tr h="393395">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3</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Inovasi Peningkatan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Usulan Inovasi Pajak Daerah Berbasis Teknologi</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6444966"/>
                  </a:ext>
                </a:extLst>
              </a:tr>
              <a:tr h="694579">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Laporan Capaian Hasil Inovasi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50%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Dihitung berdasar laporan Triwulanan yang sudah di </a:t>
                      </a:r>
                      <a:r>
                        <a:rPr lang="id-ID" sz="1500" dirty="0" err="1">
                          <a:effectLst/>
                          <a:latin typeface="Calibri" panose="020F0502020204030204" pitchFamily="34" charset="0"/>
                          <a:ea typeface="Times New Roman" panose="02020603050405020304" pitchFamily="18" charset="0"/>
                        </a:rPr>
                        <a:t>upload</a:t>
                      </a:r>
                      <a:r>
                        <a:rPr lang="id-ID" sz="1500" dirty="0">
                          <a:effectLst/>
                          <a:latin typeface="Calibri" panose="020F0502020204030204" pitchFamily="34" charset="0"/>
                          <a:ea typeface="Times New Roman" panose="02020603050405020304" pitchFamily="18" charset="0"/>
                        </a:rPr>
                        <a:t>. Setiap Laporan Triwulan nilainya 25% .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0359807"/>
                  </a:ext>
                </a:extLst>
              </a:tr>
              <a:tr h="1191688">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4</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Penagihan Tunggakan Pajak</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Capaian Penagihan Tunggakan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16%</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Belum ada data target penagihan tunggakan pajak per bulan</a:t>
                      </a:r>
                    </a:p>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Penilaian 16% dihitung dari jumlah Capaian penagihan tunggakan pajak berjalan per bulan </a:t>
                      </a:r>
                      <a:r>
                        <a:rPr lang="id-ID" sz="1500" dirty="0" err="1">
                          <a:effectLst/>
                          <a:latin typeface="Calibri" panose="020F0502020204030204" pitchFamily="34" charset="0"/>
                          <a:ea typeface="Times New Roman" panose="02020603050405020304" pitchFamily="18" charset="0"/>
                        </a:rPr>
                        <a:t>s.d</a:t>
                      </a:r>
                      <a:r>
                        <a:rPr lang="id-ID" sz="1500" dirty="0">
                          <a:effectLst/>
                          <a:latin typeface="Calibri" panose="020F0502020204030204" pitchFamily="34" charset="0"/>
                          <a:ea typeface="Times New Roman" panose="02020603050405020304" pitchFamily="18" charset="0"/>
                        </a:rPr>
                        <a:t> bulan Agustus 2022 terhadap tunggakan pajak per bulan tahun 2021 x 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4288588"/>
                  </a:ext>
                </a:extLst>
              </a:tr>
              <a:tr h="833377">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5</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Peningkatan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Capaian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61,68%</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Dihitung dari </a:t>
                      </a:r>
                      <a:r>
                        <a:rPr lang="id-ID" sz="1500" dirty="0" err="1">
                          <a:effectLst/>
                          <a:latin typeface="Calibri" panose="020F0502020204030204" pitchFamily="34" charset="0"/>
                          <a:ea typeface="Times New Roman" panose="02020603050405020304" pitchFamily="18" charset="0"/>
                        </a:rPr>
                        <a:t>prosentase</a:t>
                      </a:r>
                      <a:r>
                        <a:rPr lang="id-ID" sz="1500" dirty="0">
                          <a:effectLst/>
                          <a:latin typeface="Calibri" panose="020F0502020204030204" pitchFamily="34" charset="0"/>
                          <a:ea typeface="Times New Roman" panose="02020603050405020304" pitchFamily="18" charset="0"/>
                        </a:rPr>
                        <a:t> realisasi pajak daerah </a:t>
                      </a:r>
                      <a:r>
                        <a:rPr lang="id-ID" sz="1500" dirty="0" err="1">
                          <a:effectLst/>
                          <a:latin typeface="Calibri" panose="020F0502020204030204" pitchFamily="34" charset="0"/>
                          <a:ea typeface="Times New Roman" panose="02020603050405020304" pitchFamily="18" charset="0"/>
                        </a:rPr>
                        <a:t>s.d</a:t>
                      </a:r>
                      <a:r>
                        <a:rPr lang="id-ID" sz="1500" dirty="0">
                          <a:effectLst/>
                          <a:latin typeface="Calibri" panose="020F0502020204030204" pitchFamily="34" charset="0"/>
                          <a:ea typeface="Times New Roman" panose="02020603050405020304" pitchFamily="18" charset="0"/>
                        </a:rPr>
                        <a:t> Agustus 2022 terhadap target pendapatan pajak daerah tahun 2022 (8.632.423.629.288/13.995.272.893.001 x 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9203448"/>
                  </a:ext>
                </a:extLst>
              </a:tr>
              <a:tr h="192605">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6</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Pengawasan dan Pengendalian</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Pemeriksaan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100%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2945691"/>
                  </a:ext>
                </a:extLst>
              </a:tr>
              <a:tr h="594184">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 </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a:effectLst/>
                          <a:latin typeface="Calibri" panose="020F0502020204030204" pitchFamily="34" charset="0"/>
                          <a:ea typeface="Times New Roman" panose="02020603050405020304" pitchFamily="18" charset="0"/>
                        </a:rPr>
                        <a:t>Tindak Lanjut Reviu Tata Kelola Pajak Daerah</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50%</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ase">
                        <a:lnSpc>
                          <a:spcPct val="115000"/>
                        </a:lnSpc>
                        <a:spcAft>
                          <a:spcPts val="600"/>
                        </a:spcAft>
                      </a:pPr>
                      <a:r>
                        <a:rPr lang="id-ID" sz="1500" dirty="0">
                          <a:effectLst/>
                          <a:latin typeface="Calibri" panose="020F0502020204030204" pitchFamily="34" charset="0"/>
                          <a:ea typeface="Times New Roman" panose="02020603050405020304" pitchFamily="18" charset="0"/>
                        </a:rPr>
                        <a:t>Menunggu Berita Acara Tindak Lanjut </a:t>
                      </a:r>
                      <a:r>
                        <a:rPr lang="id-ID" sz="1500" dirty="0" err="1">
                          <a:effectLst/>
                          <a:latin typeface="Calibri" panose="020F0502020204030204" pitchFamily="34" charset="0"/>
                          <a:ea typeface="Times New Roman" panose="02020603050405020304" pitchFamily="18" charset="0"/>
                        </a:rPr>
                        <a:t>Reviu</a:t>
                      </a:r>
                      <a:r>
                        <a:rPr lang="id-ID" sz="1500" dirty="0">
                          <a:effectLst/>
                          <a:latin typeface="Calibri" panose="020F0502020204030204" pitchFamily="34" charset="0"/>
                          <a:ea typeface="Times New Roman" panose="02020603050405020304" pitchFamily="18" charset="0"/>
                        </a:rPr>
                        <a:t> Tata Kelola Pajak Daerah dari Inspektorat.</a:t>
                      </a:r>
                    </a:p>
                  </a:txBody>
                  <a:tcPr marL="29746" marR="297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558640"/>
                  </a:ext>
                </a:extLst>
              </a:tr>
            </a:tbl>
          </a:graphicData>
        </a:graphic>
      </p:graphicFrame>
      <p:sp>
        <p:nvSpPr>
          <p:cNvPr id="5" name="TextBox 4">
            <a:extLst>
              <a:ext uri="{FF2B5EF4-FFF2-40B4-BE49-F238E27FC236}">
                <a16:creationId xmlns:a16="http://schemas.microsoft.com/office/drawing/2014/main" id="{AD04BD61-674B-4B3F-B778-800CC6DC217D}"/>
              </a:ext>
            </a:extLst>
          </p:cNvPr>
          <p:cNvSpPr txBox="1"/>
          <p:nvPr/>
        </p:nvSpPr>
        <p:spPr>
          <a:xfrm>
            <a:off x="2962997" y="218098"/>
            <a:ext cx="6266011" cy="707886"/>
          </a:xfrm>
          <a:prstGeom prst="rect">
            <a:avLst/>
          </a:prstGeom>
          <a:noFill/>
        </p:spPr>
        <p:txBody>
          <a:bodyPr wrap="none" rtlCol="0">
            <a:spAutoFit/>
          </a:bodyPr>
          <a:lstStyle/>
          <a:p>
            <a:pPr algn="ctr"/>
            <a:r>
              <a:rPr lang="en-US" sz="2000" b="1" dirty="0"/>
              <a:t>CAPAIAN MONITORING CENTRE FOR PREVENTION (MCP )</a:t>
            </a:r>
          </a:p>
          <a:p>
            <a:pPr algn="ctr"/>
            <a:r>
              <a:rPr lang="en-US" sz="2000" b="1" dirty="0"/>
              <a:t>SAMPAI DENGAN BULAN AGUSTUS 2022</a:t>
            </a:r>
            <a:endParaRPr lang="id-ID" sz="2000" b="1" dirty="0"/>
          </a:p>
        </p:txBody>
      </p:sp>
    </p:spTree>
    <p:extLst>
      <p:ext uri="{BB962C8B-B14F-4D97-AF65-F5344CB8AC3E}">
        <p14:creationId xmlns:p14="http://schemas.microsoft.com/office/powerpoint/2010/main" val="3362890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ACDA438-96F4-47F2-8253-E18141EBBDAD}"/>
              </a:ext>
            </a:extLst>
          </p:cNvPr>
          <p:cNvGraphicFramePr>
            <a:graphicFrameLocks noGrp="1"/>
          </p:cNvGraphicFramePr>
          <p:nvPr>
            <p:extLst>
              <p:ext uri="{D42A27DB-BD31-4B8C-83A1-F6EECF244321}">
                <p14:modId xmlns:p14="http://schemas.microsoft.com/office/powerpoint/2010/main" val="2848067430"/>
              </p:ext>
            </p:extLst>
          </p:nvPr>
        </p:nvGraphicFramePr>
        <p:xfrm>
          <a:off x="227635" y="1020184"/>
          <a:ext cx="11736730" cy="5585442"/>
        </p:xfrm>
        <a:graphic>
          <a:graphicData uri="http://schemas.openxmlformats.org/drawingml/2006/table">
            <a:tbl>
              <a:tblPr/>
              <a:tblGrid>
                <a:gridCol w="416688">
                  <a:extLst>
                    <a:ext uri="{9D8B030D-6E8A-4147-A177-3AD203B41FA5}">
                      <a16:colId xmlns:a16="http://schemas.microsoft.com/office/drawing/2014/main" val="643600891"/>
                    </a:ext>
                  </a:extLst>
                </a:gridCol>
                <a:gridCol w="3993267">
                  <a:extLst>
                    <a:ext uri="{9D8B030D-6E8A-4147-A177-3AD203B41FA5}">
                      <a16:colId xmlns:a16="http://schemas.microsoft.com/office/drawing/2014/main" val="2319698911"/>
                    </a:ext>
                  </a:extLst>
                </a:gridCol>
                <a:gridCol w="2569580">
                  <a:extLst>
                    <a:ext uri="{9D8B030D-6E8A-4147-A177-3AD203B41FA5}">
                      <a16:colId xmlns:a16="http://schemas.microsoft.com/office/drawing/2014/main" val="33565338"/>
                    </a:ext>
                  </a:extLst>
                </a:gridCol>
                <a:gridCol w="2789499">
                  <a:extLst>
                    <a:ext uri="{9D8B030D-6E8A-4147-A177-3AD203B41FA5}">
                      <a16:colId xmlns:a16="http://schemas.microsoft.com/office/drawing/2014/main" val="2147514159"/>
                    </a:ext>
                  </a:extLst>
                </a:gridCol>
                <a:gridCol w="1967696">
                  <a:extLst>
                    <a:ext uri="{9D8B030D-6E8A-4147-A177-3AD203B41FA5}">
                      <a16:colId xmlns:a16="http://schemas.microsoft.com/office/drawing/2014/main" val="2056095171"/>
                    </a:ext>
                  </a:extLst>
                </a:gridCol>
              </a:tblGrid>
              <a:tr h="0">
                <a:tc>
                  <a:txBody>
                    <a:bodyPr/>
                    <a:lstStyle/>
                    <a:p>
                      <a:pPr algn="ctr" fontAlgn="ctr"/>
                      <a:r>
                        <a:rPr lang="id-ID" sz="1200" b="1" i="0" u="none" strike="noStrike" dirty="0">
                          <a:solidFill>
                            <a:schemeClr val="tx1"/>
                          </a:solidFill>
                          <a:effectLst/>
                          <a:latin typeface="Arial Narrow" panose="020B0606020202030204" pitchFamily="34" charset="0"/>
                        </a:rPr>
                        <a:t>NO</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id-ID" sz="1200" b="1" i="0" u="none" strike="noStrike" dirty="0">
                          <a:solidFill>
                            <a:schemeClr val="tx1"/>
                          </a:solidFill>
                          <a:effectLst/>
                          <a:latin typeface="Arial Narrow" panose="020B0606020202030204" pitchFamily="34" charset="0"/>
                        </a:rPr>
                        <a:t>LHP</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id-ID" sz="1200" b="1" i="0" u="none" strike="noStrike" dirty="0">
                          <a:solidFill>
                            <a:schemeClr val="tx1"/>
                          </a:solidFill>
                          <a:effectLst/>
                          <a:latin typeface="Arial Narrow" panose="020B0606020202030204" pitchFamily="34" charset="0"/>
                        </a:rPr>
                        <a:t>REKOMENDASI TEMUAN</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id-ID" sz="1200" b="1" i="0" u="none" strike="noStrike" dirty="0">
                          <a:solidFill>
                            <a:schemeClr val="tx1"/>
                          </a:solidFill>
                          <a:effectLst/>
                          <a:latin typeface="Arial Narrow" panose="020B0606020202030204" pitchFamily="34" charset="0"/>
                        </a:rPr>
                        <a:t>TINDAK LANJUT</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id-ID" sz="1200" b="1" i="0" u="none" strike="noStrike" dirty="0">
                          <a:solidFill>
                            <a:schemeClr val="tx1"/>
                          </a:solidFill>
                          <a:effectLst/>
                          <a:latin typeface="Arial Narrow" panose="020B0606020202030204" pitchFamily="34" charset="0"/>
                        </a:rPr>
                        <a:t>KETERANGAN</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6199805"/>
                  </a:ext>
                </a:extLst>
              </a:tr>
              <a:tr h="171501">
                <a:tc rowSpan="3">
                  <a:txBody>
                    <a:bodyPr/>
                    <a:lstStyle/>
                    <a:p>
                      <a:pPr algn="ctr" fontAlgn="ctr"/>
                      <a:r>
                        <a:rPr lang="id-ID" sz="1200" b="0" i="0" u="none" strike="noStrike" dirty="0">
                          <a:solidFill>
                            <a:schemeClr val="tx1"/>
                          </a:solidFill>
                          <a:effectLst/>
                          <a:latin typeface="Arial Narrow" panose="020B0606020202030204" pitchFamily="34" charset="0"/>
                        </a:rPr>
                        <a:t>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id-ID" sz="1400" b="0" i="0" u="none" strike="noStrike" dirty="0">
                          <a:solidFill>
                            <a:schemeClr val="tx1"/>
                          </a:solidFill>
                          <a:effectLst/>
                          <a:latin typeface="Arial Narrow" panose="020B0606020202030204" pitchFamily="34" charset="0"/>
                        </a:rPr>
                        <a:t>35/LHP/BPK/XVIII.SMG/05/2015, Laporan Hasil Pemeriksaan BPK RI atas laporan keuangan Pemerintah Daerah Provinsi Jawa Tengah Tahun 2014</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a:solidFill>
                            <a:srgbClr val="000000"/>
                          </a:solidFill>
                          <a:effectLst/>
                          <a:latin typeface="Arial Narrow" panose="020B0606020202030204" pitchFamily="34" charset="0"/>
                        </a:rPr>
                        <a:t>a. Membuat SIM Samsat dan SIM Piutang yang dapat dilakukan rekonsilisasi atas pendapatan dan piutang PKB dan dapat memisahkan nilai piutang berdasarkan NJKB yang berlaku pada tahun yang bersangkutan (terkait dengan tindak lanjut piutang tahun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dirty="0" err="1">
                          <a:solidFill>
                            <a:srgbClr val="000000"/>
                          </a:solidFill>
                          <a:effectLst/>
                          <a:latin typeface="Arial Narrow" panose="020B0606020202030204" pitchFamily="34" charset="0"/>
                        </a:rPr>
                        <a:t>Capture</a:t>
                      </a:r>
                      <a:r>
                        <a:rPr lang="id-ID" sz="1200" b="0" i="0" u="none" strike="noStrike" dirty="0">
                          <a:solidFill>
                            <a:srgbClr val="000000"/>
                          </a:solidFill>
                          <a:effectLst/>
                          <a:latin typeface="Arial Narrow" panose="020B0606020202030204" pitchFamily="34" charset="0"/>
                        </a:rPr>
                        <a:t> sistem aplikasi konvergen</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id-ID" sz="1200" b="0" i="0" u="none" strike="noStrike" dirty="0">
                          <a:solidFill>
                            <a:srgbClr val="000000"/>
                          </a:solidFill>
                          <a:effectLst/>
                          <a:latin typeface="Arial Narrow" panose="020B0606020202030204" pitchFamily="34" charset="0"/>
                        </a:rPr>
                        <a:t>masih proses </a:t>
                      </a:r>
                      <a:r>
                        <a:rPr lang="id-ID" sz="1200" b="0" i="0" u="none" strike="noStrike" dirty="0" err="1">
                          <a:solidFill>
                            <a:srgbClr val="000000"/>
                          </a:solidFill>
                          <a:effectLst/>
                          <a:latin typeface="Arial Narrow" panose="020B0606020202030204" pitchFamily="34" charset="0"/>
                        </a:rPr>
                        <a:t>approve</a:t>
                      </a:r>
                      <a:r>
                        <a:rPr lang="id-ID" sz="1200" b="0" i="0" u="none" strike="noStrike" dirty="0">
                          <a:solidFill>
                            <a:srgbClr val="000000"/>
                          </a:solidFill>
                          <a:effectLst/>
                          <a:latin typeface="Arial Narrow" panose="020B0606020202030204" pitchFamily="34" charset="0"/>
                        </a:rPr>
                        <a:t> dari BPK</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392798377"/>
                  </a:ext>
                </a:extLst>
              </a:tr>
              <a:tr h="132996">
                <a:tc vMerge="1">
                  <a:txBody>
                    <a:bodyPr/>
                    <a:lstStyle/>
                    <a:p>
                      <a:endParaRPr lang="id-ID"/>
                    </a:p>
                  </a:txBody>
                  <a:tcPr/>
                </a:tc>
                <a:tc vMerge="1">
                  <a:txBody>
                    <a:bodyPr/>
                    <a:lstStyle/>
                    <a:p>
                      <a:endParaRPr lang="id-ID"/>
                    </a:p>
                  </a:txBody>
                  <a:tcPr/>
                </a:tc>
                <a:tc>
                  <a:txBody>
                    <a:bodyPr/>
                    <a:lstStyle/>
                    <a:p>
                      <a:pPr algn="l" fontAlgn="ctr"/>
                      <a:r>
                        <a:rPr lang="id-ID" sz="1200" b="0" i="0" u="none" strike="noStrike" dirty="0">
                          <a:solidFill>
                            <a:srgbClr val="000000"/>
                          </a:solidFill>
                          <a:effectLst/>
                          <a:latin typeface="Arial Narrow" panose="020B0606020202030204" pitchFamily="34" charset="0"/>
                        </a:rPr>
                        <a:t>b. Melakukan penelusuran atas selisih potensi piutang dengan </a:t>
                      </a:r>
                      <a:r>
                        <a:rPr lang="id-ID" sz="1200" b="0" i="0" u="none" strike="noStrike" dirty="0" err="1">
                          <a:solidFill>
                            <a:srgbClr val="000000"/>
                          </a:solidFill>
                          <a:effectLst/>
                          <a:latin typeface="Arial Narrow" panose="020B0606020202030204" pitchFamily="34" charset="0"/>
                        </a:rPr>
                        <a:t>rill</a:t>
                      </a:r>
                      <a:r>
                        <a:rPr lang="id-ID" sz="1200" b="0" i="0" u="none" strike="noStrike" dirty="0">
                          <a:solidFill>
                            <a:srgbClr val="000000"/>
                          </a:solidFill>
                          <a:effectLst/>
                          <a:latin typeface="Arial Narrow" panose="020B0606020202030204" pitchFamily="34" charset="0"/>
                        </a:rPr>
                        <a:t> piutang, piutang yang belum ditetapkan dan piutang yang dihapuskan secara sistem dan mencatat kembali sebagai piutang</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00" b="0" i="0" u="none" strike="noStrike">
                          <a:solidFill>
                            <a:srgbClr val="000000"/>
                          </a:solidFill>
                          <a:effectLst/>
                          <a:latin typeface="Arial Narrow" panose="020B0606020202030204" pitchFamily="34" charset="0"/>
                        </a:rPr>
                        <a:t>masih koordinasi dengan BPK perihal rekomendasi tersebut</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218952533"/>
                  </a:ext>
                </a:extLst>
              </a:tr>
              <a:tr h="220140">
                <a:tc vMerge="1">
                  <a:txBody>
                    <a:bodyPr/>
                    <a:lstStyle/>
                    <a:p>
                      <a:endParaRPr lang="id-ID"/>
                    </a:p>
                  </a:txBody>
                  <a:tcPr/>
                </a:tc>
                <a:tc vMerge="1">
                  <a:txBody>
                    <a:bodyPr/>
                    <a:lstStyle/>
                    <a:p>
                      <a:endParaRPr lang="id-ID"/>
                    </a:p>
                  </a:txBody>
                  <a:tcPr/>
                </a:tc>
                <a:tc>
                  <a:txBody>
                    <a:bodyPr/>
                    <a:lstStyle/>
                    <a:p>
                      <a:pPr algn="l" fontAlgn="ctr"/>
                      <a:r>
                        <a:rPr lang="id-ID" sz="1200" b="0" i="0" u="none" strike="noStrike" dirty="0">
                          <a:solidFill>
                            <a:srgbClr val="000000"/>
                          </a:solidFill>
                          <a:effectLst/>
                          <a:latin typeface="Arial Narrow" panose="020B0606020202030204" pitchFamily="34" charset="0"/>
                        </a:rPr>
                        <a:t>c. Melakukan pemantauan dan evaluasi atas penyampaian SPTPD dan Penyetoran PBBKB (melengkapi rekap SPTPD tahun 2017 </a:t>
                      </a:r>
                      <a:r>
                        <a:rPr lang="id-ID" sz="1200" b="0" i="0" u="none" strike="noStrike" dirty="0" err="1">
                          <a:solidFill>
                            <a:srgbClr val="000000"/>
                          </a:solidFill>
                          <a:effectLst/>
                          <a:latin typeface="Arial Narrow" panose="020B0606020202030204" pitchFamily="34" charset="0"/>
                        </a:rPr>
                        <a:t>s.d</a:t>
                      </a:r>
                      <a:r>
                        <a:rPr lang="id-ID" sz="1200" b="0" i="0" u="none" strike="noStrike" dirty="0">
                          <a:solidFill>
                            <a:srgbClr val="000000"/>
                          </a:solidFill>
                          <a:effectLst/>
                          <a:latin typeface="Arial Narrow" panose="020B0606020202030204" pitchFamily="34" charset="0"/>
                        </a:rPr>
                        <a:t> 2022 sampling 1 </a:t>
                      </a:r>
                      <a:r>
                        <a:rPr lang="id-ID" sz="1200" b="0" i="0" u="none" strike="noStrike" dirty="0" err="1">
                          <a:solidFill>
                            <a:srgbClr val="000000"/>
                          </a:solidFill>
                          <a:effectLst/>
                          <a:latin typeface="Arial Narrow" panose="020B0606020202030204" pitchFamily="34" charset="0"/>
                        </a:rPr>
                        <a:t>wapu</a:t>
                      </a:r>
                      <a:r>
                        <a:rPr lang="id-ID" sz="1200" b="0" i="0" u="none" strike="noStrike" dirty="0">
                          <a:solidFill>
                            <a:srgbClr val="000000"/>
                          </a:solidFill>
                          <a:effectLst/>
                          <a:latin typeface="Arial Narrow" panose="020B0606020202030204" pitchFamily="34" charset="0"/>
                        </a:rPr>
                        <a:t>) disertakan dengan Surat Pengantar dari Kepala Dinas</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00" b="0" i="0" u="none" strike="noStrike" dirty="0">
                          <a:solidFill>
                            <a:srgbClr val="000000"/>
                          </a:solidFill>
                          <a:effectLst/>
                          <a:latin typeface="Arial Narrow" panose="020B0606020202030204" pitchFamily="34" charset="0"/>
                        </a:rPr>
                        <a:t>Nota dinas nomor 444/RET.04/X/2018 Tanggal 31 Oktober 2018 Perihal Laporan hasil rapat rekonsiliasi penerimaan dan evaluasi pemungut pajak bahan bakar kendaraan bermotor </a:t>
                      </a:r>
                      <a:r>
                        <a:rPr lang="id-ID" sz="1200" b="0" i="0" u="none" strike="noStrike" dirty="0" err="1">
                          <a:solidFill>
                            <a:srgbClr val="000000"/>
                          </a:solidFill>
                          <a:effectLst/>
                          <a:latin typeface="Arial Narrow" panose="020B0606020202030204" pitchFamily="34" charset="0"/>
                        </a:rPr>
                        <a:t>Prov</a:t>
                      </a:r>
                      <a:r>
                        <a:rPr lang="id-ID" sz="1200" b="0" i="0" u="none" strike="noStrike" dirty="0">
                          <a:solidFill>
                            <a:srgbClr val="000000"/>
                          </a:solidFill>
                          <a:effectLst/>
                          <a:latin typeface="Arial Narrow" panose="020B0606020202030204" pitchFamily="34" charset="0"/>
                        </a:rPr>
                        <a:t>. Jateng </a:t>
                      </a:r>
                      <a:r>
                        <a:rPr lang="id-ID" sz="1200" b="0" i="0" u="none" strike="noStrike" dirty="0" err="1">
                          <a:solidFill>
                            <a:srgbClr val="000000"/>
                          </a:solidFill>
                          <a:effectLst/>
                          <a:latin typeface="Arial Narrow" panose="020B0606020202030204" pitchFamily="34" charset="0"/>
                        </a:rPr>
                        <a:t>s.d</a:t>
                      </a:r>
                      <a:r>
                        <a:rPr lang="id-ID" sz="1200" b="0" i="0" u="none" strike="noStrike" dirty="0">
                          <a:solidFill>
                            <a:srgbClr val="000000"/>
                          </a:solidFill>
                          <a:effectLst/>
                          <a:latin typeface="Arial Narrow" panose="020B0606020202030204" pitchFamily="34" charset="0"/>
                        </a:rPr>
                        <a:t> Triwulan III Tahun 2018, berikut jadwal kegiatan rapat rekonsiliasi penerimaan dan Evaluasi Pemungutan PBBKB tahun 2018 </a:t>
                      </a:r>
                      <a:r>
                        <a:rPr lang="id-ID" sz="1200" b="0" i="0" u="none" strike="noStrike" dirty="0" err="1">
                          <a:solidFill>
                            <a:srgbClr val="000000"/>
                          </a:solidFill>
                          <a:effectLst/>
                          <a:latin typeface="Arial Narrow" panose="020B0606020202030204" pitchFamily="34" charset="0"/>
                        </a:rPr>
                        <a:t>s.d</a:t>
                      </a:r>
                      <a:r>
                        <a:rPr lang="id-ID" sz="1200" b="0" i="0" u="none" strike="noStrike" dirty="0">
                          <a:solidFill>
                            <a:srgbClr val="000000"/>
                          </a:solidFill>
                          <a:effectLst/>
                          <a:latin typeface="Arial Narrow" panose="020B0606020202030204" pitchFamily="34" charset="0"/>
                        </a:rPr>
                        <a:t> TW 3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945375788"/>
                  </a:ext>
                </a:extLst>
              </a:tr>
              <a:tr h="122863">
                <a:tc>
                  <a:txBody>
                    <a:bodyPr/>
                    <a:lstStyle/>
                    <a:p>
                      <a:pPr algn="ctr" fontAlgn="ctr"/>
                      <a:r>
                        <a:rPr lang="id-ID" sz="1200" b="0" i="0" u="none" strike="noStrike" dirty="0">
                          <a:solidFill>
                            <a:schemeClr val="tx1"/>
                          </a:solidFill>
                          <a:effectLst/>
                          <a:latin typeface="Arial Narrow" panose="020B0606020202030204" pitchFamily="34" charset="0"/>
                        </a:rPr>
                        <a:t>2</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400" b="0" i="0" u="none" strike="noStrike" dirty="0">
                          <a:solidFill>
                            <a:schemeClr val="tx1"/>
                          </a:solidFill>
                          <a:effectLst/>
                          <a:latin typeface="Arial Narrow" panose="020B0606020202030204" pitchFamily="34" charset="0"/>
                        </a:rPr>
                        <a:t>70/LHP/BPK/XVIII.SMG/05/2016, Laporan Hasil Pemeriksaan atas laporan keuangan Pemerintah Provinsi Jawa Tengah Tahun 2015</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nn-NO" sz="1200" b="0" i="0" u="none" strike="noStrike">
                          <a:solidFill>
                            <a:srgbClr val="000000"/>
                          </a:solidFill>
                          <a:effectLst/>
                          <a:latin typeface="Arial Narrow" panose="020B0606020202030204" pitchFamily="34" charset="0"/>
                        </a:rPr>
                        <a:t>a. Melakukan proses validasi data untuk memastikan keakuratan data obyek pajak dan data piutang</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00" b="0" i="0" u="none" strike="noStrike">
                          <a:solidFill>
                            <a:srgbClr val="000000"/>
                          </a:solidFill>
                          <a:effectLst/>
                          <a:latin typeface="Arial Narrow" panose="020B0606020202030204" pitchFamily="34" charset="0"/>
                        </a:rPr>
                        <a:t>Berita Acara desk door to door antara Kantor Pusat (Bidang PKB) dengan masing-masing UPPD</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r>
                        <a:rPr lang="id-ID" sz="120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53760376"/>
                  </a:ext>
                </a:extLst>
              </a:tr>
              <a:tr h="186194">
                <a:tc>
                  <a:txBody>
                    <a:bodyPr/>
                    <a:lstStyle/>
                    <a:p>
                      <a:pPr algn="l" fontAlgn="ctr"/>
                      <a:r>
                        <a:rPr lang="id-ID" sz="1200" b="0" i="0" u="none" strike="noStrike">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dirty="0">
                          <a:solidFill>
                            <a:srgbClr val="000000"/>
                          </a:solidFill>
                          <a:effectLst/>
                          <a:latin typeface="Arial Narrow" panose="020B0606020202030204" pitchFamily="34" charset="0"/>
                        </a:rPr>
                        <a:t>b. Mengambil langkah perbaikan </a:t>
                      </a:r>
                      <a:r>
                        <a:rPr lang="id-ID" sz="1200" b="0" i="0" u="none" strike="noStrike" dirty="0" err="1">
                          <a:solidFill>
                            <a:srgbClr val="000000"/>
                          </a:solidFill>
                          <a:effectLst/>
                          <a:latin typeface="Arial Narrow" panose="020B0606020202030204" pitchFamily="34" charset="0"/>
                        </a:rPr>
                        <a:t>database</a:t>
                      </a:r>
                      <a:r>
                        <a:rPr lang="id-ID" sz="1200" b="0" i="0" u="none" strike="noStrike" dirty="0">
                          <a:solidFill>
                            <a:srgbClr val="000000"/>
                          </a:solidFill>
                          <a:effectLst/>
                          <a:latin typeface="Arial Narrow" panose="020B0606020202030204" pitchFamily="34" charset="0"/>
                        </a:rPr>
                        <a:t> piutang secara menyeluruh kemudian melakukan validasi dan verifikasi atas </a:t>
                      </a:r>
                      <a:r>
                        <a:rPr lang="id-ID" sz="1200" b="0" i="0" u="none" strike="noStrike" dirty="0" err="1">
                          <a:solidFill>
                            <a:srgbClr val="000000"/>
                          </a:solidFill>
                          <a:effectLst/>
                          <a:latin typeface="Arial Narrow" panose="020B0606020202030204" pitchFamily="34" charset="0"/>
                        </a:rPr>
                        <a:t>database</a:t>
                      </a:r>
                      <a:r>
                        <a:rPr lang="id-ID" sz="1200" b="0" i="0" u="none" strike="noStrike" dirty="0">
                          <a:solidFill>
                            <a:srgbClr val="000000"/>
                          </a:solidFill>
                          <a:effectLst/>
                          <a:latin typeface="Arial Narrow" panose="020B0606020202030204" pitchFamily="34" charset="0"/>
                        </a:rPr>
                        <a:t> piutang yang sudah diperbaiki (terkait </a:t>
                      </a:r>
                      <a:r>
                        <a:rPr lang="id-ID" sz="1200" b="0" i="0" u="none" strike="noStrike" dirty="0" err="1">
                          <a:solidFill>
                            <a:srgbClr val="000000"/>
                          </a:solidFill>
                          <a:effectLst/>
                          <a:latin typeface="Arial Narrow" panose="020B0606020202030204" pitchFamily="34" charset="0"/>
                        </a:rPr>
                        <a:t>denga</a:t>
                      </a:r>
                      <a:r>
                        <a:rPr lang="id-ID" sz="1200" b="0" i="0" u="none" strike="noStrike" dirty="0">
                          <a:solidFill>
                            <a:srgbClr val="000000"/>
                          </a:solidFill>
                          <a:effectLst/>
                          <a:latin typeface="Arial Narrow" panose="020B0606020202030204" pitchFamily="34" charset="0"/>
                        </a:rPr>
                        <a:t> TL piutang tahun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a:solidFill>
                            <a:srgbClr val="000000"/>
                          </a:solidFill>
                          <a:effectLst/>
                          <a:latin typeface="Arial Narrow" panose="020B0606020202030204" pitchFamily="34" charset="0"/>
                        </a:rPr>
                        <a:t>'- Nota dinas nomor 139/VALBIN/XII/2021 Perial Kegiatan Validasi data sebagai tindak lanjut hasil pemeriksaan BPK-RI Perwakilan Jawa Tengah,       - SoftcopyHasil kegiatan DTD sejak bulan November s.d Desember 2021 dari 37 UPPD</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sv-SE" sz="1200" b="0" i="0" u="none" strike="noStrike" dirty="0">
                          <a:solidFill>
                            <a:srgbClr val="000000"/>
                          </a:solidFill>
                          <a:effectLst/>
                          <a:latin typeface="Arial Narrow" panose="020B0606020202030204" pitchFamily="34" charset="0"/>
                        </a:rPr>
                        <a:t>Masih belum dapat diterima, karena masih diperlukan dokumen hasil validasi data dan perhitungan piutang PKB, dan masih diperlukan dokumen pendukung berupa laporan penagihan piutang</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97609910"/>
                  </a:ext>
                </a:extLst>
              </a:tr>
            </a:tbl>
          </a:graphicData>
        </a:graphic>
      </p:graphicFrame>
      <p:sp>
        <p:nvSpPr>
          <p:cNvPr id="5" name="TextBox 4">
            <a:extLst>
              <a:ext uri="{FF2B5EF4-FFF2-40B4-BE49-F238E27FC236}">
                <a16:creationId xmlns:a16="http://schemas.microsoft.com/office/drawing/2014/main" id="{B2B79482-8340-4A1E-97BB-3A156A5A0E1A}"/>
              </a:ext>
            </a:extLst>
          </p:cNvPr>
          <p:cNvSpPr txBox="1"/>
          <p:nvPr/>
        </p:nvSpPr>
        <p:spPr>
          <a:xfrm>
            <a:off x="2622299" y="175759"/>
            <a:ext cx="6756145" cy="830997"/>
          </a:xfrm>
          <a:prstGeom prst="rect">
            <a:avLst/>
          </a:prstGeom>
          <a:noFill/>
        </p:spPr>
        <p:txBody>
          <a:bodyPr wrap="none" rtlCol="0">
            <a:spAutoFit/>
          </a:bodyPr>
          <a:lstStyle/>
          <a:p>
            <a:pPr algn="ctr" fontAlgn="ctr"/>
            <a:r>
              <a:rPr lang="id-ID" sz="2400" b="1" dirty="0">
                <a:latin typeface="Arial Narrow" panose="020B0606020202030204" pitchFamily="34" charset="0"/>
              </a:rPr>
              <a:t>MATRIK REKOMENDASI DAN TINDAK LANJUT BPK RI</a:t>
            </a:r>
            <a:endParaRPr lang="en-US" sz="2400" b="1" dirty="0">
              <a:latin typeface="Arial Narrow" panose="020B0606020202030204" pitchFamily="34" charset="0"/>
            </a:endParaRPr>
          </a:p>
          <a:p>
            <a:pPr algn="ctr" fontAlgn="ctr"/>
            <a:r>
              <a:rPr lang="id-ID" sz="2400" b="1" dirty="0">
                <a:latin typeface="Arial Narrow" panose="020B0606020202030204" pitchFamily="34" charset="0"/>
              </a:rPr>
              <a:t>PERIODE 2014 S.D 202</a:t>
            </a:r>
            <a:r>
              <a:rPr lang="en-US" sz="2400" b="1" dirty="0">
                <a:latin typeface="Arial Narrow" panose="020B0606020202030204" pitchFamily="34" charset="0"/>
              </a:rPr>
              <a:t>1</a:t>
            </a:r>
            <a:endParaRPr lang="id-ID" sz="2400" b="1" dirty="0">
              <a:latin typeface="Arial Narrow" panose="020B0606020202030204" pitchFamily="34" charset="0"/>
            </a:endParaRPr>
          </a:p>
        </p:txBody>
      </p:sp>
    </p:spTree>
    <p:extLst>
      <p:ext uri="{BB962C8B-B14F-4D97-AF65-F5344CB8AC3E}">
        <p14:creationId xmlns:p14="http://schemas.microsoft.com/office/powerpoint/2010/main" val="268608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8E8AC20-4274-48A1-9F02-6237391070D4}"/>
              </a:ext>
            </a:extLst>
          </p:cNvPr>
          <p:cNvGraphicFramePr>
            <a:graphicFrameLocks noGrp="1"/>
          </p:cNvGraphicFramePr>
          <p:nvPr>
            <p:extLst>
              <p:ext uri="{D42A27DB-BD31-4B8C-83A1-F6EECF244321}">
                <p14:modId xmlns:p14="http://schemas.microsoft.com/office/powerpoint/2010/main" val="3936411636"/>
              </p:ext>
            </p:extLst>
          </p:nvPr>
        </p:nvGraphicFramePr>
        <p:xfrm>
          <a:off x="227635" y="746313"/>
          <a:ext cx="11736730" cy="5722602"/>
        </p:xfrm>
        <a:graphic>
          <a:graphicData uri="http://schemas.openxmlformats.org/drawingml/2006/table">
            <a:tbl>
              <a:tblPr/>
              <a:tblGrid>
                <a:gridCol w="416688">
                  <a:extLst>
                    <a:ext uri="{9D8B030D-6E8A-4147-A177-3AD203B41FA5}">
                      <a16:colId xmlns:a16="http://schemas.microsoft.com/office/drawing/2014/main" val="2089353909"/>
                    </a:ext>
                  </a:extLst>
                </a:gridCol>
                <a:gridCol w="3765631">
                  <a:extLst>
                    <a:ext uri="{9D8B030D-6E8A-4147-A177-3AD203B41FA5}">
                      <a16:colId xmlns:a16="http://schemas.microsoft.com/office/drawing/2014/main" val="1616515329"/>
                    </a:ext>
                  </a:extLst>
                </a:gridCol>
                <a:gridCol w="2797216">
                  <a:extLst>
                    <a:ext uri="{9D8B030D-6E8A-4147-A177-3AD203B41FA5}">
                      <a16:colId xmlns:a16="http://schemas.microsoft.com/office/drawing/2014/main" val="2771421881"/>
                    </a:ext>
                  </a:extLst>
                </a:gridCol>
                <a:gridCol w="2789499">
                  <a:extLst>
                    <a:ext uri="{9D8B030D-6E8A-4147-A177-3AD203B41FA5}">
                      <a16:colId xmlns:a16="http://schemas.microsoft.com/office/drawing/2014/main" val="1772819530"/>
                    </a:ext>
                  </a:extLst>
                </a:gridCol>
                <a:gridCol w="1967696">
                  <a:extLst>
                    <a:ext uri="{9D8B030D-6E8A-4147-A177-3AD203B41FA5}">
                      <a16:colId xmlns:a16="http://schemas.microsoft.com/office/drawing/2014/main" val="1950069933"/>
                    </a:ext>
                  </a:extLst>
                </a:gridCol>
              </a:tblGrid>
              <a:tr h="220140">
                <a:tc>
                  <a:txBody>
                    <a:bodyPr/>
                    <a:lstStyle/>
                    <a:p>
                      <a:pPr algn="ctr" fontAlgn="ctr"/>
                      <a:r>
                        <a:rPr lang="id-ID" sz="1300" b="0" i="0" u="none" strike="noStrike" dirty="0">
                          <a:solidFill>
                            <a:schemeClr val="tx1"/>
                          </a:solidFill>
                          <a:effectLst/>
                          <a:latin typeface="Arial Narrow" panose="020B0606020202030204" pitchFamily="34" charset="0"/>
                        </a:rPr>
                        <a:t>3</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id-ID" sz="1300" b="0" i="0" u="none" strike="noStrike" dirty="0">
                          <a:solidFill>
                            <a:schemeClr val="tx1"/>
                          </a:solidFill>
                          <a:effectLst/>
                          <a:latin typeface="Arial Narrow" panose="020B0606020202030204" pitchFamily="34" charset="0"/>
                        </a:rPr>
                        <a:t>72/LHP/BPK/XVIII.SMG/05/2017, Laporan Hasil Pemeriksaan BPK RI atas laporan keuangan Pemerintah Daerah Provinsi Jawa Tengah Tahun 2016</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id-ID" sz="1200" b="0" i="0" u="none" strike="noStrike" dirty="0">
                          <a:solidFill>
                            <a:srgbClr val="000000"/>
                          </a:solidFill>
                          <a:effectLst/>
                          <a:latin typeface="Arial Narrow" panose="020B0606020202030204" pitchFamily="34" charset="0"/>
                        </a:rPr>
                        <a:t>Kepala Bidang </a:t>
                      </a:r>
                      <a:r>
                        <a:rPr lang="id-ID" sz="1200" b="0" i="0" u="none" strike="noStrike" dirty="0" err="1">
                          <a:solidFill>
                            <a:srgbClr val="000000"/>
                          </a:solidFill>
                          <a:effectLst/>
                          <a:latin typeface="Arial Narrow" panose="020B0606020202030204" pitchFamily="34" charset="0"/>
                        </a:rPr>
                        <a:t>Lahtabang</a:t>
                      </a:r>
                      <a:r>
                        <a:rPr lang="id-ID" sz="1200" b="0" i="0" u="none" strike="noStrike" dirty="0">
                          <a:solidFill>
                            <a:srgbClr val="000000"/>
                          </a:solidFill>
                          <a:effectLst/>
                          <a:latin typeface="Arial Narrow" panose="020B0606020202030204" pitchFamily="34" charset="0"/>
                        </a:rPr>
                        <a:t> supaya melakukan perbaikan mendasar atas sistem informasi pengelolaan PKB yang menjamin akurasi dan konsistensi relasi data obyek pajak, data pajak yang jatuh tempo, data pembayaran pajak, data piutang, dan data penghapusan piutang pajak antara Kantor Pusat dengan UPPD (terkait TL piutang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dirty="0" err="1">
                          <a:solidFill>
                            <a:srgbClr val="000000"/>
                          </a:solidFill>
                          <a:effectLst/>
                          <a:latin typeface="Arial Narrow" panose="020B0606020202030204" pitchFamily="34" charset="0"/>
                        </a:rPr>
                        <a:t>Capture</a:t>
                      </a:r>
                      <a:r>
                        <a:rPr lang="id-ID" sz="1200" b="0" i="0" u="none" strike="noStrike" dirty="0">
                          <a:solidFill>
                            <a:srgbClr val="000000"/>
                          </a:solidFill>
                          <a:effectLst/>
                          <a:latin typeface="Arial Narrow" panose="020B0606020202030204" pitchFamily="34" charset="0"/>
                        </a:rPr>
                        <a:t> dokumentasi alur proses pembayaran PKB yang menunggak</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dirty="0">
                          <a:solidFill>
                            <a:srgbClr val="000000"/>
                          </a:solidFill>
                          <a:effectLst/>
                          <a:latin typeface="Arial Narrow" panose="020B0606020202030204" pitchFamily="34" charset="0"/>
                        </a:rPr>
                        <a:t>Masih </a:t>
                      </a:r>
                      <a:r>
                        <a:rPr lang="en-US" sz="1200" b="0" i="0" u="none" strike="noStrike" dirty="0" err="1">
                          <a:solidFill>
                            <a:srgbClr val="000000"/>
                          </a:solidFill>
                          <a:effectLst/>
                          <a:latin typeface="Arial Narrow" panose="020B0606020202030204" pitchFamily="34" charset="0"/>
                        </a:rPr>
                        <a:t>menunggu</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piutang</a:t>
                      </a:r>
                      <a:r>
                        <a:rPr lang="en-US" sz="1200" b="0" i="0" u="none" strike="noStrike" dirty="0">
                          <a:solidFill>
                            <a:srgbClr val="000000"/>
                          </a:solidFill>
                          <a:effectLst/>
                          <a:latin typeface="Arial Narrow" panose="020B0606020202030204" pitchFamily="34" charset="0"/>
                        </a:rPr>
                        <a:t> 2021</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19960851"/>
                  </a:ext>
                </a:extLst>
              </a:tr>
              <a:tr h="195821">
                <a:tc rowSpan="2">
                  <a:txBody>
                    <a:bodyPr/>
                    <a:lstStyle/>
                    <a:p>
                      <a:pPr algn="ctr" fontAlgn="ctr"/>
                      <a:r>
                        <a:rPr lang="id-ID" sz="1300" b="0" i="0" u="none" strike="noStrike" dirty="0">
                          <a:solidFill>
                            <a:schemeClr val="tx1"/>
                          </a:solidFill>
                          <a:effectLst/>
                          <a:latin typeface="Arial Narrow" panose="020B0606020202030204" pitchFamily="34" charset="0"/>
                        </a:rPr>
                        <a:t>4</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id-ID" sz="1300" b="0" i="0" u="none" strike="noStrike" dirty="0">
                          <a:solidFill>
                            <a:schemeClr val="tx1"/>
                          </a:solidFill>
                          <a:effectLst/>
                          <a:latin typeface="Arial Narrow" panose="020B0606020202030204" pitchFamily="34" charset="0"/>
                        </a:rPr>
                        <a:t>68/LHP/BPK/XVIII.SMG/05/2018, Laporan Hasil Pemeriksaan atas laporan keuangan Pemerintah  Provinsi Jawa Tengah Tahun 2017</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a:solidFill>
                            <a:srgbClr val="000000"/>
                          </a:solidFill>
                          <a:effectLst/>
                          <a:latin typeface="Arial Narrow" panose="020B0606020202030204" pitchFamily="34" charset="0"/>
                        </a:rPr>
                        <a:t>a. Memperbaiki sistem informasi pengelolaan PKB yang menjamin akurasi dan konsistensi relasi data objek pajak, data pajak yang jatuh tempo, data pembayaran pajak, data piutang dan data penghapusan piutang pajak antara Kantor Pusat dengan UPPD (terkait TL piutang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dirty="0" err="1">
                          <a:solidFill>
                            <a:srgbClr val="000000"/>
                          </a:solidFill>
                          <a:effectLst/>
                          <a:latin typeface="Arial Narrow" panose="020B0606020202030204" pitchFamily="34" charset="0"/>
                        </a:rPr>
                        <a:t>Capture</a:t>
                      </a:r>
                      <a:r>
                        <a:rPr lang="id-ID" sz="1200" b="0" i="0" u="none" strike="noStrike" dirty="0">
                          <a:solidFill>
                            <a:srgbClr val="000000"/>
                          </a:solidFill>
                          <a:effectLst/>
                          <a:latin typeface="Arial Narrow" panose="020B0606020202030204" pitchFamily="34" charset="0"/>
                        </a:rPr>
                        <a:t> dokumentasi alur proses pembayaran PKB yang menunggak</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dirty="0">
                          <a:solidFill>
                            <a:srgbClr val="000000"/>
                          </a:solidFill>
                          <a:effectLst/>
                          <a:latin typeface="Arial Narrow" panose="020B0606020202030204" pitchFamily="34" charset="0"/>
                        </a:rPr>
                        <a:t>Masih </a:t>
                      </a:r>
                      <a:r>
                        <a:rPr lang="en-US" sz="1200" b="0" i="0" u="none" strike="noStrike" dirty="0" err="1">
                          <a:solidFill>
                            <a:srgbClr val="000000"/>
                          </a:solidFill>
                          <a:effectLst/>
                          <a:latin typeface="Arial Narrow" panose="020B0606020202030204" pitchFamily="34" charset="0"/>
                        </a:rPr>
                        <a:t>menunggu</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piutang</a:t>
                      </a:r>
                      <a:r>
                        <a:rPr lang="en-US" sz="1200" b="0" i="0" u="none" strike="noStrike" dirty="0">
                          <a:solidFill>
                            <a:srgbClr val="000000"/>
                          </a:solidFill>
                          <a:effectLst/>
                          <a:latin typeface="Arial Narrow" panose="020B0606020202030204" pitchFamily="34" charset="0"/>
                        </a:rPr>
                        <a:t> 2021</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667631875"/>
                  </a:ext>
                </a:extLst>
              </a:tr>
              <a:tr h="132996">
                <a:tc vMerge="1">
                  <a:txBody>
                    <a:bodyPr/>
                    <a:lstStyle/>
                    <a:p>
                      <a:endParaRPr lang="id-ID"/>
                    </a:p>
                  </a:txBody>
                  <a:tcPr/>
                </a:tc>
                <a:tc vMerge="1">
                  <a:txBody>
                    <a:bodyPr/>
                    <a:lstStyle/>
                    <a:p>
                      <a:endParaRPr lang="id-ID"/>
                    </a:p>
                  </a:txBody>
                  <a:tcPr/>
                </a:tc>
                <a:tc>
                  <a:txBody>
                    <a:bodyPr/>
                    <a:lstStyle/>
                    <a:p>
                      <a:pPr algn="l" fontAlgn="ctr"/>
                      <a:r>
                        <a:rPr lang="id-ID" sz="1200" b="0" i="0" u="none" strike="noStrike">
                          <a:solidFill>
                            <a:srgbClr val="000000"/>
                          </a:solidFill>
                          <a:effectLst/>
                          <a:latin typeface="Arial Narrow" panose="020B0606020202030204" pitchFamily="34" charset="0"/>
                        </a:rPr>
                        <a:t>b. Mengawasi kegiatan pemungutan pajak, penanganan tunggakan pajak, dan penghapusan tunggakan dengan melakukan desk dengan masing-masing UPPD secara periodik. (laporan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a:solidFill>
                            <a:srgbClr val="000000"/>
                          </a:solidFill>
                          <a:effectLst/>
                          <a:latin typeface="Arial Narrow" panose="020B0606020202030204" pitchFamily="34" charset="0"/>
                        </a:rPr>
                        <a:t>Berita Acara Penelitian Administrasi Terhadap Piutang PKB Periode Tahun 2011 s/d 2016 antara Tim Penghapusan dengan masing-masing UPPD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id-ID" sz="1200" b="0" i="0" u="none" strike="noStrike" dirty="0">
                          <a:solidFill>
                            <a:srgbClr val="000000"/>
                          </a:solidFill>
                          <a:effectLst/>
                          <a:latin typeface="Arial Narrow" panose="020B0606020202030204" pitchFamily="34" charset="0"/>
                        </a:rPr>
                        <a:t>Masih</a:t>
                      </a:r>
                      <a:r>
                        <a:rPr lang="en-US" sz="1200" b="0" i="0" u="none" strike="noStrike" dirty="0">
                          <a:solidFill>
                            <a:srgbClr val="000000"/>
                          </a:solidFill>
                          <a:effectLst/>
                          <a:latin typeface="Arial Narrow" panose="020B0606020202030204" pitchFamily="34" charset="0"/>
                        </a:rPr>
                        <a:t> proses </a:t>
                      </a:r>
                      <a:r>
                        <a:rPr lang="en-US" sz="1200" b="0" i="0" u="none" strike="noStrike" dirty="0" err="1">
                          <a:solidFill>
                            <a:srgbClr val="000000"/>
                          </a:solidFill>
                          <a:effectLst/>
                          <a:latin typeface="Arial Narrow" panose="020B0606020202030204" pitchFamily="34" charset="0"/>
                        </a:rPr>
                        <a:t>persetujuan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dari</a:t>
                      </a:r>
                      <a:r>
                        <a:rPr lang="en-US" sz="1200" b="0" i="0" u="none" strike="noStrike" dirty="0">
                          <a:solidFill>
                            <a:srgbClr val="000000"/>
                          </a:solidFill>
                          <a:effectLst/>
                          <a:latin typeface="Arial Narrow" panose="020B0606020202030204" pitchFamily="34" charset="0"/>
                        </a:rPr>
                        <a:t> BPK </a:t>
                      </a:r>
                      <a:r>
                        <a:rPr lang="en-US" sz="1200" b="0" i="0" u="none" strike="noStrike" dirty="0" err="1">
                          <a:solidFill>
                            <a:srgbClr val="000000"/>
                          </a:solidFill>
                          <a:effectLst/>
                          <a:latin typeface="Arial Narrow" panose="020B0606020202030204" pitchFamily="34" charset="0"/>
                        </a:rPr>
                        <a:t>terhadap</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kelengkapan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lampiran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laporan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kegiatan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penanganan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tunggakan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dari</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Bidang</a:t>
                      </a:r>
                      <a:r>
                        <a:rPr lang="en-US" sz="1200" b="0" i="0" u="none" strike="noStrike" dirty="0">
                          <a:solidFill>
                            <a:srgbClr val="000000"/>
                          </a:solidFill>
                          <a:effectLst/>
                          <a:latin typeface="Arial Narrow" panose="020B0606020202030204" pitchFamily="34" charset="0"/>
                        </a:rPr>
                        <a:t> PKB</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90368736"/>
                  </a:ext>
                </a:extLst>
              </a:tr>
              <a:tr h="122863">
                <a:tc>
                  <a:txBody>
                    <a:bodyPr/>
                    <a:lstStyle/>
                    <a:p>
                      <a:pPr algn="ctr" fontAlgn="ctr"/>
                      <a:r>
                        <a:rPr lang="id-ID" sz="1300" b="0" i="0" u="none" strike="noStrike" dirty="0">
                          <a:solidFill>
                            <a:schemeClr val="tx1"/>
                          </a:solidFill>
                          <a:effectLst/>
                          <a:latin typeface="Arial Narrow" panose="020B0606020202030204" pitchFamily="34" charset="0"/>
                        </a:rPr>
                        <a:t>5</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300" b="0" i="0" u="none" strike="noStrike" dirty="0">
                          <a:solidFill>
                            <a:schemeClr val="tx1"/>
                          </a:solidFill>
                          <a:effectLst/>
                          <a:latin typeface="Arial Narrow" panose="020B0606020202030204" pitchFamily="34" charset="0"/>
                        </a:rPr>
                        <a:t>65/LHP/XVIII.SMG/05/2019, Laporan Hasil Pemeriksaan atas laporan keuangan Pemerintah Daerah  Provinsi Jawa Tengah Tahun 2018</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a:solidFill>
                            <a:srgbClr val="000000"/>
                          </a:solidFill>
                          <a:effectLst/>
                          <a:latin typeface="Arial Narrow" panose="020B0606020202030204" pitchFamily="34" charset="0"/>
                        </a:rPr>
                        <a:t>a. Mengembangkan aplikasi Samsat Online untuk dapat menghasilkan Laporan Piutang PKB secara sistem</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00" b="0" i="0" u="none" strike="noStrike">
                          <a:solidFill>
                            <a:srgbClr val="000000"/>
                          </a:solidFill>
                          <a:effectLst/>
                          <a:latin typeface="Arial Narrow" panose="020B0606020202030204" pitchFamily="34" charset="0"/>
                        </a:rPr>
                        <a:t>Mengirimkan capture aplikasi pendaftaran untuk penginputan type kendaraan yang belum sesuai</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id-ID"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477139128"/>
                  </a:ext>
                </a:extLst>
              </a:tr>
              <a:tr h="195821">
                <a:tc rowSpan="2">
                  <a:txBody>
                    <a:bodyPr/>
                    <a:lstStyle/>
                    <a:p>
                      <a:pPr algn="ctr" fontAlgn="ctr"/>
                      <a:r>
                        <a:rPr lang="id-ID" sz="1200" b="0" i="0" u="none" strike="noStrike">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id-ID" sz="120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00" b="0" i="0" u="none" strike="noStrike">
                          <a:solidFill>
                            <a:srgbClr val="000000"/>
                          </a:solidFill>
                          <a:effectLst/>
                          <a:latin typeface="Arial Narrow" panose="020B0606020202030204" pitchFamily="34" charset="0"/>
                        </a:rPr>
                        <a:t>b. Menetapkan SOP verifikasi, validasi, dan pelaporan data piutang dari masing-masing UPPD kepada BPPD secara periodik untuk selanjutnya dievaluasi Bidang Valbin</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00" b="0" i="0" u="none" strike="noStrike">
                          <a:solidFill>
                            <a:srgbClr val="000000"/>
                          </a:solidFill>
                          <a:effectLst/>
                          <a:latin typeface="Arial Narrow" panose="020B0606020202030204" pitchFamily="34" charset="0"/>
                        </a:rPr>
                        <a:t>Keputusan bersama Direktur Lalu Lintas Kepolisian Daerah Jawa Tengah, Kepala BAPENDA Prov. Jateng, Kepala PT. Jasa Raharja Cabang Utama Jateng Nomor: KB/1/XI/2021, Nomor: 973/17,698, Nomor: P/32/SP/2021 Tentang Standar Operasional Prosedur (SOP) Pelayanan Samsat Jawa Tengah</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09182822"/>
                  </a:ext>
                </a:extLst>
              </a:tr>
              <a:tr h="98544">
                <a:tc vMerge="1">
                  <a:txBody>
                    <a:bodyPr/>
                    <a:lstStyle/>
                    <a:p>
                      <a:endParaRPr lang="id-ID"/>
                    </a:p>
                  </a:txBody>
                  <a:tcPr/>
                </a:tc>
                <a:tc vMerge="1">
                  <a:txBody>
                    <a:bodyPr/>
                    <a:lstStyle/>
                    <a:p>
                      <a:endParaRPr lang="id-ID"/>
                    </a:p>
                  </a:txBody>
                  <a:tcPr/>
                </a:tc>
                <a:tc>
                  <a:txBody>
                    <a:bodyPr/>
                    <a:lstStyle/>
                    <a:p>
                      <a:pPr algn="l" fontAlgn="ctr"/>
                      <a:r>
                        <a:rPr lang="id-ID" sz="1200" b="0" i="0" u="none" strike="noStrike">
                          <a:solidFill>
                            <a:srgbClr val="000000"/>
                          </a:solidFill>
                          <a:effectLst/>
                          <a:latin typeface="Arial Narrow" panose="020B0606020202030204" pitchFamily="34" charset="0"/>
                        </a:rPr>
                        <a:t>c. Menginventarisasi dan memperbaiki data piutang PKB yang tidak memuat atribut data yang lengkap (terkait dengan TL piutang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200" b="0" i="0" u="none" strike="noStrike">
                          <a:solidFill>
                            <a:srgbClr val="000000"/>
                          </a:solidFill>
                          <a:effectLst/>
                          <a:latin typeface="Arial Narrow" panose="020B0606020202030204" pitchFamily="34" charset="0"/>
                        </a:rPr>
                        <a:t>Mengirimkan capture aplikasi pendaftaran untuk penginputan type kendaraan yang belum sesuai</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dirty="0">
                          <a:solidFill>
                            <a:srgbClr val="000000"/>
                          </a:solidFill>
                          <a:effectLst/>
                          <a:latin typeface="Arial Narrow" panose="020B0606020202030204" pitchFamily="34" charset="0"/>
                        </a:rPr>
                        <a:t>Masih proses </a:t>
                      </a:r>
                      <a:r>
                        <a:rPr lang="en-US" sz="1200" b="0" i="0" u="none" strike="noStrike" dirty="0" err="1">
                          <a:solidFill>
                            <a:srgbClr val="000000"/>
                          </a:solidFill>
                          <a:effectLst/>
                          <a:latin typeface="Arial Narrow" panose="020B0606020202030204" pitchFamily="34" charset="0"/>
                        </a:rPr>
                        <a:t>persetujuan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dari</a:t>
                      </a:r>
                      <a:r>
                        <a:rPr lang="en-US" sz="1200" b="0" i="0" u="none" strike="noStrike" dirty="0">
                          <a:solidFill>
                            <a:srgbClr val="000000"/>
                          </a:solidFill>
                          <a:effectLst/>
                          <a:latin typeface="Arial Narrow" panose="020B0606020202030204" pitchFamily="34" charset="0"/>
                        </a:rPr>
                        <a:t> BPK, dan </a:t>
                      </a:r>
                      <a:r>
                        <a:rPr lang="en-US" sz="1200" b="0" i="0" u="none" strike="noStrike" dirty="0" err="1">
                          <a:solidFill>
                            <a:srgbClr val="000000"/>
                          </a:solidFill>
                          <a:effectLst/>
                          <a:latin typeface="Arial Narrow" panose="020B0606020202030204" pitchFamily="34" charset="0"/>
                        </a:rPr>
                        <a:t>berkaiitan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dengan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lanjur</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piutang</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tahun</a:t>
                      </a:r>
                      <a:r>
                        <a:rPr lang="en-US" sz="1200" b="0" i="0" u="none" strike="noStrike" dirty="0">
                          <a:solidFill>
                            <a:srgbClr val="000000"/>
                          </a:solidFill>
                          <a:effectLst/>
                          <a:latin typeface="Arial Narrow" panose="020B0606020202030204" pitchFamily="34" charset="0"/>
                        </a:rPr>
                        <a:t> 2021</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23079392"/>
                  </a:ext>
                </a:extLst>
              </a:tr>
            </a:tbl>
          </a:graphicData>
        </a:graphic>
      </p:graphicFrame>
      <p:sp>
        <p:nvSpPr>
          <p:cNvPr id="5" name="TextBox 4">
            <a:extLst>
              <a:ext uri="{FF2B5EF4-FFF2-40B4-BE49-F238E27FC236}">
                <a16:creationId xmlns:a16="http://schemas.microsoft.com/office/drawing/2014/main" id="{700BA110-137C-4934-84D8-57CF8B80ED12}"/>
              </a:ext>
            </a:extLst>
          </p:cNvPr>
          <p:cNvSpPr txBox="1"/>
          <p:nvPr/>
        </p:nvSpPr>
        <p:spPr>
          <a:xfrm>
            <a:off x="9375494" y="133906"/>
            <a:ext cx="1805687" cy="369332"/>
          </a:xfrm>
          <a:prstGeom prst="rect">
            <a:avLst/>
          </a:prstGeom>
          <a:noFill/>
        </p:spPr>
        <p:txBody>
          <a:bodyPr wrap="none" rtlCol="0">
            <a:spAutoFit/>
          </a:bodyPr>
          <a:lstStyle/>
          <a:p>
            <a:r>
              <a:rPr lang="en-US" i="1" dirty="0" err="1"/>
              <a:t>Lanjutan</a:t>
            </a:r>
            <a:r>
              <a:rPr lang="en-US" i="1" dirty="0"/>
              <a:t>……………</a:t>
            </a:r>
            <a:endParaRPr lang="id-ID" i="1" dirty="0"/>
          </a:p>
        </p:txBody>
      </p:sp>
    </p:spTree>
    <p:extLst>
      <p:ext uri="{BB962C8B-B14F-4D97-AF65-F5344CB8AC3E}">
        <p14:creationId xmlns:p14="http://schemas.microsoft.com/office/powerpoint/2010/main" val="309380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BE6C074-44AF-4D74-B743-E2EAC48439E0}"/>
              </a:ext>
            </a:extLst>
          </p:cNvPr>
          <p:cNvGraphicFramePr>
            <a:graphicFrameLocks noGrp="1"/>
          </p:cNvGraphicFramePr>
          <p:nvPr>
            <p:extLst>
              <p:ext uri="{D42A27DB-BD31-4B8C-83A1-F6EECF244321}">
                <p14:modId xmlns:p14="http://schemas.microsoft.com/office/powerpoint/2010/main" val="2685627661"/>
              </p:ext>
            </p:extLst>
          </p:nvPr>
        </p:nvGraphicFramePr>
        <p:xfrm>
          <a:off x="177800" y="675595"/>
          <a:ext cx="11736730" cy="5857317"/>
        </p:xfrm>
        <a:graphic>
          <a:graphicData uri="http://schemas.openxmlformats.org/drawingml/2006/table">
            <a:tbl>
              <a:tblPr/>
              <a:tblGrid>
                <a:gridCol w="416688">
                  <a:extLst>
                    <a:ext uri="{9D8B030D-6E8A-4147-A177-3AD203B41FA5}">
                      <a16:colId xmlns:a16="http://schemas.microsoft.com/office/drawing/2014/main" val="1337134941"/>
                    </a:ext>
                  </a:extLst>
                </a:gridCol>
                <a:gridCol w="3699720">
                  <a:extLst>
                    <a:ext uri="{9D8B030D-6E8A-4147-A177-3AD203B41FA5}">
                      <a16:colId xmlns:a16="http://schemas.microsoft.com/office/drawing/2014/main" val="2516925258"/>
                    </a:ext>
                  </a:extLst>
                </a:gridCol>
                <a:gridCol w="2863127">
                  <a:extLst>
                    <a:ext uri="{9D8B030D-6E8A-4147-A177-3AD203B41FA5}">
                      <a16:colId xmlns:a16="http://schemas.microsoft.com/office/drawing/2014/main" val="2638471279"/>
                    </a:ext>
                  </a:extLst>
                </a:gridCol>
                <a:gridCol w="2789499">
                  <a:extLst>
                    <a:ext uri="{9D8B030D-6E8A-4147-A177-3AD203B41FA5}">
                      <a16:colId xmlns:a16="http://schemas.microsoft.com/office/drawing/2014/main" val="178348262"/>
                    </a:ext>
                  </a:extLst>
                </a:gridCol>
                <a:gridCol w="1967696">
                  <a:extLst>
                    <a:ext uri="{9D8B030D-6E8A-4147-A177-3AD203B41FA5}">
                      <a16:colId xmlns:a16="http://schemas.microsoft.com/office/drawing/2014/main" val="1132882870"/>
                    </a:ext>
                  </a:extLst>
                </a:gridCol>
              </a:tblGrid>
              <a:tr h="304810">
                <a:tc rowSpan="3">
                  <a:txBody>
                    <a:bodyPr/>
                    <a:lstStyle/>
                    <a:p>
                      <a:pPr algn="ctr" fontAlgn="ctr"/>
                      <a:r>
                        <a:rPr lang="id-ID" sz="1400" b="0" i="0" u="none" strike="noStrike" dirty="0">
                          <a:solidFill>
                            <a:schemeClr val="tx1"/>
                          </a:solidFill>
                          <a:effectLst/>
                          <a:latin typeface="Arial Narrow" panose="020B0606020202030204" pitchFamily="34" charset="0"/>
                        </a:rPr>
                        <a:t>6</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id-ID" sz="1400" b="0" i="0" u="none" strike="noStrike" dirty="0">
                          <a:solidFill>
                            <a:schemeClr val="tx1"/>
                          </a:solidFill>
                          <a:effectLst/>
                          <a:latin typeface="Arial Narrow" panose="020B0606020202030204" pitchFamily="34" charset="0"/>
                        </a:rPr>
                        <a:t>105/LHP/XVIII.SMG/05/2020, Laporan Hasil Pemeriksaan atas laporan keuangan Pemerintah Daerah  Provinsi Jawa Tengah Tahun 2019</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id-ID" sz="1400" dirty="0">
                          <a:solidFill>
                            <a:schemeClr val="bg1"/>
                          </a:solidFill>
                          <a:latin typeface="Arial Narrow" panose="020B0606020202030204" pitchFamily="34" charset="0"/>
                        </a:rPr>
                        <a:t>a. Memperhatikan dan melaksanakan ketentuan waktu implementasi </a:t>
                      </a:r>
                      <a:r>
                        <a:rPr lang="id-ID" sz="1400" dirty="0" err="1">
                          <a:solidFill>
                            <a:schemeClr val="bg1"/>
                          </a:solidFill>
                          <a:latin typeface="Arial Narrow" panose="020B0606020202030204" pitchFamily="34" charset="0"/>
                        </a:rPr>
                        <a:t>Pergub</a:t>
                      </a:r>
                      <a:r>
                        <a:rPr lang="id-ID" sz="1400" dirty="0">
                          <a:solidFill>
                            <a:schemeClr val="bg1"/>
                          </a:solidFill>
                          <a:latin typeface="Arial Narrow" panose="020B0606020202030204" pitchFamily="34" charset="0"/>
                        </a:rPr>
                        <a:t> terkait Dasar Pengenaan PKB secara tepat waktu</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r>
                        <a:rPr lang="id-ID" sz="1400" dirty="0">
                          <a:solidFill>
                            <a:schemeClr val="bg1"/>
                          </a:solidFill>
                          <a:latin typeface="Arial Narrow" panose="020B0606020202030204" pitchFamily="34" charset="0"/>
                        </a:rPr>
                        <a:t>a. Memperhatikan dan melaksanakan ketentuan waktu implementasi </a:t>
                      </a:r>
                      <a:r>
                        <a:rPr lang="id-ID" sz="1400" dirty="0" err="1">
                          <a:solidFill>
                            <a:schemeClr val="bg1"/>
                          </a:solidFill>
                          <a:latin typeface="Arial Narrow" panose="020B0606020202030204" pitchFamily="34" charset="0"/>
                        </a:rPr>
                        <a:t>Pergub</a:t>
                      </a:r>
                      <a:r>
                        <a:rPr lang="id-ID" sz="1400" dirty="0">
                          <a:solidFill>
                            <a:schemeClr val="bg1"/>
                          </a:solidFill>
                          <a:latin typeface="Arial Narrow" panose="020B0606020202030204" pitchFamily="34" charset="0"/>
                        </a:rPr>
                        <a:t> terkait Dasar Pengenaan PKB secara tepat waktu</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a:r>
                        <a:rPr lang="id-ID" sz="1400" dirty="0">
                          <a:solidFill>
                            <a:schemeClr val="bg1"/>
                          </a:solidFill>
                          <a:latin typeface="Arial Narrow" panose="020B0606020202030204" pitchFamily="34" charset="0"/>
                        </a:rPr>
                        <a:t>masih proses </a:t>
                      </a:r>
                      <a:r>
                        <a:rPr lang="id-ID" sz="1400" dirty="0" err="1">
                          <a:solidFill>
                            <a:schemeClr val="bg1"/>
                          </a:solidFill>
                          <a:latin typeface="Arial Narrow" panose="020B0606020202030204" pitchFamily="34" charset="0"/>
                        </a:rPr>
                        <a:t>approve</a:t>
                      </a:r>
                      <a:r>
                        <a:rPr lang="id-ID" sz="1400" dirty="0">
                          <a:solidFill>
                            <a:schemeClr val="bg1"/>
                          </a:solidFill>
                          <a:latin typeface="Arial Narrow" panose="020B0606020202030204" pitchFamily="34" charset="0"/>
                        </a:rPr>
                        <a:t> dari BPK</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668033129"/>
                  </a:ext>
                </a:extLst>
              </a:tr>
              <a:tr h="2226396">
                <a:tc vMerge="1">
                  <a:txBody>
                    <a:bodyPr/>
                    <a:lstStyle/>
                    <a:p>
                      <a:endParaRPr lang="id-ID"/>
                    </a:p>
                  </a:txBody>
                  <a:tcPr/>
                </a:tc>
                <a:tc vMerge="1">
                  <a:txBody>
                    <a:bodyPr/>
                    <a:lstStyle/>
                    <a:p>
                      <a:endParaRPr lang="id-ID"/>
                    </a:p>
                  </a:txBody>
                  <a:tcPr/>
                </a:tc>
                <a:tc>
                  <a:txBody>
                    <a:bodyPr/>
                    <a:lstStyle/>
                    <a:p>
                      <a:pPr algn="l" fontAlgn="ctr"/>
                      <a:r>
                        <a:rPr lang="id-ID" sz="1400" b="0" i="0" u="none" strike="noStrike" dirty="0">
                          <a:solidFill>
                            <a:srgbClr val="000000"/>
                          </a:solidFill>
                          <a:effectLst/>
                          <a:latin typeface="Arial Narrow" panose="020B0606020202030204" pitchFamily="34" charset="0"/>
                        </a:rPr>
                        <a:t>b. Mengkoordinasikan Kabid Pengolahan Data dan Pengembangan BPPD dan Kabid PKB </a:t>
                      </a:r>
                      <a:r>
                        <a:rPr lang="id-ID" sz="1400" b="0" i="0" u="none" strike="noStrike" dirty="0" err="1">
                          <a:solidFill>
                            <a:srgbClr val="000000"/>
                          </a:solidFill>
                          <a:effectLst/>
                          <a:latin typeface="Arial Narrow" panose="020B0606020202030204" pitchFamily="34" charset="0"/>
                        </a:rPr>
                        <a:t>untukmemperbaiki</a:t>
                      </a:r>
                      <a:r>
                        <a:rPr lang="id-ID" sz="1400" b="0" i="0" u="none" strike="noStrike" dirty="0">
                          <a:solidFill>
                            <a:srgbClr val="000000"/>
                          </a:solidFill>
                          <a:effectLst/>
                          <a:latin typeface="Arial Narrow" panose="020B0606020202030204" pitchFamily="34" charset="0"/>
                        </a:rPr>
                        <a:t> sistem </a:t>
                      </a:r>
                      <a:r>
                        <a:rPr lang="id-ID" sz="1400" b="0" i="0" u="none" strike="noStrike" dirty="0" err="1">
                          <a:solidFill>
                            <a:srgbClr val="000000"/>
                          </a:solidFill>
                          <a:effectLst/>
                          <a:latin typeface="Arial Narrow" panose="020B0606020202030204" pitchFamily="34" charset="0"/>
                        </a:rPr>
                        <a:t>penginputan</a:t>
                      </a:r>
                      <a:r>
                        <a:rPr lang="id-ID" sz="1400" b="0" i="0" u="none" strike="noStrike" dirty="0">
                          <a:solidFill>
                            <a:srgbClr val="000000"/>
                          </a:solidFill>
                          <a:effectLst/>
                          <a:latin typeface="Arial Narrow" panose="020B0606020202030204" pitchFamily="34" charset="0"/>
                        </a:rPr>
                        <a:t> tipe kendaraan pada saat pendaftaran, menyelesaikan pengembangan Aplikasi pengelompokan NJKB, dan mengimplementasikannya dengan segera (disertakan surat pengantar bahwa aplikasi sudah dikembangkan sejak kapan, dilengkapi dengan pengelompokan NJKB)</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a:txBody>
                    <a:bodyPr/>
                    <a:lstStyle/>
                    <a:p>
                      <a:pPr algn="ctr" fontAlgn="ctr"/>
                      <a:r>
                        <a:rPr lang="id-ID" sz="1400" b="0" i="0" u="none" strike="noStrike" dirty="0">
                          <a:solidFill>
                            <a:srgbClr val="000000"/>
                          </a:solidFill>
                          <a:effectLst/>
                          <a:latin typeface="Arial Narrow" panose="020B0606020202030204" pitchFamily="34" charset="0"/>
                        </a:rPr>
                        <a:t>Mengirimkan </a:t>
                      </a:r>
                      <a:r>
                        <a:rPr lang="id-ID" sz="1400" b="0" i="0" u="none" strike="noStrike" dirty="0" err="1">
                          <a:solidFill>
                            <a:srgbClr val="000000"/>
                          </a:solidFill>
                          <a:effectLst/>
                          <a:latin typeface="Arial Narrow" panose="020B0606020202030204" pitchFamily="34" charset="0"/>
                        </a:rPr>
                        <a:t>capture</a:t>
                      </a:r>
                      <a:r>
                        <a:rPr lang="id-ID" sz="1400" b="0" i="0" u="none" strike="noStrike" dirty="0">
                          <a:solidFill>
                            <a:srgbClr val="000000"/>
                          </a:solidFill>
                          <a:effectLst/>
                          <a:latin typeface="Arial Narrow" panose="020B0606020202030204" pitchFamily="34" charset="0"/>
                        </a:rPr>
                        <a:t> aplikasi pendaftaran untuk </a:t>
                      </a:r>
                      <a:r>
                        <a:rPr lang="id-ID" sz="1400" b="0" i="0" u="none" strike="noStrike" dirty="0" err="1">
                          <a:solidFill>
                            <a:srgbClr val="000000"/>
                          </a:solidFill>
                          <a:effectLst/>
                          <a:latin typeface="Arial Narrow" panose="020B0606020202030204" pitchFamily="34" charset="0"/>
                        </a:rPr>
                        <a:t>penginputan</a:t>
                      </a:r>
                      <a:r>
                        <a:rPr lang="id-ID" sz="1400" b="0" i="0" u="none" strike="noStrike" dirty="0">
                          <a:solidFill>
                            <a:srgbClr val="000000"/>
                          </a:solidFill>
                          <a:effectLst/>
                          <a:latin typeface="Arial Narrow" panose="020B0606020202030204" pitchFamily="34" charset="0"/>
                        </a:rPr>
                        <a:t> </a:t>
                      </a:r>
                      <a:r>
                        <a:rPr lang="id-ID" sz="1400" b="0" i="0" u="none" strike="noStrike" dirty="0" err="1">
                          <a:solidFill>
                            <a:srgbClr val="000000"/>
                          </a:solidFill>
                          <a:effectLst/>
                          <a:latin typeface="Arial Narrow" panose="020B0606020202030204" pitchFamily="34" charset="0"/>
                        </a:rPr>
                        <a:t>type</a:t>
                      </a:r>
                      <a:r>
                        <a:rPr lang="id-ID" sz="1400" b="0" i="0" u="none" strike="noStrike" dirty="0">
                          <a:solidFill>
                            <a:srgbClr val="000000"/>
                          </a:solidFill>
                          <a:effectLst/>
                          <a:latin typeface="Arial Narrow" panose="020B0606020202030204" pitchFamily="34" charset="0"/>
                        </a:rPr>
                        <a:t> kendaraan yang belum sesuai</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a:txBody>
                    <a:bodyPr/>
                    <a:lstStyle/>
                    <a:p>
                      <a:pPr algn="ctr" fontAlgn="ctr"/>
                      <a:r>
                        <a:rPr lang="en-US" sz="1400" b="0" i="0" u="none" strike="noStrike" dirty="0" err="1">
                          <a:solidFill>
                            <a:srgbClr val="000000"/>
                          </a:solidFill>
                          <a:effectLst/>
                          <a:latin typeface="Arial Narrow" panose="020B0606020202030204" pitchFamily="34" charset="0"/>
                        </a:rPr>
                        <a:t>Telah</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ditindaklanjuti</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sesuai</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dengan</a:t>
                      </a:r>
                      <a:r>
                        <a:rPr lang="en-US" sz="1400" b="0" i="0" u="none" strike="noStrike" dirty="0">
                          <a:solidFill>
                            <a:srgbClr val="000000"/>
                          </a:solidFill>
                          <a:effectLst/>
                          <a:latin typeface="Arial Narrow" panose="020B0606020202030204" pitchFamily="34" charset="0"/>
                        </a:rPr>
                        <a:t> saran </a:t>
                      </a:r>
                      <a:r>
                        <a:rPr lang="en-US" sz="1400" b="0" i="0" u="none" strike="noStrike" dirty="0" err="1">
                          <a:solidFill>
                            <a:srgbClr val="000000"/>
                          </a:solidFill>
                          <a:effectLst/>
                          <a:latin typeface="Arial Narrow" panose="020B0606020202030204" pitchFamily="34" charset="0"/>
                        </a:rPr>
                        <a:t>dari</a:t>
                      </a:r>
                      <a:r>
                        <a:rPr lang="en-US" sz="1400" b="0" i="0" u="none" strike="noStrike" dirty="0">
                          <a:solidFill>
                            <a:srgbClr val="000000"/>
                          </a:solidFill>
                          <a:effectLst/>
                          <a:latin typeface="Arial Narrow" panose="020B0606020202030204" pitchFamily="34" charset="0"/>
                        </a:rPr>
                        <a:t> BPK </a:t>
                      </a:r>
                      <a:r>
                        <a:rPr lang="en-US" sz="1400" b="0" i="0" u="none" strike="noStrike" dirty="0" err="1">
                          <a:solidFill>
                            <a:srgbClr val="000000"/>
                          </a:solidFill>
                          <a:effectLst/>
                          <a:latin typeface="Arial Narrow" panose="020B0606020202030204" pitchFamily="34" charset="0"/>
                        </a:rPr>
                        <a:t>yaitu</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membuat</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surat</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pengantar</a:t>
                      </a:r>
                      <a:r>
                        <a:rPr lang="en-US" sz="1400" b="0" i="0" u="none" strike="noStrike" dirty="0">
                          <a:solidFill>
                            <a:srgbClr val="000000"/>
                          </a:solidFill>
                          <a:effectLst/>
                          <a:latin typeface="Arial Narrow" panose="020B0606020202030204" pitchFamily="34" charset="0"/>
                        </a:rPr>
                        <a:t> yang </a:t>
                      </a:r>
                      <a:r>
                        <a:rPr lang="en-US" sz="1400" b="0" i="0" u="none" strike="noStrike" dirty="0" err="1">
                          <a:solidFill>
                            <a:srgbClr val="000000"/>
                          </a:solidFill>
                          <a:effectLst/>
                          <a:latin typeface="Arial Narrow" panose="020B0606020202030204" pitchFamily="34" charset="0"/>
                        </a:rPr>
                        <a:t>menerangkan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bahwa</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aplikasi</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sudah</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dikembangkan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sejak</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kapan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berikut</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dengan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pengelompokan</a:t>
                      </a:r>
                      <a:r>
                        <a:rPr lang="en-US" sz="1400" b="0" i="0" u="none" strike="noStrike" dirty="0">
                          <a:solidFill>
                            <a:srgbClr val="000000"/>
                          </a:solidFill>
                          <a:effectLst/>
                          <a:latin typeface="Arial Narrow" panose="020B0606020202030204" pitchFamily="34" charset="0"/>
                        </a:rPr>
                        <a:t> NJKB</a:t>
                      </a:r>
                      <a:endParaRPr lang="id-ID" sz="14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95767875"/>
                  </a:ext>
                </a:extLst>
              </a:tr>
              <a:tr h="810490">
                <a:tc vMerge="1">
                  <a:txBody>
                    <a:bodyPr/>
                    <a:lstStyle/>
                    <a:p>
                      <a:endParaRPr lang="id-ID"/>
                    </a:p>
                  </a:txBody>
                  <a:tcPr/>
                </a:tc>
                <a:tc vMerge="1">
                  <a:txBody>
                    <a:bodyPr/>
                    <a:lstStyle/>
                    <a:p>
                      <a:endParaRPr lang="id-ID"/>
                    </a:p>
                  </a:txBody>
                  <a:tcPr/>
                </a:tc>
                <a:tc>
                  <a:txBody>
                    <a:bodyPr/>
                    <a:lstStyle/>
                    <a:p>
                      <a:pPr algn="l" fontAlgn="ctr"/>
                      <a:r>
                        <a:rPr lang="id-ID" sz="1400" b="0" i="0" u="none" strike="noStrike" dirty="0">
                          <a:solidFill>
                            <a:srgbClr val="000000"/>
                          </a:solidFill>
                          <a:effectLst/>
                          <a:latin typeface="Arial Narrow" panose="020B0606020202030204" pitchFamily="34" charset="0"/>
                        </a:rPr>
                        <a:t>c. Menyelesaikan proses inventarisasi dan perbaikan data piutang PKB yang tidak memuat atribut data yang lengkap (diambil dari </a:t>
                      </a:r>
                      <a:r>
                        <a:rPr lang="id-ID" sz="1400" b="0" i="0" u="none" strike="noStrike" dirty="0" err="1">
                          <a:solidFill>
                            <a:srgbClr val="000000"/>
                          </a:solidFill>
                          <a:effectLst/>
                          <a:latin typeface="Arial Narrow" panose="020B0606020202030204" pitchFamily="34" charset="0"/>
                        </a:rPr>
                        <a:t>database</a:t>
                      </a:r>
                      <a:r>
                        <a:rPr lang="id-ID" sz="1400" b="0" i="0" u="none" strike="noStrike" dirty="0">
                          <a:solidFill>
                            <a:srgbClr val="000000"/>
                          </a:solidFill>
                          <a:effectLst/>
                          <a:latin typeface="Arial Narrow" panose="020B0606020202030204" pitchFamily="34" charset="0"/>
                        </a:rPr>
                        <a:t>)</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vMerge="1">
                  <a:txBody>
                    <a:bodyPr/>
                    <a:lstStyle/>
                    <a:p>
                      <a:endParaRPr lang="id-ID"/>
                    </a:p>
                  </a:txBody>
                  <a:tcPr/>
                </a:tc>
                <a:tc vMerge="1">
                  <a:txBody>
                    <a:bodyPr/>
                    <a:lstStyle/>
                    <a:p>
                      <a:endParaRPr lang="id-ID"/>
                    </a:p>
                  </a:txBody>
                  <a:tcPr/>
                </a:tc>
                <a:extLst>
                  <a:ext uri="{0D108BD9-81ED-4DB2-BD59-A6C34878D82A}">
                    <a16:rowId xmlns:a16="http://schemas.microsoft.com/office/drawing/2014/main" val="3096179402"/>
                  </a:ext>
                </a:extLst>
              </a:tr>
              <a:tr h="1619579">
                <a:tc>
                  <a:txBody>
                    <a:bodyPr/>
                    <a:lstStyle/>
                    <a:p>
                      <a:pPr algn="l" fontAlgn="ctr"/>
                      <a:r>
                        <a:rPr lang="id-ID" sz="1400" b="0" i="0" u="none" strike="noStrike">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400" b="0" i="0" u="none" strike="noStrike">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400" b="0" i="0" u="none" strike="noStrike" dirty="0">
                          <a:solidFill>
                            <a:srgbClr val="000000"/>
                          </a:solidFill>
                          <a:effectLst/>
                          <a:latin typeface="Arial Narrow" panose="020B0606020202030204" pitchFamily="34" charset="0"/>
                        </a:rPr>
                        <a:t>d. Kepala BPPD untuk mengevaluasi kebutuhan rekening dan menutup rekening yang tidak difungsikan. (membuat kajian/narasi yang menjelaskan alasan untuk tidak menutup rekening tersebut yang disertakan dengan dasar hukumnya)</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400" b="0" i="0" u="none" strike="noStrike" dirty="0">
                          <a:solidFill>
                            <a:srgbClr val="000000"/>
                          </a:solidFill>
                          <a:effectLst/>
                          <a:latin typeface="Arial Narrow" panose="020B0606020202030204" pitchFamily="34" charset="0"/>
                        </a:rPr>
                        <a:t>Nota dinas dari Sekretaris </a:t>
                      </a:r>
                      <a:r>
                        <a:rPr lang="id-ID" sz="1400" b="0" i="0" u="none" strike="noStrike" dirty="0" err="1">
                          <a:solidFill>
                            <a:srgbClr val="000000"/>
                          </a:solidFill>
                          <a:effectLst/>
                          <a:latin typeface="Arial Narrow" panose="020B0606020202030204" pitchFamily="34" charset="0"/>
                        </a:rPr>
                        <a:t>Bapenda</a:t>
                      </a:r>
                      <a:r>
                        <a:rPr lang="id-ID" sz="1400" b="0" i="0" u="none" strike="noStrike" dirty="0">
                          <a:solidFill>
                            <a:srgbClr val="000000"/>
                          </a:solidFill>
                          <a:effectLst/>
                          <a:latin typeface="Arial Narrow" panose="020B0606020202030204" pitchFamily="34" charset="0"/>
                        </a:rPr>
                        <a:t> </a:t>
                      </a:r>
                      <a:r>
                        <a:rPr lang="id-ID" sz="1400" b="0" i="0" u="none" strike="noStrike" dirty="0" err="1">
                          <a:solidFill>
                            <a:srgbClr val="000000"/>
                          </a:solidFill>
                          <a:effectLst/>
                          <a:latin typeface="Arial Narrow" panose="020B0606020202030204" pitchFamily="34" charset="0"/>
                        </a:rPr>
                        <a:t>Prov</a:t>
                      </a:r>
                      <a:r>
                        <a:rPr lang="id-ID" sz="1400" b="0" i="0" u="none" strike="noStrike" dirty="0">
                          <a:solidFill>
                            <a:srgbClr val="000000"/>
                          </a:solidFill>
                          <a:effectLst/>
                          <a:latin typeface="Arial Narrow" panose="020B0606020202030204" pitchFamily="34" charset="0"/>
                        </a:rPr>
                        <a:t>. Jateng Nomor 893/ND/Sekretariat/X/2021 Tanggal 5 Oktober 2021 Perihal Tindak lanjut hasil pemeriksaan BPK RI Perwakilan Ja</a:t>
                      </a:r>
                      <a:r>
                        <a:rPr lang="en-US" sz="1400" b="0" i="0" u="none" strike="noStrike" dirty="0">
                          <a:solidFill>
                            <a:srgbClr val="000000"/>
                          </a:solidFill>
                          <a:effectLst/>
                          <a:latin typeface="Arial Narrow" panose="020B0606020202030204" pitchFamily="34" charset="0"/>
                        </a:rPr>
                        <a:t>w</a:t>
                      </a:r>
                      <a:r>
                        <a:rPr lang="id-ID" sz="1400" b="0" i="0" u="none" strike="noStrike" dirty="0">
                          <a:solidFill>
                            <a:srgbClr val="000000"/>
                          </a:solidFill>
                          <a:effectLst/>
                          <a:latin typeface="Arial Narrow" panose="020B0606020202030204" pitchFamily="34" charset="0"/>
                        </a:rPr>
                        <a:t>a Tengah mengenai hasil koordinasi dengan BPKAD </a:t>
                      </a:r>
                      <a:r>
                        <a:rPr lang="id-ID" sz="1400" b="0" i="0" u="none" strike="noStrike" dirty="0" err="1">
                          <a:solidFill>
                            <a:srgbClr val="000000"/>
                          </a:solidFill>
                          <a:effectLst/>
                          <a:latin typeface="Arial Narrow" panose="020B0606020202030204" pitchFamily="34" charset="0"/>
                        </a:rPr>
                        <a:t>Prov</a:t>
                      </a:r>
                      <a:r>
                        <a:rPr lang="id-ID" sz="1400" b="0" i="0" u="none" strike="noStrike" dirty="0">
                          <a:solidFill>
                            <a:srgbClr val="000000"/>
                          </a:solidFill>
                          <a:effectLst/>
                          <a:latin typeface="Arial Narrow" panose="020B0606020202030204" pitchFamily="34" charset="0"/>
                        </a:rPr>
                        <a:t>. Jateng dan Bidang PKB bahwa rekening Bendahara Penerimaan Pembantu pada UPPD </a:t>
                      </a:r>
                      <a:r>
                        <a:rPr lang="id-ID" sz="1400" b="0" i="0" u="none" strike="noStrike" dirty="0" err="1">
                          <a:solidFill>
                            <a:srgbClr val="000000"/>
                          </a:solidFill>
                          <a:effectLst/>
                          <a:latin typeface="Arial Narrow" panose="020B0606020202030204" pitchFamily="34" charset="0"/>
                        </a:rPr>
                        <a:t>se</a:t>
                      </a:r>
                      <a:r>
                        <a:rPr lang="id-ID" sz="1400" b="0" i="0" u="none" strike="noStrike" dirty="0">
                          <a:solidFill>
                            <a:srgbClr val="000000"/>
                          </a:solidFill>
                          <a:effectLst/>
                          <a:latin typeface="Arial Narrow" panose="020B0606020202030204" pitchFamily="34" charset="0"/>
                        </a:rPr>
                        <a:t> Jateng tidak perlu ditutup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400" b="0" i="0" u="none" strike="noStrike" dirty="0" err="1">
                          <a:solidFill>
                            <a:srgbClr val="000000"/>
                          </a:solidFill>
                          <a:effectLst/>
                          <a:latin typeface="Arial Narrow" panose="020B0606020202030204" pitchFamily="34" charset="0"/>
                        </a:rPr>
                        <a:t>Telah</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dibuat</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kajian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evaluasi</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kebutuhan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rekening</a:t>
                      </a:r>
                      <a:r>
                        <a:rPr lang="en-US" sz="1400" b="0" i="0" u="none" strike="noStrike" dirty="0">
                          <a:solidFill>
                            <a:srgbClr val="000000"/>
                          </a:solidFill>
                          <a:effectLst/>
                          <a:latin typeface="Arial Narrow" panose="020B0606020202030204" pitchFamily="34" charset="0"/>
                        </a:rPr>
                        <a:t> dan </a:t>
                      </a:r>
                      <a:r>
                        <a:rPr lang="en-US" sz="1400" b="0" i="0" u="none" strike="noStrike" dirty="0" err="1">
                          <a:solidFill>
                            <a:srgbClr val="000000"/>
                          </a:solidFill>
                          <a:effectLst/>
                          <a:latin typeface="Arial Narrow" panose="020B0606020202030204" pitchFamily="34" charset="0"/>
                        </a:rPr>
                        <a:t>menutup</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rekening</a:t>
                      </a:r>
                      <a:r>
                        <a:rPr lang="en-US" sz="1400" b="0" i="0" u="none" strike="noStrike" dirty="0">
                          <a:solidFill>
                            <a:srgbClr val="000000"/>
                          </a:solidFill>
                          <a:effectLst/>
                          <a:latin typeface="Arial Narrow" panose="020B0606020202030204" pitchFamily="34" charset="0"/>
                        </a:rPr>
                        <a:t> yang </a:t>
                      </a:r>
                      <a:r>
                        <a:rPr lang="en-US" sz="1400" b="0" i="0" u="none" strike="noStrike" dirty="0" err="1">
                          <a:solidFill>
                            <a:srgbClr val="000000"/>
                          </a:solidFill>
                          <a:effectLst/>
                          <a:latin typeface="Arial Narrow" panose="020B0606020202030204" pitchFamily="34" charset="0"/>
                        </a:rPr>
                        <a:t>tidak</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difungsikan</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dalam</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approvr</a:t>
                      </a:r>
                      <a:r>
                        <a:rPr lang="en-US" sz="1400" b="0" i="0" u="none" strike="noStrike" dirty="0">
                          <a:solidFill>
                            <a:srgbClr val="000000"/>
                          </a:solidFill>
                          <a:effectLst/>
                          <a:latin typeface="Arial Narrow" panose="020B0606020202030204" pitchFamily="34" charset="0"/>
                        </a:rPr>
                        <a:t> </a:t>
                      </a:r>
                      <a:r>
                        <a:rPr lang="en-US" sz="1400" b="0" i="0" u="none" strike="noStrike" dirty="0" err="1">
                          <a:solidFill>
                            <a:srgbClr val="000000"/>
                          </a:solidFill>
                          <a:effectLst/>
                          <a:latin typeface="Arial Narrow" panose="020B0606020202030204" pitchFamily="34" charset="0"/>
                        </a:rPr>
                        <a:t>dari</a:t>
                      </a:r>
                      <a:r>
                        <a:rPr lang="en-US" sz="1400" b="0" i="0" u="none" strike="noStrike" dirty="0">
                          <a:solidFill>
                            <a:srgbClr val="000000"/>
                          </a:solidFill>
                          <a:effectLst/>
                          <a:latin typeface="Arial Narrow" panose="020B0606020202030204" pitchFamily="34" charset="0"/>
                        </a:rPr>
                        <a:t> BPK)</a:t>
                      </a:r>
                      <a:endParaRPr lang="id-ID" sz="14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28073343"/>
                  </a:ext>
                </a:extLst>
              </a:tr>
            </a:tbl>
          </a:graphicData>
        </a:graphic>
      </p:graphicFrame>
      <p:sp>
        <p:nvSpPr>
          <p:cNvPr id="5" name="TextBox 4">
            <a:extLst>
              <a:ext uri="{FF2B5EF4-FFF2-40B4-BE49-F238E27FC236}">
                <a16:creationId xmlns:a16="http://schemas.microsoft.com/office/drawing/2014/main" id="{662420BD-AF8A-4D81-99A2-65547491B3E5}"/>
              </a:ext>
            </a:extLst>
          </p:cNvPr>
          <p:cNvSpPr txBox="1"/>
          <p:nvPr/>
        </p:nvSpPr>
        <p:spPr>
          <a:xfrm>
            <a:off x="9375494" y="133906"/>
            <a:ext cx="1805687" cy="369332"/>
          </a:xfrm>
          <a:prstGeom prst="rect">
            <a:avLst/>
          </a:prstGeom>
          <a:noFill/>
        </p:spPr>
        <p:txBody>
          <a:bodyPr wrap="none" rtlCol="0">
            <a:spAutoFit/>
          </a:bodyPr>
          <a:lstStyle/>
          <a:p>
            <a:r>
              <a:rPr lang="en-US" i="1" dirty="0" err="1"/>
              <a:t>Lanjutan</a:t>
            </a:r>
            <a:r>
              <a:rPr lang="en-US" i="1" dirty="0"/>
              <a:t>……………</a:t>
            </a:r>
            <a:endParaRPr lang="id-ID" i="1" dirty="0"/>
          </a:p>
        </p:txBody>
      </p:sp>
    </p:spTree>
    <p:extLst>
      <p:ext uri="{BB962C8B-B14F-4D97-AF65-F5344CB8AC3E}">
        <p14:creationId xmlns:p14="http://schemas.microsoft.com/office/powerpoint/2010/main" val="408054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983415E-90E9-48F7-8F9B-BDE58AF6594D}"/>
              </a:ext>
            </a:extLst>
          </p:cNvPr>
          <p:cNvGraphicFramePr>
            <a:graphicFrameLocks noGrp="1"/>
          </p:cNvGraphicFramePr>
          <p:nvPr>
            <p:extLst>
              <p:ext uri="{D42A27DB-BD31-4B8C-83A1-F6EECF244321}">
                <p14:modId xmlns:p14="http://schemas.microsoft.com/office/powerpoint/2010/main" val="2436053589"/>
              </p:ext>
            </p:extLst>
          </p:nvPr>
        </p:nvGraphicFramePr>
        <p:xfrm>
          <a:off x="171450" y="524936"/>
          <a:ext cx="11736730" cy="5875863"/>
        </p:xfrm>
        <a:graphic>
          <a:graphicData uri="http://schemas.openxmlformats.org/drawingml/2006/table">
            <a:tbl>
              <a:tblPr/>
              <a:tblGrid>
                <a:gridCol w="416688">
                  <a:extLst>
                    <a:ext uri="{9D8B030D-6E8A-4147-A177-3AD203B41FA5}">
                      <a16:colId xmlns:a16="http://schemas.microsoft.com/office/drawing/2014/main" val="1341925884"/>
                    </a:ext>
                  </a:extLst>
                </a:gridCol>
                <a:gridCol w="3393553">
                  <a:extLst>
                    <a:ext uri="{9D8B030D-6E8A-4147-A177-3AD203B41FA5}">
                      <a16:colId xmlns:a16="http://schemas.microsoft.com/office/drawing/2014/main" val="31074478"/>
                    </a:ext>
                  </a:extLst>
                </a:gridCol>
                <a:gridCol w="3169294">
                  <a:extLst>
                    <a:ext uri="{9D8B030D-6E8A-4147-A177-3AD203B41FA5}">
                      <a16:colId xmlns:a16="http://schemas.microsoft.com/office/drawing/2014/main" val="3508491184"/>
                    </a:ext>
                  </a:extLst>
                </a:gridCol>
                <a:gridCol w="2768519">
                  <a:extLst>
                    <a:ext uri="{9D8B030D-6E8A-4147-A177-3AD203B41FA5}">
                      <a16:colId xmlns:a16="http://schemas.microsoft.com/office/drawing/2014/main" val="2649123398"/>
                    </a:ext>
                  </a:extLst>
                </a:gridCol>
                <a:gridCol w="1988676">
                  <a:extLst>
                    <a:ext uri="{9D8B030D-6E8A-4147-A177-3AD203B41FA5}">
                      <a16:colId xmlns:a16="http://schemas.microsoft.com/office/drawing/2014/main" val="1688843322"/>
                    </a:ext>
                  </a:extLst>
                </a:gridCol>
              </a:tblGrid>
              <a:tr h="1585112">
                <a:tc rowSpan="5">
                  <a:txBody>
                    <a:bodyPr/>
                    <a:lstStyle/>
                    <a:p>
                      <a:pPr algn="ctr" fontAlgn="ctr"/>
                      <a:r>
                        <a:rPr lang="id-ID" sz="1250" b="0" i="0" u="none" strike="noStrike" dirty="0">
                          <a:solidFill>
                            <a:schemeClr val="tx1"/>
                          </a:solidFill>
                          <a:effectLst/>
                          <a:latin typeface="Arial Narrow" panose="020B0606020202030204" pitchFamily="34" charset="0"/>
                        </a:rPr>
                        <a:t>7</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l" fontAlgn="ctr"/>
                      <a:r>
                        <a:rPr lang="id-ID" sz="1400" b="0" i="0" u="none" strike="noStrike" dirty="0">
                          <a:solidFill>
                            <a:schemeClr val="tx1"/>
                          </a:solidFill>
                          <a:effectLst/>
                          <a:latin typeface="Arial Narrow" panose="020B0606020202030204" pitchFamily="34" charset="0"/>
                        </a:rPr>
                        <a:t>72/LHP/XVIII.SMG/05/2022, Laporan Hasil Pemeriksaan atas laporan keuangan Pemerintah Daerah  Provinsi Jawa Tengah Tahun 2020</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50" b="0" i="0" u="none" strike="noStrike" dirty="0">
                          <a:solidFill>
                            <a:srgbClr val="000000"/>
                          </a:solidFill>
                          <a:effectLst/>
                          <a:latin typeface="Arial Narrow" panose="020B0606020202030204" pitchFamily="34" charset="0"/>
                        </a:rPr>
                        <a:t>a. Menyempurnakan SOP dan selanjutnya digunakan dalam pelayanan PKB</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id-ID" sz="1250" b="0" i="0" u="none" strike="noStrike" dirty="0">
                          <a:solidFill>
                            <a:srgbClr val="000000"/>
                          </a:solidFill>
                          <a:effectLst/>
                          <a:latin typeface="Arial Narrow" panose="020B0606020202030204" pitchFamily="34" charset="0"/>
                        </a:rPr>
                        <a:t>Keputusan bersama Direktur Lalu Lintas Kepolisian Daerah Jawa Tengah, Kepala BAPENDA </a:t>
                      </a:r>
                      <a:r>
                        <a:rPr lang="id-ID" sz="1250" b="0" i="0" u="none" strike="noStrike" dirty="0" err="1">
                          <a:solidFill>
                            <a:srgbClr val="000000"/>
                          </a:solidFill>
                          <a:effectLst/>
                          <a:latin typeface="Arial Narrow" panose="020B0606020202030204" pitchFamily="34" charset="0"/>
                        </a:rPr>
                        <a:t>Prov</a:t>
                      </a:r>
                      <a:r>
                        <a:rPr lang="id-ID" sz="1250" b="0" i="0" u="none" strike="noStrike" dirty="0">
                          <a:solidFill>
                            <a:srgbClr val="000000"/>
                          </a:solidFill>
                          <a:effectLst/>
                          <a:latin typeface="Arial Narrow" panose="020B0606020202030204" pitchFamily="34" charset="0"/>
                        </a:rPr>
                        <a:t>. Jateng, Kepala PT. Jasa Raharja Cabang Utama Jateng Nomor: KB/1/XI/2021, Nomor: 973/17,698, Nomor: P/32/SP/2021 Tentang Standar Operasional Prosedur (SOP) Pelayanan Samsat Jawa Tengah</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993018930"/>
                  </a:ext>
                </a:extLst>
              </a:tr>
              <a:tr h="199291">
                <a:tc vMerge="1">
                  <a:txBody>
                    <a:bodyPr/>
                    <a:lstStyle/>
                    <a:p>
                      <a:endParaRPr lang="id-ID"/>
                    </a:p>
                  </a:txBody>
                  <a:tcPr/>
                </a:tc>
                <a:tc vMerge="1">
                  <a:txBody>
                    <a:bodyPr/>
                    <a:lstStyle/>
                    <a:p>
                      <a:endParaRPr lang="id-ID"/>
                    </a:p>
                  </a:txBody>
                  <a:tcPr/>
                </a:tc>
                <a:tc>
                  <a:txBody>
                    <a:bodyPr/>
                    <a:lstStyle/>
                    <a:p>
                      <a:pPr algn="l" fontAlgn="ctr"/>
                      <a:r>
                        <a:rPr lang="id-ID" sz="1250" b="0" i="0" u="none" strike="noStrike" dirty="0">
                          <a:solidFill>
                            <a:srgbClr val="000000"/>
                          </a:solidFill>
                          <a:effectLst/>
                          <a:latin typeface="Arial Narrow" panose="020B0606020202030204" pitchFamily="34" charset="0"/>
                        </a:rPr>
                        <a:t>b. Menginstruksikan kepada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5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id-ID" sz="125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4156846"/>
                  </a:ext>
                </a:extLst>
              </a:tr>
              <a:tr h="397266">
                <a:tc vMerge="1">
                  <a:txBody>
                    <a:bodyPr/>
                    <a:lstStyle/>
                    <a:p>
                      <a:endParaRPr lang="id-ID"/>
                    </a:p>
                  </a:txBody>
                  <a:tcPr/>
                </a:tc>
                <a:tc vMerge="1">
                  <a:txBody>
                    <a:bodyPr/>
                    <a:lstStyle/>
                    <a:p>
                      <a:endParaRPr lang="id-ID"/>
                    </a:p>
                  </a:txBody>
                  <a:tcPr/>
                </a:tc>
                <a:tc>
                  <a:txBody>
                    <a:bodyPr/>
                    <a:lstStyle/>
                    <a:p>
                      <a:pPr algn="l" fontAlgn="ctr"/>
                      <a:r>
                        <a:rPr lang="sv-SE" sz="1250" b="0" i="0" u="none" strike="noStrike" dirty="0">
                          <a:solidFill>
                            <a:srgbClr val="000000"/>
                          </a:solidFill>
                          <a:effectLst/>
                          <a:latin typeface="Arial Narrow" panose="020B0606020202030204" pitchFamily="34" charset="0"/>
                        </a:rPr>
                        <a:t>- Kepala Bidang PKB untuk menerapkan perhitungan prorata dalam aplikasi Samsat online</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rowSpan="2">
                  <a:txBody>
                    <a:bodyPr/>
                    <a:lstStyle/>
                    <a:p>
                      <a:pPr algn="l" fontAlgn="ctr"/>
                      <a:r>
                        <a:rPr lang="nb-NO" sz="1250" b="0" i="0" u="none" strike="noStrike" dirty="0">
                          <a:solidFill>
                            <a:srgbClr val="000000"/>
                          </a:solidFill>
                          <a:effectLst/>
                          <a:latin typeface="Arial Narrow" panose="020B0606020202030204" pitchFamily="34" charset="0"/>
                        </a:rPr>
                        <a:t>Capture sistem Konvergen, capture inventarisasi pembenahan data NJKB yang Anomali dan NJKB yang belum sesuai</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rowSpan="2">
                  <a:txBody>
                    <a:bodyPr/>
                    <a:lstStyle/>
                    <a:p>
                      <a:pPr algn="ctr" fontAlgn="ctr"/>
                      <a:r>
                        <a:rPr lang="en-US" sz="1200" b="0" i="0" u="none" strike="noStrike" dirty="0" err="1">
                          <a:solidFill>
                            <a:srgbClr val="000000"/>
                          </a:solidFill>
                          <a:effectLst/>
                          <a:latin typeface="Arial Narrow" panose="020B0606020202030204" pitchFamily="34" charset="0"/>
                        </a:rPr>
                        <a:t>Tindak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Lanjut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telah</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disetujui</a:t>
                      </a:r>
                      <a:r>
                        <a:rPr lang="en-US" sz="1200" b="0" i="0" u="none" strike="noStrike" dirty="0">
                          <a:solidFill>
                            <a:srgbClr val="000000"/>
                          </a:solidFill>
                          <a:effectLst/>
                          <a:latin typeface="Arial Narrow" panose="020B0606020202030204" pitchFamily="34" charset="0"/>
                        </a:rPr>
                        <a:t> oleh BPK pada </a:t>
                      </a:r>
                      <a:r>
                        <a:rPr lang="en-US" sz="1200" b="0" i="0" u="none" strike="noStrike" dirty="0" err="1">
                          <a:solidFill>
                            <a:srgbClr val="000000"/>
                          </a:solidFill>
                          <a:effectLst/>
                          <a:latin typeface="Arial Narrow" panose="020B0606020202030204" pitchFamily="34" charset="0"/>
                        </a:rPr>
                        <a:t>saat</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a:t>
                      </a:r>
                      <a:endParaRPr lang="id-ID" sz="120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398999098"/>
                  </a:ext>
                </a:extLst>
              </a:tr>
              <a:tr h="991189">
                <a:tc vMerge="1">
                  <a:txBody>
                    <a:bodyPr/>
                    <a:lstStyle/>
                    <a:p>
                      <a:endParaRPr lang="id-ID"/>
                    </a:p>
                  </a:txBody>
                  <a:tcPr/>
                </a:tc>
                <a:tc vMerge="1">
                  <a:txBody>
                    <a:bodyPr/>
                    <a:lstStyle/>
                    <a:p>
                      <a:endParaRPr lang="id-ID"/>
                    </a:p>
                  </a:txBody>
                  <a:tcPr/>
                </a:tc>
                <a:tc>
                  <a:txBody>
                    <a:bodyPr/>
                    <a:lstStyle/>
                    <a:p>
                      <a:pPr algn="l" fontAlgn="ctr"/>
                      <a:r>
                        <a:rPr lang="id-ID" sz="1250" b="0" i="0" u="none" strike="noStrike" dirty="0">
                          <a:solidFill>
                            <a:srgbClr val="000000"/>
                          </a:solidFill>
                          <a:effectLst/>
                          <a:latin typeface="Arial Narrow" panose="020B0606020202030204" pitchFamily="34" charset="0"/>
                        </a:rPr>
                        <a:t>- Kepala Bidang Pengolahan Data Pengembangan Pendapatan untuk melaksanakan inventarisasi dan evaluasi atas </a:t>
                      </a:r>
                      <a:r>
                        <a:rPr lang="id-ID" sz="1250" b="0" i="0" u="none" strike="noStrike" dirty="0" err="1">
                          <a:solidFill>
                            <a:srgbClr val="000000"/>
                          </a:solidFill>
                          <a:effectLst/>
                          <a:latin typeface="Arial Narrow" panose="020B0606020202030204" pitchFamily="34" charset="0"/>
                        </a:rPr>
                        <a:t>input</a:t>
                      </a:r>
                      <a:r>
                        <a:rPr lang="id-ID" sz="1250" b="0" i="0" u="none" strike="noStrike" dirty="0">
                          <a:solidFill>
                            <a:srgbClr val="000000"/>
                          </a:solidFill>
                          <a:effectLst/>
                          <a:latin typeface="Arial Narrow" panose="020B0606020202030204" pitchFamily="34" charset="0"/>
                        </a:rPr>
                        <a:t> data dalam aplikasi Samsat Online serta berkoordinasi dengan Kepala Bidang PKB terkait tindak </a:t>
                      </a:r>
                      <a:r>
                        <a:rPr lang="id-ID" sz="1250" b="0" i="0" u="none" strike="noStrike" dirty="0" err="1">
                          <a:solidFill>
                            <a:srgbClr val="000000"/>
                          </a:solidFill>
                          <a:effectLst/>
                          <a:latin typeface="Arial Narrow" panose="020B0606020202030204" pitchFamily="34" charset="0"/>
                        </a:rPr>
                        <a:t>lanjutapabila</a:t>
                      </a:r>
                      <a:r>
                        <a:rPr lang="id-ID" sz="1250" b="0" i="0" u="none" strike="noStrike" dirty="0">
                          <a:solidFill>
                            <a:srgbClr val="000000"/>
                          </a:solidFill>
                          <a:effectLst/>
                          <a:latin typeface="Arial Narrow" panose="020B0606020202030204" pitchFamily="34" charset="0"/>
                        </a:rPr>
                        <a:t> ditemukan kesalahan </a:t>
                      </a:r>
                      <a:r>
                        <a:rPr lang="id-ID" sz="1250" b="0" i="0" u="none" strike="noStrike" dirty="0" err="1">
                          <a:solidFill>
                            <a:srgbClr val="000000"/>
                          </a:solidFill>
                          <a:effectLst/>
                          <a:latin typeface="Arial Narrow" panose="020B0606020202030204" pitchFamily="34" charset="0"/>
                        </a:rPr>
                        <a:t>input</a:t>
                      </a:r>
                      <a:endParaRPr lang="id-ID" sz="125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vMerge="1">
                  <a:txBody>
                    <a:bodyPr/>
                    <a:lstStyle/>
                    <a:p>
                      <a:endParaRPr lang="id-ID"/>
                    </a:p>
                  </a:txBody>
                  <a:tcPr/>
                </a:tc>
                <a:tc vMerge="1">
                  <a:txBody>
                    <a:bodyPr/>
                    <a:lstStyle/>
                    <a:p>
                      <a:endParaRPr lang="id-ID"/>
                    </a:p>
                  </a:txBody>
                  <a:tcPr/>
                </a:tc>
                <a:extLst>
                  <a:ext uri="{0D108BD9-81ED-4DB2-BD59-A6C34878D82A}">
                    <a16:rowId xmlns:a16="http://schemas.microsoft.com/office/drawing/2014/main" val="3440061211"/>
                  </a:ext>
                </a:extLst>
              </a:tr>
              <a:tr h="793215">
                <a:tc vMerge="1">
                  <a:txBody>
                    <a:bodyPr/>
                    <a:lstStyle/>
                    <a:p>
                      <a:endParaRPr lang="id-ID"/>
                    </a:p>
                  </a:txBody>
                  <a:tcPr/>
                </a:tc>
                <a:tc vMerge="1">
                  <a:txBody>
                    <a:bodyPr/>
                    <a:lstStyle/>
                    <a:p>
                      <a:endParaRPr lang="id-ID"/>
                    </a:p>
                  </a:txBody>
                  <a:tcPr/>
                </a:tc>
                <a:tc>
                  <a:txBody>
                    <a:bodyPr/>
                    <a:lstStyle/>
                    <a:p>
                      <a:pPr algn="l" fontAlgn="ctr"/>
                      <a:r>
                        <a:rPr lang="id-ID" sz="1250" b="0" i="0" u="none" strike="noStrike" dirty="0">
                          <a:solidFill>
                            <a:srgbClr val="000000"/>
                          </a:solidFill>
                          <a:effectLst/>
                          <a:latin typeface="Arial Narrow" panose="020B0606020202030204" pitchFamily="34" charset="0"/>
                        </a:rPr>
                        <a:t>c. Melakukan pemutakhiran </a:t>
                      </a:r>
                      <a:r>
                        <a:rPr lang="id-ID" sz="1250" b="0" i="0" u="none" strike="noStrike" dirty="0" err="1">
                          <a:solidFill>
                            <a:srgbClr val="000000"/>
                          </a:solidFill>
                          <a:effectLst/>
                          <a:latin typeface="Arial Narrow" panose="020B0606020202030204" pitchFamily="34" charset="0"/>
                        </a:rPr>
                        <a:t>database</a:t>
                      </a:r>
                      <a:r>
                        <a:rPr lang="id-ID" sz="1250" b="0" i="0" u="none" strike="noStrike" dirty="0">
                          <a:solidFill>
                            <a:srgbClr val="000000"/>
                          </a:solidFill>
                          <a:effectLst/>
                          <a:latin typeface="Arial Narrow" panose="020B0606020202030204" pitchFamily="34" charset="0"/>
                        </a:rPr>
                        <a:t> </a:t>
                      </a:r>
                      <a:r>
                        <a:rPr lang="id-ID" sz="1250" b="0" i="0" u="none" strike="noStrike" dirty="0" err="1">
                          <a:solidFill>
                            <a:srgbClr val="000000"/>
                          </a:solidFill>
                          <a:effectLst/>
                          <a:latin typeface="Arial Narrow" panose="020B0606020202030204" pitchFamily="34" charset="0"/>
                        </a:rPr>
                        <a:t>apliaksi</a:t>
                      </a:r>
                      <a:r>
                        <a:rPr lang="id-ID" sz="1250" b="0" i="0" u="none" strike="noStrike" dirty="0">
                          <a:solidFill>
                            <a:srgbClr val="000000"/>
                          </a:solidFill>
                          <a:effectLst/>
                          <a:latin typeface="Arial Narrow" panose="020B0606020202030204" pitchFamily="34" charset="0"/>
                        </a:rPr>
                        <a:t> samsat </a:t>
                      </a:r>
                      <a:r>
                        <a:rPr lang="id-ID" sz="1250" b="0" i="0" u="none" strike="noStrike" dirty="0" err="1">
                          <a:solidFill>
                            <a:srgbClr val="000000"/>
                          </a:solidFill>
                          <a:effectLst/>
                          <a:latin typeface="Arial Narrow" panose="020B0606020202030204" pitchFamily="34" charset="0"/>
                        </a:rPr>
                        <a:t>online</a:t>
                      </a:r>
                      <a:r>
                        <a:rPr lang="id-ID" sz="1250" b="0" i="0" u="none" strike="noStrike" dirty="0">
                          <a:solidFill>
                            <a:srgbClr val="000000"/>
                          </a:solidFill>
                          <a:effectLst/>
                          <a:latin typeface="Arial Narrow" panose="020B0606020202030204" pitchFamily="34" charset="0"/>
                        </a:rPr>
                        <a:t> dengan kriteria data yang lengkap dan valid sehingga dapat mendukung perhitungan piutang PKB. (terkait dengan TL piutang 2021)</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a:txBody>
                    <a:bodyPr/>
                    <a:lstStyle/>
                    <a:p>
                      <a:pPr marL="173038" indent="-173038" algn="l" fontAlgn="ctr">
                        <a:buFontTx/>
                        <a:buChar char="-"/>
                      </a:pPr>
                      <a:r>
                        <a:rPr lang="id-ID" sz="1250" b="0" i="0" u="none" strike="noStrike" dirty="0">
                          <a:solidFill>
                            <a:srgbClr val="000000"/>
                          </a:solidFill>
                          <a:effectLst/>
                          <a:latin typeface="Arial Narrow" panose="020B0606020202030204" pitchFamily="34" charset="0"/>
                        </a:rPr>
                        <a:t>Nota dinas nomor 139/VALBIN/XII/2021 </a:t>
                      </a:r>
                      <a:r>
                        <a:rPr lang="id-ID" sz="1250" b="0" i="0" u="none" strike="noStrike" dirty="0" err="1">
                          <a:solidFill>
                            <a:srgbClr val="000000"/>
                          </a:solidFill>
                          <a:effectLst/>
                          <a:latin typeface="Arial Narrow" panose="020B0606020202030204" pitchFamily="34" charset="0"/>
                        </a:rPr>
                        <a:t>Perial</a:t>
                      </a:r>
                      <a:r>
                        <a:rPr lang="id-ID" sz="1250" b="0" i="0" u="none" strike="noStrike" dirty="0">
                          <a:solidFill>
                            <a:srgbClr val="000000"/>
                          </a:solidFill>
                          <a:effectLst/>
                          <a:latin typeface="Arial Narrow" panose="020B0606020202030204" pitchFamily="34" charset="0"/>
                        </a:rPr>
                        <a:t> Kegiatan Validasi data sebagai tindak lanjut hasil pemeriksaan BPK-RI Perwakilan Jawa Tengah,       </a:t>
                      </a:r>
                      <a:endParaRPr lang="en-US" sz="1250" b="0" i="0" u="none" strike="noStrike" dirty="0">
                        <a:solidFill>
                          <a:srgbClr val="000000"/>
                        </a:solidFill>
                        <a:effectLst/>
                        <a:latin typeface="Arial Narrow" panose="020B0606020202030204" pitchFamily="34" charset="0"/>
                      </a:endParaRPr>
                    </a:p>
                    <a:p>
                      <a:pPr marL="173038" indent="-173038" algn="l" fontAlgn="ctr">
                        <a:buFontTx/>
                        <a:buChar char="-"/>
                      </a:pPr>
                      <a:r>
                        <a:rPr lang="id-ID" sz="1250" b="0" i="0" u="none" strike="noStrike" dirty="0" err="1">
                          <a:solidFill>
                            <a:srgbClr val="000000"/>
                          </a:solidFill>
                          <a:effectLst/>
                          <a:latin typeface="Arial Narrow" panose="020B0606020202030204" pitchFamily="34" charset="0"/>
                        </a:rPr>
                        <a:t>SoftcopyHasil</a:t>
                      </a:r>
                      <a:r>
                        <a:rPr lang="id-ID" sz="1250" b="0" i="0" u="none" strike="noStrike" dirty="0">
                          <a:solidFill>
                            <a:srgbClr val="000000"/>
                          </a:solidFill>
                          <a:effectLst/>
                          <a:latin typeface="Arial Narrow" panose="020B0606020202030204" pitchFamily="34" charset="0"/>
                        </a:rPr>
                        <a:t> kegiatan DTD sejak bulan November </a:t>
                      </a:r>
                      <a:r>
                        <a:rPr lang="id-ID" sz="1250" b="0" i="0" u="none" strike="noStrike" dirty="0" err="1">
                          <a:solidFill>
                            <a:srgbClr val="000000"/>
                          </a:solidFill>
                          <a:effectLst/>
                          <a:latin typeface="Arial Narrow" panose="020B0606020202030204" pitchFamily="34" charset="0"/>
                        </a:rPr>
                        <a:t>s.d</a:t>
                      </a:r>
                      <a:r>
                        <a:rPr lang="id-ID" sz="1250" b="0" i="0" u="none" strike="noStrike" dirty="0">
                          <a:solidFill>
                            <a:srgbClr val="000000"/>
                          </a:solidFill>
                          <a:effectLst/>
                          <a:latin typeface="Arial Narrow" panose="020B0606020202030204" pitchFamily="34" charset="0"/>
                        </a:rPr>
                        <a:t> Desember 2021 dari 37 UPPD</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sv-SE" sz="1250" b="0" i="0" u="none" strike="noStrike" dirty="0">
                          <a:solidFill>
                            <a:srgbClr val="000000"/>
                          </a:solidFill>
                          <a:effectLst/>
                          <a:latin typeface="Arial Narrow" panose="020B0606020202030204" pitchFamily="34" charset="0"/>
                        </a:rPr>
                        <a:t>Masih proses persetujuan dari BPK berkaitan dengan tindak lanjut piutang 2021.</a:t>
                      </a:r>
                    </a:p>
                    <a:p>
                      <a:pPr algn="l" fontAlgn="ctr"/>
                      <a:endParaRPr lang="sv-SE" sz="125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15962523"/>
                  </a:ext>
                </a:extLst>
              </a:tr>
              <a:tr h="1909790">
                <a:tc>
                  <a:txBody>
                    <a:bodyPr/>
                    <a:lstStyle/>
                    <a:p>
                      <a:pPr algn="l" fontAlgn="ctr"/>
                      <a:r>
                        <a:rPr lang="id-ID" sz="1250" b="0" i="0" u="none" strike="noStrike">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50" b="0" i="0" u="none" strike="noStrike" dirty="0">
                          <a:solidFill>
                            <a:srgbClr val="000000"/>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250" b="0" i="0" u="none" strike="noStrike" dirty="0">
                          <a:solidFill>
                            <a:srgbClr val="000000"/>
                          </a:solidFill>
                          <a:effectLst/>
                          <a:latin typeface="Arial Narrow" panose="020B0606020202030204" pitchFamily="34" charset="0"/>
                        </a:rPr>
                        <a:t>d. Melakukan validasi data dan upaya penagihan piutang secara lebih optimal sesuai juknis. (pengesahan bahwa penagihan data piutang sudah valid)</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vMerge="1">
                  <a:txBody>
                    <a:bodyPr/>
                    <a:lstStyle/>
                    <a:p>
                      <a:endParaRPr lang="id-ID"/>
                    </a:p>
                  </a:txBody>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200" b="0" i="0" u="none" strike="noStrike" dirty="0" err="1">
                          <a:solidFill>
                            <a:srgbClr val="000000"/>
                          </a:solidFill>
                          <a:effectLst/>
                          <a:latin typeface="Arial Narrow" panose="020B0606020202030204" pitchFamily="34" charset="0"/>
                        </a:rPr>
                        <a:t>Berdasarkan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hasil</a:t>
                      </a:r>
                      <a:r>
                        <a:rPr lang="en-US" sz="1200" b="0" i="0" u="none" strike="noStrike" dirty="0">
                          <a:solidFill>
                            <a:srgbClr val="000000"/>
                          </a:solidFill>
                          <a:effectLst/>
                          <a:latin typeface="Arial Narrow" panose="020B0606020202030204" pitchFamily="34" charset="0"/>
                        </a:rPr>
                        <a:t> DESK </a:t>
                      </a:r>
                      <a:r>
                        <a:rPr lang="en-US" sz="1200" b="0" i="0" u="none" strike="noStrike" dirty="0" err="1">
                          <a:solidFill>
                            <a:srgbClr val="000000"/>
                          </a:solidFill>
                          <a:effectLst/>
                          <a:latin typeface="Arial Narrow" panose="020B0606020202030204" pitchFamily="34" charset="0"/>
                        </a:rPr>
                        <a:t>Bulan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Juni</a:t>
                      </a:r>
                      <a:r>
                        <a:rPr lang="en-US" sz="1200" b="0" i="0" u="none" strike="noStrike" dirty="0">
                          <a:solidFill>
                            <a:srgbClr val="000000"/>
                          </a:solidFill>
                          <a:effectLst/>
                          <a:latin typeface="Arial Narrow" panose="020B0606020202030204" pitchFamily="34" charset="0"/>
                        </a:rPr>
                        <a:t> 2022, BPK </a:t>
                      </a:r>
                      <a:r>
                        <a:rPr lang="en-US" sz="1200" b="0" i="0" u="none" strike="noStrike" dirty="0" err="1">
                          <a:solidFill>
                            <a:srgbClr val="000000"/>
                          </a:solidFill>
                          <a:effectLst/>
                          <a:latin typeface="Arial Narrow" panose="020B0606020202030204" pitchFamily="34" charset="0"/>
                        </a:rPr>
                        <a:t>meminta</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hasil</a:t>
                      </a:r>
                      <a:r>
                        <a:rPr lang="en-US" sz="1200" b="0" i="0" u="none" strike="noStrike" dirty="0">
                          <a:solidFill>
                            <a:srgbClr val="000000"/>
                          </a:solidFill>
                          <a:effectLst/>
                          <a:latin typeface="Arial Narrow" panose="020B0606020202030204" pitchFamily="34" charset="0"/>
                        </a:rPr>
                        <a:t> DESK/</a:t>
                      </a:r>
                      <a:r>
                        <a:rPr lang="en-US" sz="1200" b="0" i="0" u="none" strike="noStrike" dirty="0" err="1">
                          <a:solidFill>
                            <a:srgbClr val="000000"/>
                          </a:solidFill>
                          <a:effectLst/>
                          <a:latin typeface="Arial Narrow" panose="020B0606020202030204" pitchFamily="34" charset="0"/>
                        </a:rPr>
                        <a:t>Rekonsilisasi</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penanganan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Piutang</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untuk</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Kendaraan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Dinas</a:t>
                      </a:r>
                      <a:r>
                        <a:rPr lang="en-US" sz="1200" b="0" i="0" u="none" strike="noStrike" dirty="0">
                          <a:solidFill>
                            <a:srgbClr val="000000"/>
                          </a:solidFill>
                          <a:effectLst/>
                          <a:latin typeface="Arial Narrow" panose="020B0606020202030204" pitchFamily="34" charset="0"/>
                        </a:rPr>
                        <a:t> Plat Merah </a:t>
                      </a:r>
                      <a:r>
                        <a:rPr lang="en-US" sz="1200" b="0" i="0" u="none" strike="noStrike" dirty="0" err="1">
                          <a:solidFill>
                            <a:srgbClr val="000000"/>
                          </a:solidFill>
                          <a:effectLst/>
                          <a:latin typeface="Arial Narrow" panose="020B0606020202030204" pitchFamily="34" charset="0"/>
                        </a:rPr>
                        <a:t>dengan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Pemerintah</a:t>
                      </a:r>
                      <a:r>
                        <a:rPr lang="en-US" sz="1200" b="0" i="0" u="none" strike="noStrike" dirty="0">
                          <a:solidFill>
                            <a:srgbClr val="000000"/>
                          </a:solidFill>
                          <a:effectLst/>
                          <a:latin typeface="Arial Narrow" panose="020B0606020202030204" pitchFamily="34" charset="0"/>
                        </a:rPr>
                        <a:t> Daerah </a:t>
                      </a:r>
                      <a:r>
                        <a:rPr lang="en-US" sz="1200" b="0" i="0" u="none" strike="noStrike" dirty="0" err="1">
                          <a:solidFill>
                            <a:srgbClr val="000000"/>
                          </a:solidFill>
                          <a:effectLst/>
                          <a:latin typeface="Arial Narrow" panose="020B0606020202030204" pitchFamily="34" charset="0"/>
                        </a:rPr>
                        <a:t>setempat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berikut</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dilampirkan</a:t>
                      </a:r>
                      <a:r>
                        <a:rPr lang="en-US" sz="1200" b="0" i="0" u="none" strike="noStrike" dirty="0">
                          <a:solidFill>
                            <a:srgbClr val="000000"/>
                          </a:solidFill>
                          <a:effectLst/>
                          <a:latin typeface="Arial Narrow" panose="020B0606020202030204" pitchFamily="34" charset="0"/>
                        </a:rPr>
                        <a:t> </a:t>
                      </a:r>
                      <a:r>
                        <a:rPr lang="en-US" sz="1200" b="0" i="0" u="none" strike="noStrike" dirty="0" err="1">
                          <a:solidFill>
                            <a:srgbClr val="000000"/>
                          </a:solidFill>
                          <a:effectLst/>
                          <a:latin typeface="Arial Narrow" panose="020B0606020202030204" pitchFamily="34" charset="0"/>
                        </a:rPr>
                        <a:t>contoh</a:t>
                      </a:r>
                      <a:r>
                        <a:rPr lang="en-US" sz="1200" b="0" i="0" u="none" strike="noStrike" dirty="0">
                          <a:solidFill>
                            <a:srgbClr val="000000"/>
                          </a:solidFill>
                          <a:effectLst/>
                          <a:latin typeface="Arial Narrow" panose="020B0606020202030204" pitchFamily="34" charset="0"/>
                        </a:rPr>
                        <a:t> SPKPPKB </a:t>
                      </a:r>
                      <a:r>
                        <a:rPr lang="en-US" sz="1200" b="0" i="0" u="none" strike="noStrike" dirty="0" err="1">
                          <a:solidFill>
                            <a:srgbClr val="000000"/>
                          </a:solidFill>
                          <a:effectLst/>
                          <a:latin typeface="Arial Narrow" panose="020B0606020202030204" pitchFamily="34" charset="0"/>
                        </a:rPr>
                        <a:t>nya</a:t>
                      </a:r>
                      <a:endParaRPr lang="en-US" sz="1200" b="0" i="0" u="none" strike="noStrike" dirty="0">
                        <a:solidFill>
                          <a:srgbClr val="000000"/>
                        </a:solidFill>
                        <a:effectLst/>
                        <a:latin typeface="Arial Narrow" panose="020B0606020202030204" pitchFamily="34" charset="0"/>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lang="id-ID" sz="1200" b="0" i="0" u="none" strike="noStrike" dirty="0">
                        <a:solidFill>
                          <a:srgbClr val="000000"/>
                        </a:solidFill>
                        <a:effectLst/>
                        <a:latin typeface="Arial Narrow" panose="020B0606020202030204" pitchFamily="34" charset="0"/>
                      </a:endParaRPr>
                    </a:p>
                    <a:p>
                      <a:pPr algn="l" fontAlgn="ctr"/>
                      <a:endParaRPr lang="sv-SE" sz="1250" b="0" i="0" u="none" strike="noStrike" dirty="0">
                        <a:solidFill>
                          <a:srgbClr val="000000"/>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12452179"/>
                  </a:ext>
                </a:extLst>
              </a:tr>
            </a:tbl>
          </a:graphicData>
        </a:graphic>
      </p:graphicFrame>
      <p:sp>
        <p:nvSpPr>
          <p:cNvPr id="5" name="TextBox 4">
            <a:extLst>
              <a:ext uri="{FF2B5EF4-FFF2-40B4-BE49-F238E27FC236}">
                <a16:creationId xmlns:a16="http://schemas.microsoft.com/office/drawing/2014/main" id="{57B9253C-2147-431B-A090-2B35C047F3C0}"/>
              </a:ext>
            </a:extLst>
          </p:cNvPr>
          <p:cNvSpPr txBox="1"/>
          <p:nvPr/>
        </p:nvSpPr>
        <p:spPr>
          <a:xfrm>
            <a:off x="9375494" y="133906"/>
            <a:ext cx="1805687" cy="369332"/>
          </a:xfrm>
          <a:prstGeom prst="rect">
            <a:avLst/>
          </a:prstGeom>
          <a:noFill/>
        </p:spPr>
        <p:txBody>
          <a:bodyPr wrap="none" rtlCol="0">
            <a:spAutoFit/>
          </a:bodyPr>
          <a:lstStyle/>
          <a:p>
            <a:r>
              <a:rPr lang="en-US" i="1" dirty="0" err="1"/>
              <a:t>Lanjutan</a:t>
            </a:r>
            <a:r>
              <a:rPr lang="en-US" i="1" dirty="0"/>
              <a:t>……………</a:t>
            </a:r>
            <a:endParaRPr lang="id-ID" i="1" dirty="0"/>
          </a:p>
        </p:txBody>
      </p:sp>
    </p:spTree>
    <p:extLst>
      <p:ext uri="{BB962C8B-B14F-4D97-AF65-F5344CB8AC3E}">
        <p14:creationId xmlns:p14="http://schemas.microsoft.com/office/powerpoint/2010/main" val="717377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734D95-6EF8-41FE-AF88-949E2464A950}"/>
              </a:ext>
            </a:extLst>
          </p:cNvPr>
          <p:cNvGraphicFramePr>
            <a:graphicFrameLocks noGrp="1"/>
          </p:cNvGraphicFramePr>
          <p:nvPr>
            <p:extLst>
              <p:ext uri="{D42A27DB-BD31-4B8C-83A1-F6EECF244321}">
                <p14:modId xmlns:p14="http://schemas.microsoft.com/office/powerpoint/2010/main" val="2452185952"/>
              </p:ext>
            </p:extLst>
          </p:nvPr>
        </p:nvGraphicFramePr>
        <p:xfrm>
          <a:off x="227635" y="775503"/>
          <a:ext cx="11736730" cy="2865683"/>
        </p:xfrm>
        <a:graphic>
          <a:graphicData uri="http://schemas.openxmlformats.org/drawingml/2006/table">
            <a:tbl>
              <a:tblPr/>
              <a:tblGrid>
                <a:gridCol w="416688">
                  <a:extLst>
                    <a:ext uri="{9D8B030D-6E8A-4147-A177-3AD203B41FA5}">
                      <a16:colId xmlns:a16="http://schemas.microsoft.com/office/drawing/2014/main" val="4127020899"/>
                    </a:ext>
                  </a:extLst>
                </a:gridCol>
                <a:gridCol w="3393553">
                  <a:extLst>
                    <a:ext uri="{9D8B030D-6E8A-4147-A177-3AD203B41FA5}">
                      <a16:colId xmlns:a16="http://schemas.microsoft.com/office/drawing/2014/main" val="2336896013"/>
                    </a:ext>
                  </a:extLst>
                </a:gridCol>
                <a:gridCol w="3169294">
                  <a:extLst>
                    <a:ext uri="{9D8B030D-6E8A-4147-A177-3AD203B41FA5}">
                      <a16:colId xmlns:a16="http://schemas.microsoft.com/office/drawing/2014/main" val="504714739"/>
                    </a:ext>
                  </a:extLst>
                </a:gridCol>
                <a:gridCol w="3048000">
                  <a:extLst>
                    <a:ext uri="{9D8B030D-6E8A-4147-A177-3AD203B41FA5}">
                      <a16:colId xmlns:a16="http://schemas.microsoft.com/office/drawing/2014/main" val="791682597"/>
                    </a:ext>
                  </a:extLst>
                </a:gridCol>
                <a:gridCol w="1709195">
                  <a:extLst>
                    <a:ext uri="{9D8B030D-6E8A-4147-A177-3AD203B41FA5}">
                      <a16:colId xmlns:a16="http://schemas.microsoft.com/office/drawing/2014/main" val="3743985510"/>
                    </a:ext>
                  </a:extLst>
                </a:gridCol>
              </a:tblGrid>
              <a:tr h="637053">
                <a:tc rowSpan="4">
                  <a:txBody>
                    <a:bodyPr/>
                    <a:lstStyle/>
                    <a:p>
                      <a:pPr algn="ctr" fontAlgn="ctr"/>
                      <a:r>
                        <a:rPr lang="id-ID" sz="1400" b="0" i="0" u="none" strike="noStrike" dirty="0">
                          <a:solidFill>
                            <a:schemeClr val="tx1"/>
                          </a:solidFill>
                          <a:effectLst/>
                          <a:latin typeface="Arial Narrow" panose="020B0606020202030204" pitchFamily="34" charset="0"/>
                        </a:rPr>
                        <a:t>8</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l" fontAlgn="ctr"/>
                      <a:r>
                        <a:rPr lang="id-ID" sz="1400" b="0" i="0" u="none" strike="noStrike" dirty="0">
                          <a:solidFill>
                            <a:schemeClr val="tx1"/>
                          </a:solidFill>
                          <a:effectLst/>
                          <a:latin typeface="Arial Narrow" panose="020B0606020202030204" pitchFamily="34" charset="0"/>
                        </a:rPr>
                        <a:t>68C/LHP/XVIII.SMG/05/2022, Laporan Hasil Pemeriksaan atas laporan keuangan Pemerintah Daerah  Provinsi Jawa Tengah Tahun 2022</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id-ID" sz="1400" b="0" i="0" u="none" strike="noStrike" dirty="0">
                          <a:solidFill>
                            <a:schemeClr val="bg1"/>
                          </a:solidFill>
                          <a:effectLst/>
                          <a:latin typeface="Arial Narrow" panose="020B0606020202030204" pitchFamily="34" charset="0"/>
                        </a:rPr>
                        <a:t>BPK merekomendasikan Gubernur Jawa Tengah agar memerintahkan Kepala </a:t>
                      </a:r>
                      <a:r>
                        <a:rPr lang="id-ID" sz="1400" b="0" i="0" u="none" strike="noStrike" dirty="0" err="1">
                          <a:solidFill>
                            <a:schemeClr val="bg1"/>
                          </a:solidFill>
                          <a:effectLst/>
                          <a:latin typeface="Arial Narrow" panose="020B0606020202030204" pitchFamily="34" charset="0"/>
                        </a:rPr>
                        <a:t>Bapenda</a:t>
                      </a:r>
                      <a:r>
                        <a:rPr lang="id-ID" sz="1400" b="0" i="0" u="none" strike="noStrike" dirty="0">
                          <a:solidFill>
                            <a:schemeClr val="bg1"/>
                          </a:solidFill>
                          <a:effectLst/>
                          <a:latin typeface="Arial Narrow" panose="020B0606020202030204" pitchFamily="34" charset="0"/>
                        </a:rPr>
                        <a:t> untuk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id-ID" sz="1400" b="0" i="0" u="none" strike="noStrike" dirty="0">
                          <a:solidFill>
                            <a:schemeClr val="bg1"/>
                          </a:solidFill>
                          <a:effectLst/>
                          <a:latin typeface="Arial Narrow" panose="020B0606020202030204" pitchFamily="34" charset="0"/>
                        </a:rPr>
                        <a:t> </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4">
                  <a:txBody>
                    <a:bodyPr/>
                    <a:lstStyle/>
                    <a:p>
                      <a:pPr algn="ctr" fontAlgn="ctr"/>
                      <a:r>
                        <a:rPr lang="en-US" sz="1400" b="0" i="0" u="none" strike="noStrike" dirty="0" err="1">
                          <a:solidFill>
                            <a:schemeClr val="bg1"/>
                          </a:solidFill>
                          <a:effectLst/>
                          <a:latin typeface="Arial Narrow" panose="020B0606020202030204" pitchFamily="34" charset="0"/>
                        </a:rPr>
                        <a:t>Sudah</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tersedia</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aplikasi</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penyajian</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laporan</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piutang</a:t>
                      </a:r>
                      <a:r>
                        <a:rPr lang="en-US" sz="1400" b="0" i="0" u="none" strike="noStrike" dirty="0">
                          <a:solidFill>
                            <a:schemeClr val="bg1"/>
                          </a:solidFill>
                          <a:effectLst/>
                          <a:latin typeface="Arial Narrow" panose="020B0606020202030204" pitchFamily="34" charset="0"/>
                        </a:rPr>
                        <a:t>, pada </a:t>
                      </a:r>
                      <a:r>
                        <a:rPr lang="en-US" sz="1400" b="0" i="0" u="none" strike="noStrike" dirty="0" err="1">
                          <a:solidFill>
                            <a:schemeClr val="bg1"/>
                          </a:solidFill>
                          <a:effectLst/>
                          <a:latin typeface="Arial Narrow" panose="020B0606020202030204" pitchFamily="34" charset="0"/>
                        </a:rPr>
                        <a:t>saat</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ini</a:t>
                      </a:r>
                      <a:r>
                        <a:rPr lang="en-US" sz="1400" b="0" i="0" u="none" strike="noStrike" dirty="0">
                          <a:solidFill>
                            <a:schemeClr val="bg1"/>
                          </a:solidFill>
                          <a:effectLst/>
                          <a:latin typeface="Arial Narrow" panose="020B0606020202030204" pitchFamily="34" charset="0"/>
                        </a:rPr>
                        <a:t> menu yang </a:t>
                      </a:r>
                      <a:r>
                        <a:rPr lang="en-US" sz="1400" b="0" i="0" u="none" strike="noStrike" dirty="0" err="1">
                          <a:solidFill>
                            <a:schemeClr val="bg1"/>
                          </a:solidFill>
                          <a:effectLst/>
                          <a:latin typeface="Arial Narrow" panose="020B0606020202030204" pitchFamily="34" charset="0"/>
                        </a:rPr>
                        <a:t>dapat</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ditampilkan</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adalah</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rekap</a:t>
                      </a:r>
                      <a:r>
                        <a:rPr lang="en-US" sz="1400" b="0" i="0" u="none" strike="noStrike" dirty="0">
                          <a:solidFill>
                            <a:schemeClr val="bg1"/>
                          </a:solidFill>
                          <a:effectLst/>
                          <a:latin typeface="Arial Narrow" panose="020B0606020202030204" pitchFamily="34" charset="0"/>
                        </a:rPr>
                        <a:t> dan </a:t>
                      </a:r>
                      <a:r>
                        <a:rPr lang="en-US" sz="1400" b="0" i="0" u="none" strike="noStrike" dirty="0" err="1">
                          <a:solidFill>
                            <a:schemeClr val="bg1"/>
                          </a:solidFill>
                          <a:effectLst/>
                          <a:latin typeface="Arial Narrow" panose="020B0606020202030204" pitchFamily="34" charset="0"/>
                        </a:rPr>
                        <a:t>jurnal</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penetapan</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potensi</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wajib</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pajak</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secara</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jabatan</a:t>
                      </a:r>
                      <a:endParaRPr lang="en-US" sz="1400" b="0" i="0" u="none" strike="noStrike" dirty="0">
                        <a:solidFill>
                          <a:schemeClr val="bg1"/>
                        </a:solidFill>
                        <a:effectLst/>
                        <a:latin typeface="Arial Narrow" panose="020B0606020202030204" pitchFamily="34" charset="0"/>
                      </a:endParaRPr>
                    </a:p>
                    <a:p>
                      <a:pPr algn="ctr" fontAlgn="ctr"/>
                      <a:endParaRPr lang="en-US" sz="1400" b="0" i="0" u="none" strike="noStrike" dirty="0">
                        <a:solidFill>
                          <a:schemeClr val="bg1"/>
                        </a:solidFill>
                        <a:effectLst/>
                        <a:latin typeface="Arial Narrow" panose="020B0606020202030204" pitchFamily="34" charset="0"/>
                      </a:endParaRPr>
                    </a:p>
                    <a:p>
                      <a:pPr algn="ctr" fontAlgn="ctr"/>
                      <a:endParaRPr lang="en-US" sz="1400" b="0" i="0" u="none" strike="noStrike" dirty="0">
                        <a:solidFill>
                          <a:schemeClr val="bg1"/>
                        </a:solidFill>
                        <a:effectLst/>
                        <a:latin typeface="Arial Narrow" panose="020B0606020202030204" pitchFamily="34" charset="0"/>
                      </a:endParaRPr>
                    </a:p>
                    <a:p>
                      <a:pPr algn="ctr" fontAlgn="ctr"/>
                      <a:r>
                        <a:rPr lang="en-US" sz="1400" b="0" i="0" u="none" strike="noStrike" dirty="0">
                          <a:solidFill>
                            <a:schemeClr val="bg1"/>
                          </a:solidFill>
                          <a:effectLst/>
                          <a:latin typeface="Arial Narrow" panose="020B0606020202030204" pitchFamily="34" charset="0"/>
                        </a:rPr>
                        <a:t>SOP </a:t>
                      </a:r>
                      <a:r>
                        <a:rPr lang="en-US" sz="1400" b="0" i="0" u="none" strike="noStrike" dirty="0" err="1">
                          <a:solidFill>
                            <a:schemeClr val="bg1"/>
                          </a:solidFill>
                          <a:effectLst/>
                          <a:latin typeface="Arial Narrow" panose="020B0606020202030204" pitchFamily="34" charset="0"/>
                        </a:rPr>
                        <a:t>masih</a:t>
                      </a:r>
                      <a:r>
                        <a:rPr lang="en-US" sz="1400" b="0" i="0" u="none" strike="noStrike" dirty="0">
                          <a:solidFill>
                            <a:schemeClr val="bg1"/>
                          </a:solidFill>
                          <a:effectLst/>
                          <a:latin typeface="Arial Narrow" panose="020B0606020202030204" pitchFamily="34" charset="0"/>
                        </a:rPr>
                        <a:t> </a:t>
                      </a:r>
                      <a:r>
                        <a:rPr lang="en-US" sz="1400" b="0" i="0" u="none" strike="noStrike" dirty="0" err="1">
                          <a:solidFill>
                            <a:schemeClr val="bg1"/>
                          </a:solidFill>
                          <a:effectLst/>
                          <a:latin typeface="Arial Narrow" panose="020B0606020202030204" pitchFamily="34" charset="0"/>
                        </a:rPr>
                        <a:t>dalam</a:t>
                      </a:r>
                      <a:r>
                        <a:rPr lang="en-US" sz="1400" b="0" i="0" u="none" strike="noStrike" dirty="0">
                          <a:solidFill>
                            <a:schemeClr val="bg1"/>
                          </a:solidFill>
                          <a:effectLst/>
                          <a:latin typeface="Arial Narrow" panose="020B0606020202030204" pitchFamily="34" charset="0"/>
                        </a:rPr>
                        <a:t> proses </a:t>
                      </a:r>
                      <a:r>
                        <a:rPr lang="en-US" sz="1400" b="0" i="0" u="none" strike="noStrike" dirty="0" err="1">
                          <a:solidFill>
                            <a:schemeClr val="bg1"/>
                          </a:solidFill>
                          <a:effectLst/>
                          <a:latin typeface="Arial Narrow" panose="020B0606020202030204" pitchFamily="34" charset="0"/>
                        </a:rPr>
                        <a:t>penyusunan</a:t>
                      </a:r>
                      <a:endParaRPr lang="id-ID" sz="1400" b="0" i="0" u="none" strike="noStrike" dirty="0">
                        <a:solidFill>
                          <a:schemeClr val="bg1"/>
                        </a:solidFill>
                        <a:effectLst/>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052115944"/>
                  </a:ext>
                </a:extLst>
              </a:tr>
              <a:tr h="637053">
                <a:tc vMerge="1">
                  <a:txBody>
                    <a:bodyPr/>
                    <a:lstStyle/>
                    <a:p>
                      <a:endParaRPr lang="id-ID"/>
                    </a:p>
                  </a:txBody>
                  <a:tcPr/>
                </a:tc>
                <a:tc vMerge="1">
                  <a:txBody>
                    <a:bodyPr/>
                    <a:lstStyle/>
                    <a:p>
                      <a:endParaRPr lang="id-ID"/>
                    </a:p>
                  </a:txBody>
                  <a:tcPr/>
                </a:tc>
                <a:tc rowSpan="2">
                  <a:txBody>
                    <a:bodyPr/>
                    <a:lstStyle/>
                    <a:p>
                      <a:r>
                        <a:rPr lang="nn-NO" sz="1400" dirty="0">
                          <a:solidFill>
                            <a:schemeClr val="bg1"/>
                          </a:solidFill>
                          <a:latin typeface="Arial Narrow" panose="020B0606020202030204" pitchFamily="34" charset="0"/>
                        </a:rPr>
                        <a:t>a. Menyempurnakan aplikasi Samsat online untuk mendukung penyajian saldo Piutang PKB secara akurat dan real time</a:t>
                      </a:r>
                      <a:endParaRPr lang="id-ID" sz="1400" dirty="0">
                        <a:solidFill>
                          <a:schemeClr val="bg1"/>
                        </a:solidFill>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r>
                        <a:rPr lang="id-ID" sz="1400" dirty="0">
                          <a:solidFill>
                            <a:schemeClr val="bg1"/>
                          </a:solidFill>
                          <a:latin typeface="Arial Narrow" panose="020B0606020202030204" pitchFamily="34" charset="0"/>
                        </a:rPr>
                        <a:t>1. Kepala </a:t>
                      </a:r>
                      <a:r>
                        <a:rPr lang="id-ID" sz="1400" dirty="0" err="1">
                          <a:solidFill>
                            <a:schemeClr val="bg1"/>
                          </a:solidFill>
                          <a:latin typeface="Arial Narrow" panose="020B0606020202030204" pitchFamily="34" charset="0"/>
                        </a:rPr>
                        <a:t>Bapenda</a:t>
                      </a:r>
                      <a:r>
                        <a:rPr lang="id-ID" sz="1400" dirty="0">
                          <a:solidFill>
                            <a:schemeClr val="bg1"/>
                          </a:solidFill>
                          <a:latin typeface="Arial Narrow" panose="020B0606020202030204" pitchFamily="34" charset="0"/>
                        </a:rPr>
                        <a:t> melakukan validasi </a:t>
                      </a:r>
                      <a:r>
                        <a:rPr lang="id-ID" sz="1400" dirty="0" err="1">
                          <a:solidFill>
                            <a:schemeClr val="bg1"/>
                          </a:solidFill>
                          <a:latin typeface="Arial Narrow" panose="020B0606020202030204" pitchFamily="34" charset="0"/>
                        </a:rPr>
                        <a:t>database</a:t>
                      </a:r>
                      <a:endParaRPr lang="id-ID" sz="1400" dirty="0">
                        <a:solidFill>
                          <a:schemeClr val="bg1"/>
                        </a:solidFill>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vMerge="1">
                  <a:txBody>
                    <a:bodyPr/>
                    <a:lstStyle/>
                    <a:p>
                      <a:endParaRPr lang="id-ID"/>
                    </a:p>
                  </a:txBody>
                  <a:tcPr/>
                </a:tc>
                <a:extLst>
                  <a:ext uri="{0D108BD9-81ED-4DB2-BD59-A6C34878D82A}">
                    <a16:rowId xmlns:a16="http://schemas.microsoft.com/office/drawing/2014/main" val="3005148022"/>
                  </a:ext>
                </a:extLst>
              </a:tr>
              <a:tr h="954524">
                <a:tc vMerge="1">
                  <a:txBody>
                    <a:bodyPr/>
                    <a:lstStyle/>
                    <a:p>
                      <a:endParaRPr lang="id-ID"/>
                    </a:p>
                  </a:txBody>
                  <a:tcPr/>
                </a:tc>
                <a:tc vMerge="1">
                  <a:txBody>
                    <a:bodyPr/>
                    <a:lstStyle/>
                    <a:p>
                      <a:endParaRPr lang="id-ID"/>
                    </a:p>
                  </a:txBody>
                  <a:tcPr/>
                </a:tc>
                <a:tc vMerge="1">
                  <a:txBody>
                    <a:bodyPr/>
                    <a:lstStyle/>
                    <a:p>
                      <a:endParaRPr lang="id-ID"/>
                    </a:p>
                  </a:txBody>
                  <a:tcPr/>
                </a:tc>
                <a:tc>
                  <a:txBody>
                    <a:bodyPr/>
                    <a:lstStyle/>
                    <a:p>
                      <a:r>
                        <a:rPr lang="id-ID" sz="1400" dirty="0">
                          <a:solidFill>
                            <a:schemeClr val="bg1"/>
                          </a:solidFill>
                          <a:latin typeface="Arial Narrow" panose="020B0606020202030204" pitchFamily="34" charset="0"/>
                        </a:rPr>
                        <a:t>2. Kepala </a:t>
                      </a:r>
                      <a:r>
                        <a:rPr lang="id-ID" sz="1400" dirty="0" err="1">
                          <a:solidFill>
                            <a:schemeClr val="bg1"/>
                          </a:solidFill>
                          <a:latin typeface="Arial Narrow" panose="020B0606020202030204" pitchFamily="34" charset="0"/>
                        </a:rPr>
                        <a:t>Bapenda</a:t>
                      </a:r>
                      <a:r>
                        <a:rPr lang="id-ID" sz="1400" dirty="0">
                          <a:solidFill>
                            <a:schemeClr val="bg1"/>
                          </a:solidFill>
                          <a:latin typeface="Arial Narrow" panose="020B0606020202030204" pitchFamily="34" charset="0"/>
                        </a:rPr>
                        <a:t> menyempurnakan aplikasi samsat </a:t>
                      </a:r>
                      <a:r>
                        <a:rPr lang="id-ID" sz="1400" dirty="0" err="1">
                          <a:solidFill>
                            <a:schemeClr val="bg1"/>
                          </a:solidFill>
                          <a:latin typeface="Arial Narrow" panose="020B0606020202030204" pitchFamily="34" charset="0"/>
                        </a:rPr>
                        <a:t>online</a:t>
                      </a:r>
                      <a:r>
                        <a:rPr lang="id-ID" sz="1400" dirty="0">
                          <a:solidFill>
                            <a:schemeClr val="bg1"/>
                          </a:solidFill>
                          <a:latin typeface="Arial Narrow" panose="020B0606020202030204" pitchFamily="34" charset="0"/>
                        </a:rPr>
                        <a:t> sehingga dapat menyajikan informasi piutang secara real </a:t>
                      </a:r>
                      <a:r>
                        <a:rPr lang="id-ID" sz="1400" dirty="0" err="1">
                          <a:solidFill>
                            <a:schemeClr val="bg1"/>
                          </a:solidFill>
                          <a:latin typeface="Arial Narrow" panose="020B0606020202030204" pitchFamily="34" charset="0"/>
                        </a:rPr>
                        <a:t>time</a:t>
                      </a:r>
                      <a:endParaRPr lang="id-ID" sz="1400" dirty="0">
                        <a:solidFill>
                          <a:schemeClr val="bg1"/>
                        </a:solidFill>
                        <a:latin typeface="Arial Narrow" panose="020B0606020202030204" pitchFamily="34" charset="0"/>
                      </a:endParaRP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vMerge="1">
                  <a:txBody>
                    <a:bodyPr/>
                    <a:lstStyle/>
                    <a:p>
                      <a:endParaRPr lang="id-ID"/>
                    </a:p>
                  </a:txBody>
                  <a:tcPr/>
                </a:tc>
                <a:extLst>
                  <a:ext uri="{0D108BD9-81ED-4DB2-BD59-A6C34878D82A}">
                    <a16:rowId xmlns:a16="http://schemas.microsoft.com/office/drawing/2014/main" val="2419676872"/>
                  </a:ext>
                </a:extLst>
              </a:tr>
              <a:tr h="637053">
                <a:tc vMerge="1">
                  <a:txBody>
                    <a:bodyPr/>
                    <a:lstStyle/>
                    <a:p>
                      <a:endParaRPr lang="id-ID"/>
                    </a:p>
                  </a:txBody>
                  <a:tcPr/>
                </a:tc>
                <a:tc vMerge="1">
                  <a:txBody>
                    <a:bodyPr/>
                    <a:lstStyle/>
                    <a:p>
                      <a:endParaRPr lang="id-ID"/>
                    </a:p>
                  </a:txBody>
                  <a:tcPr/>
                </a:tc>
                <a:tc>
                  <a:txBody>
                    <a:bodyPr/>
                    <a:lstStyle/>
                    <a:p>
                      <a:r>
                        <a:rPr lang="fi-FI" sz="1400" dirty="0">
                          <a:solidFill>
                            <a:schemeClr val="bg1"/>
                          </a:solidFill>
                          <a:latin typeface="Arial Narrow" panose="020B0606020202030204" pitchFamily="34" charset="0"/>
                        </a:rPr>
                        <a:t>b. Menyusun pedoman mekanisme pelaksana teknis dalam rangka penetapan saldo</a:t>
                      </a:r>
                      <a:endParaRPr lang="id-ID" sz="1400" dirty="0">
                        <a:solidFill>
                          <a:schemeClr val="bg1"/>
                        </a:solidFill>
                        <a:latin typeface="Arial Narrow" panose="020B0606020202030204" pitchFamily="34" charset="0"/>
                      </a:endParaRPr>
                    </a:p>
                  </a:txBody>
                  <a:tcPr marL="1267" marR="1267" marT="126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r>
                        <a:rPr lang="id-ID" sz="1400" dirty="0">
                          <a:solidFill>
                            <a:schemeClr val="bg1"/>
                          </a:solidFill>
                          <a:latin typeface="Arial Narrow" panose="020B0606020202030204" pitchFamily="34" charset="0"/>
                        </a:rPr>
                        <a:t>Kepala </a:t>
                      </a:r>
                      <a:r>
                        <a:rPr lang="id-ID" sz="1400" dirty="0" err="1">
                          <a:solidFill>
                            <a:schemeClr val="bg1"/>
                          </a:solidFill>
                          <a:latin typeface="Arial Narrow" panose="020B0606020202030204" pitchFamily="34" charset="0"/>
                        </a:rPr>
                        <a:t>Bapenda</a:t>
                      </a:r>
                      <a:r>
                        <a:rPr lang="id-ID" sz="1400" dirty="0">
                          <a:solidFill>
                            <a:schemeClr val="bg1"/>
                          </a:solidFill>
                          <a:latin typeface="Arial Narrow" panose="020B0606020202030204" pitchFamily="34" charset="0"/>
                        </a:rPr>
                        <a:t> menyusun SOP terkait penetapan saldo piutang</a:t>
                      </a:r>
                    </a:p>
                  </a:txBody>
                  <a:tcPr marL="1267" marR="1267" marT="12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vMerge="1">
                  <a:txBody>
                    <a:bodyPr/>
                    <a:lstStyle/>
                    <a:p>
                      <a:endParaRPr lang="id-ID"/>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385821003"/>
                  </a:ext>
                </a:extLst>
              </a:tr>
            </a:tbl>
          </a:graphicData>
        </a:graphic>
      </p:graphicFrame>
      <p:sp>
        <p:nvSpPr>
          <p:cNvPr id="5" name="TextBox 4">
            <a:extLst>
              <a:ext uri="{FF2B5EF4-FFF2-40B4-BE49-F238E27FC236}">
                <a16:creationId xmlns:a16="http://schemas.microsoft.com/office/drawing/2014/main" id="{A3860D2C-6F7B-48F5-9008-17DBF2FA9F78}"/>
              </a:ext>
            </a:extLst>
          </p:cNvPr>
          <p:cNvSpPr txBox="1"/>
          <p:nvPr/>
        </p:nvSpPr>
        <p:spPr>
          <a:xfrm>
            <a:off x="9375494" y="133906"/>
            <a:ext cx="1805687" cy="369332"/>
          </a:xfrm>
          <a:prstGeom prst="rect">
            <a:avLst/>
          </a:prstGeom>
          <a:noFill/>
        </p:spPr>
        <p:txBody>
          <a:bodyPr wrap="none" rtlCol="0">
            <a:spAutoFit/>
          </a:bodyPr>
          <a:lstStyle/>
          <a:p>
            <a:r>
              <a:rPr lang="en-US" i="1" dirty="0" err="1"/>
              <a:t>Lanjutan</a:t>
            </a:r>
            <a:r>
              <a:rPr lang="en-US" i="1" dirty="0"/>
              <a:t>……………</a:t>
            </a:r>
            <a:endParaRPr lang="id-ID" i="1" dirty="0"/>
          </a:p>
        </p:txBody>
      </p:sp>
    </p:spTree>
    <p:extLst>
      <p:ext uri="{BB962C8B-B14F-4D97-AF65-F5344CB8AC3E}">
        <p14:creationId xmlns:p14="http://schemas.microsoft.com/office/powerpoint/2010/main" val="1495913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8DF29B-21FE-4B33-862C-26A2525E1CF2}"/>
              </a:ext>
            </a:extLst>
          </p:cNvPr>
          <p:cNvSpPr txBox="1"/>
          <p:nvPr/>
        </p:nvSpPr>
        <p:spPr>
          <a:xfrm>
            <a:off x="810228" y="949123"/>
            <a:ext cx="10382491" cy="954107"/>
          </a:xfrm>
          <a:prstGeom prst="rect">
            <a:avLst/>
          </a:prstGeom>
          <a:noFill/>
        </p:spPr>
        <p:txBody>
          <a:bodyPr wrap="square" rtlCol="0">
            <a:spAutoFit/>
          </a:bodyPr>
          <a:lstStyle/>
          <a:p>
            <a:pPr algn="just"/>
            <a:r>
              <a:rPr lang="en-US" sz="2800" b="1" dirty="0" err="1"/>
              <a:t>Untuk</a:t>
            </a:r>
            <a:r>
              <a:rPr lang="en-US" sz="2800" b="1" dirty="0"/>
              <a:t> progress </a:t>
            </a:r>
            <a:r>
              <a:rPr lang="en-US" sz="2800" b="1" dirty="0" err="1"/>
              <a:t>Tindak</a:t>
            </a:r>
            <a:r>
              <a:rPr lang="en-US" sz="2800" b="1" dirty="0"/>
              <a:t> </a:t>
            </a:r>
            <a:r>
              <a:rPr lang="en-US" sz="2800" b="1" dirty="0" err="1"/>
              <a:t>Lanjut</a:t>
            </a:r>
            <a:r>
              <a:rPr lang="en-US" sz="2800" b="1" dirty="0"/>
              <a:t> </a:t>
            </a:r>
            <a:r>
              <a:rPr lang="en-US" sz="2800" b="1" dirty="0" err="1"/>
              <a:t>Inspektorat</a:t>
            </a:r>
            <a:r>
              <a:rPr lang="en-US" sz="2800" b="1" dirty="0"/>
              <a:t> </a:t>
            </a:r>
            <a:r>
              <a:rPr lang="en-US" sz="2800" b="1" dirty="0" err="1"/>
              <a:t>Provinsi</a:t>
            </a:r>
            <a:r>
              <a:rPr lang="en-US" sz="2800" b="1" dirty="0"/>
              <a:t> </a:t>
            </a:r>
            <a:r>
              <a:rPr lang="en-US" sz="2800" b="1" dirty="0" err="1"/>
              <a:t>Jawa</a:t>
            </a:r>
            <a:r>
              <a:rPr lang="en-US" sz="2800" b="1" dirty="0"/>
              <a:t> Tengah </a:t>
            </a:r>
            <a:r>
              <a:rPr lang="en-US" sz="2800" b="1" dirty="0" err="1"/>
              <a:t>dengan</a:t>
            </a:r>
            <a:r>
              <a:rPr lang="en-US" sz="2800" b="1" dirty="0"/>
              <a:t> link </a:t>
            </a:r>
            <a:r>
              <a:rPr lang="en-US" sz="2800" b="1" dirty="0" err="1"/>
              <a:t>sebagai</a:t>
            </a:r>
            <a:r>
              <a:rPr lang="en-US" sz="2800" b="1" dirty="0"/>
              <a:t> </a:t>
            </a:r>
            <a:r>
              <a:rPr lang="en-US" sz="2800" b="1" dirty="0" err="1"/>
              <a:t>berikut</a:t>
            </a:r>
            <a:r>
              <a:rPr lang="en-US" sz="2800" b="1" dirty="0"/>
              <a:t> :</a:t>
            </a:r>
          </a:p>
        </p:txBody>
      </p:sp>
      <p:sp>
        <p:nvSpPr>
          <p:cNvPr id="5" name="TextBox 4">
            <a:hlinkClick r:id="rId2" action="ppaction://hlinkfile"/>
            <a:extLst>
              <a:ext uri="{FF2B5EF4-FFF2-40B4-BE49-F238E27FC236}">
                <a16:creationId xmlns:a16="http://schemas.microsoft.com/office/drawing/2014/main" id="{AAC0B06D-A5A8-4666-B36A-A23896995D48}"/>
              </a:ext>
            </a:extLst>
          </p:cNvPr>
          <p:cNvSpPr txBox="1"/>
          <p:nvPr/>
        </p:nvSpPr>
        <p:spPr>
          <a:xfrm>
            <a:off x="4569105" y="4355635"/>
            <a:ext cx="2864735" cy="461665"/>
          </a:xfrm>
          <a:prstGeom prst="rect">
            <a:avLst/>
          </a:prstGeom>
          <a:noFill/>
        </p:spPr>
        <p:txBody>
          <a:bodyPr wrap="square" rtlCol="0">
            <a:spAutoFit/>
          </a:bodyPr>
          <a:lstStyle/>
          <a:p>
            <a:r>
              <a:rPr lang="en-US" sz="2400" b="1" dirty="0"/>
              <a:t>Progress </a:t>
            </a:r>
            <a:r>
              <a:rPr lang="en-US" sz="2400" b="1" dirty="0" err="1"/>
              <a:t>Inspektorat</a:t>
            </a:r>
            <a:endParaRPr lang="en-US" sz="2400" b="1" dirty="0"/>
          </a:p>
        </p:txBody>
      </p:sp>
      <p:sp>
        <p:nvSpPr>
          <p:cNvPr id="6" name="Arrow: Right 5" descr="KLIK ">
            <a:extLst>
              <a:ext uri="{FF2B5EF4-FFF2-40B4-BE49-F238E27FC236}">
                <a16:creationId xmlns:a16="http://schemas.microsoft.com/office/drawing/2014/main" id="{FC134A2F-17E5-4AB2-A8AB-654F3FA2E200}"/>
              </a:ext>
            </a:extLst>
          </p:cNvPr>
          <p:cNvSpPr/>
          <p:nvPr/>
        </p:nvSpPr>
        <p:spPr>
          <a:xfrm rot="5400000">
            <a:off x="4904371" y="2574563"/>
            <a:ext cx="2009010" cy="1083038"/>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A183BFE9-F8DF-4D13-967E-083CBA1D97E0}"/>
              </a:ext>
            </a:extLst>
          </p:cNvPr>
          <p:cNvSpPr txBox="1"/>
          <p:nvPr/>
        </p:nvSpPr>
        <p:spPr>
          <a:xfrm rot="5400000">
            <a:off x="5162132" y="2975544"/>
            <a:ext cx="1493486" cy="307777"/>
          </a:xfrm>
          <a:prstGeom prst="rect">
            <a:avLst/>
          </a:prstGeom>
          <a:noFill/>
        </p:spPr>
        <p:txBody>
          <a:bodyPr wrap="none" rtlCol="0">
            <a:spAutoFit/>
          </a:bodyPr>
          <a:lstStyle/>
          <a:p>
            <a:r>
              <a:rPr lang="en-US" sz="1400" dirty="0"/>
              <a:t>KLIK DIBAWAH INI</a:t>
            </a:r>
            <a:endParaRPr lang="id-ID" sz="1400" dirty="0"/>
          </a:p>
        </p:txBody>
      </p:sp>
    </p:spTree>
    <p:extLst>
      <p:ext uri="{BB962C8B-B14F-4D97-AF65-F5344CB8AC3E}">
        <p14:creationId xmlns:p14="http://schemas.microsoft.com/office/powerpoint/2010/main" val="3336002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CA8441-E8F4-460E-82F4-F1289EDBA5AF}"/>
              </a:ext>
            </a:extLst>
          </p:cNvPr>
          <p:cNvSpPr txBox="1"/>
          <p:nvPr/>
        </p:nvSpPr>
        <p:spPr>
          <a:xfrm>
            <a:off x="471928" y="264593"/>
            <a:ext cx="11248143" cy="646331"/>
          </a:xfrm>
          <a:prstGeom prst="rect">
            <a:avLst/>
          </a:prstGeom>
          <a:noFill/>
        </p:spPr>
        <p:txBody>
          <a:bodyPr wrap="none" rtlCol="0">
            <a:spAutoFit/>
          </a:bodyPr>
          <a:lstStyle/>
          <a:p>
            <a:pPr algn="ctr"/>
            <a:r>
              <a:rPr lang="en-US" sz="3600" b="1" dirty="0"/>
              <a:t>UPAYA-UPAYA PENGENDALIAN YANG DILAKUKAN DI UPPD</a:t>
            </a:r>
            <a:endParaRPr lang="id-ID" sz="3600" b="1" dirty="0"/>
          </a:p>
        </p:txBody>
      </p:sp>
      <p:sp>
        <p:nvSpPr>
          <p:cNvPr id="5" name="TextBox 4">
            <a:extLst>
              <a:ext uri="{FF2B5EF4-FFF2-40B4-BE49-F238E27FC236}">
                <a16:creationId xmlns:a16="http://schemas.microsoft.com/office/drawing/2014/main" id="{A9D59104-B063-40C3-B3BE-1D205C79276E}"/>
              </a:ext>
            </a:extLst>
          </p:cNvPr>
          <p:cNvSpPr txBox="1"/>
          <p:nvPr/>
        </p:nvSpPr>
        <p:spPr>
          <a:xfrm>
            <a:off x="297083" y="993572"/>
            <a:ext cx="11597832" cy="5493812"/>
          </a:xfrm>
          <a:prstGeom prst="rect">
            <a:avLst/>
          </a:prstGeom>
          <a:noFill/>
        </p:spPr>
        <p:txBody>
          <a:bodyPr wrap="square" rtlCol="0">
            <a:spAutoFit/>
          </a:bodyPr>
          <a:lstStyle/>
          <a:p>
            <a:pPr marL="531813" indent="-531813" algn="just">
              <a:buAutoNum type="arabicPeriod"/>
            </a:pPr>
            <a:r>
              <a:rPr lang="en-US" sz="2700" dirty="0" err="1"/>
              <a:t>Mekanisme</a:t>
            </a:r>
            <a:r>
              <a:rPr lang="en-US" sz="2700" dirty="0"/>
              <a:t> </a:t>
            </a:r>
            <a:r>
              <a:rPr lang="en-US" sz="2700" dirty="0" err="1"/>
              <a:t>penghapusan</a:t>
            </a:r>
            <a:r>
              <a:rPr lang="en-US" sz="2700" dirty="0"/>
              <a:t> data </a:t>
            </a:r>
            <a:r>
              <a:rPr lang="en-US" sz="2700" dirty="0" err="1"/>
              <a:t>transaksi</a:t>
            </a:r>
            <a:r>
              <a:rPr lang="en-US" sz="2700" dirty="0"/>
              <a:t> </a:t>
            </a:r>
            <a:r>
              <a:rPr lang="en-US" sz="2700" dirty="0" err="1"/>
              <a:t>pembayaran</a:t>
            </a:r>
            <a:r>
              <a:rPr lang="en-US" sz="2700" dirty="0"/>
              <a:t> </a:t>
            </a:r>
            <a:r>
              <a:rPr lang="en-US" sz="2700" dirty="0" err="1"/>
              <a:t>pajak</a:t>
            </a:r>
            <a:r>
              <a:rPr lang="en-US" sz="2700" dirty="0"/>
              <a:t> </a:t>
            </a:r>
            <a:r>
              <a:rPr lang="en-US" sz="2700" dirty="0" err="1"/>
              <a:t>kendaraan</a:t>
            </a:r>
            <a:r>
              <a:rPr lang="en-US" sz="2700" dirty="0"/>
              <a:t> </a:t>
            </a:r>
            <a:r>
              <a:rPr lang="en-US" sz="2700" dirty="0" err="1"/>
              <a:t>bermotor</a:t>
            </a:r>
            <a:r>
              <a:rPr lang="en-US" sz="2700" dirty="0"/>
              <a:t> </a:t>
            </a:r>
            <a:r>
              <a:rPr lang="en-US" sz="2700" dirty="0" err="1"/>
              <a:t>melalui</a:t>
            </a:r>
            <a:r>
              <a:rPr lang="en-US" sz="2700" dirty="0"/>
              <a:t> </a:t>
            </a:r>
            <a:r>
              <a:rPr lang="en-US" sz="2700" dirty="0" err="1"/>
              <a:t>samsat</a:t>
            </a:r>
            <a:r>
              <a:rPr lang="en-US" sz="2700" dirty="0"/>
              <a:t> online </a:t>
            </a:r>
            <a:r>
              <a:rPr lang="en-US" sz="2700" dirty="0" err="1"/>
              <a:t>jawa</a:t>
            </a:r>
            <a:r>
              <a:rPr lang="en-US" sz="2700" dirty="0"/>
              <a:t> </a:t>
            </a:r>
            <a:r>
              <a:rPr lang="en-US" sz="2700" dirty="0" err="1"/>
              <a:t>tengah</a:t>
            </a:r>
            <a:r>
              <a:rPr lang="en-US" sz="2700" dirty="0"/>
              <a:t>, </a:t>
            </a:r>
            <a:r>
              <a:rPr lang="en-US" sz="2700" dirty="0" err="1"/>
              <a:t>hanya</a:t>
            </a:r>
            <a:r>
              <a:rPr lang="en-US" sz="2700" dirty="0"/>
              <a:t> </a:t>
            </a:r>
            <a:r>
              <a:rPr lang="en-US" sz="2700" dirty="0" err="1"/>
              <a:t>dapat</a:t>
            </a:r>
            <a:r>
              <a:rPr lang="en-US" sz="2700" dirty="0"/>
              <a:t> </a:t>
            </a:r>
            <a:r>
              <a:rPr lang="en-US" sz="2700" dirty="0" err="1"/>
              <a:t>dilakukan</a:t>
            </a:r>
            <a:r>
              <a:rPr lang="en-US" sz="2700" dirty="0"/>
              <a:t> oleh </a:t>
            </a:r>
            <a:r>
              <a:rPr lang="en-US" sz="2700" dirty="0" err="1"/>
              <a:t>Kepala</a:t>
            </a:r>
            <a:r>
              <a:rPr lang="en-US" sz="2700" dirty="0"/>
              <a:t> UPPD;</a:t>
            </a:r>
          </a:p>
          <a:p>
            <a:pPr marL="531813" indent="-531813" algn="just">
              <a:buAutoNum type="arabicPeriod"/>
            </a:pPr>
            <a:r>
              <a:rPr lang="en-US" sz="2700" dirty="0" err="1"/>
              <a:t>Pengamanan</a:t>
            </a:r>
            <a:r>
              <a:rPr lang="en-US" sz="2700" dirty="0"/>
              <a:t> SKKP yang </a:t>
            </a:r>
            <a:r>
              <a:rPr lang="en-US" sz="2700" dirty="0" err="1"/>
              <a:t>berada</a:t>
            </a:r>
            <a:r>
              <a:rPr lang="en-US" sz="2700" dirty="0"/>
              <a:t> di </a:t>
            </a:r>
            <a:r>
              <a:rPr lang="en-US" sz="2700" dirty="0" err="1"/>
              <a:t>mobil</a:t>
            </a:r>
            <a:r>
              <a:rPr lang="en-US" sz="2700" dirty="0"/>
              <a:t> </a:t>
            </a:r>
            <a:r>
              <a:rPr lang="en-US" sz="2700" dirty="0" err="1"/>
              <a:t>Operasional</a:t>
            </a:r>
            <a:r>
              <a:rPr lang="en-US" sz="2700" dirty="0"/>
              <a:t> </a:t>
            </a:r>
            <a:r>
              <a:rPr lang="en-US" sz="2700" dirty="0" err="1"/>
              <a:t>Samsat</a:t>
            </a:r>
            <a:r>
              <a:rPr lang="en-US" sz="2700" dirty="0"/>
              <a:t> </a:t>
            </a:r>
            <a:r>
              <a:rPr lang="en-US" sz="2700" dirty="0" err="1"/>
              <a:t>Keliling</a:t>
            </a:r>
            <a:r>
              <a:rPr lang="en-US" sz="2700" dirty="0"/>
              <a:t> agar </a:t>
            </a:r>
            <a:r>
              <a:rPr lang="en-US" sz="2700" dirty="0" err="1"/>
              <a:t>diperhatikan</a:t>
            </a:r>
            <a:r>
              <a:rPr lang="en-US" sz="2700" dirty="0"/>
              <a:t> </a:t>
            </a:r>
            <a:r>
              <a:rPr lang="en-US" sz="2700" dirty="0" err="1"/>
              <a:t>pengamanannya</a:t>
            </a:r>
            <a:r>
              <a:rPr lang="en-US" sz="2700" dirty="0"/>
              <a:t>, </a:t>
            </a:r>
            <a:r>
              <a:rPr lang="en-US" sz="2700" dirty="0" err="1"/>
              <a:t>setelah</a:t>
            </a:r>
            <a:r>
              <a:rPr lang="en-US" sz="2700" dirty="0"/>
              <a:t> </a:t>
            </a:r>
            <a:r>
              <a:rPr lang="en-US" sz="2700" dirty="0" err="1"/>
              <a:t>selesai</a:t>
            </a:r>
            <a:r>
              <a:rPr lang="en-US" sz="2700" dirty="0"/>
              <a:t> </a:t>
            </a:r>
            <a:r>
              <a:rPr lang="en-US" sz="2700" dirty="0" err="1"/>
              <a:t>melakukan</a:t>
            </a:r>
            <a:r>
              <a:rPr lang="en-US" sz="2700" dirty="0"/>
              <a:t> </a:t>
            </a:r>
            <a:r>
              <a:rPr lang="en-US" sz="2700" dirty="0" err="1"/>
              <a:t>pelayanan</a:t>
            </a:r>
            <a:r>
              <a:rPr lang="en-US" sz="2700" dirty="0"/>
              <a:t>, SKKP </a:t>
            </a:r>
            <a:r>
              <a:rPr lang="en-US" sz="2700" dirty="0" err="1"/>
              <a:t>harus</a:t>
            </a:r>
            <a:r>
              <a:rPr lang="en-US" sz="2700" dirty="0"/>
              <a:t> </a:t>
            </a:r>
            <a:r>
              <a:rPr lang="en-US" sz="2700" dirty="0" err="1"/>
              <a:t>dilepas</a:t>
            </a:r>
            <a:r>
              <a:rPr lang="en-US" sz="2700" dirty="0"/>
              <a:t> </a:t>
            </a:r>
            <a:r>
              <a:rPr lang="en-US" sz="2700" dirty="0" err="1"/>
              <a:t>dari</a:t>
            </a:r>
            <a:r>
              <a:rPr lang="en-US" sz="2700" dirty="0"/>
              <a:t> printer dan </a:t>
            </a:r>
            <a:r>
              <a:rPr lang="en-US" sz="2700" dirty="0" err="1"/>
              <a:t>disimpan</a:t>
            </a:r>
            <a:r>
              <a:rPr lang="en-US" sz="2700" dirty="0"/>
              <a:t> di </a:t>
            </a:r>
            <a:r>
              <a:rPr lang="en-US" sz="2700" dirty="0" err="1"/>
              <a:t>kantor</a:t>
            </a:r>
            <a:r>
              <a:rPr lang="en-US" sz="2700" dirty="0"/>
              <a:t> UPPD, </a:t>
            </a:r>
            <a:r>
              <a:rPr lang="en-US" sz="2700" dirty="0" err="1"/>
              <a:t>pastikan</a:t>
            </a:r>
            <a:r>
              <a:rPr lang="en-US" sz="2700" dirty="0"/>
              <a:t> </a:t>
            </a:r>
            <a:r>
              <a:rPr lang="en-US" sz="2700" dirty="0" err="1"/>
              <a:t>mobil</a:t>
            </a:r>
            <a:r>
              <a:rPr lang="en-US" sz="2700" dirty="0"/>
              <a:t> </a:t>
            </a:r>
            <a:r>
              <a:rPr lang="en-US" sz="2700" dirty="0" err="1"/>
              <a:t>Samsat</a:t>
            </a:r>
            <a:r>
              <a:rPr lang="en-US" sz="2700" dirty="0"/>
              <a:t> </a:t>
            </a:r>
            <a:r>
              <a:rPr lang="en-US" sz="2700" dirty="0" err="1"/>
              <a:t>Keliling</a:t>
            </a:r>
            <a:r>
              <a:rPr lang="en-US" sz="2700" dirty="0"/>
              <a:t> </a:t>
            </a:r>
            <a:r>
              <a:rPr lang="en-US" sz="2700" dirty="0" err="1"/>
              <a:t>dikunci</a:t>
            </a:r>
            <a:r>
              <a:rPr lang="en-US" sz="2700" dirty="0"/>
              <a:t> dan </a:t>
            </a:r>
            <a:r>
              <a:rPr lang="en-US" sz="2700" dirty="0" err="1"/>
              <a:t>kunci</a:t>
            </a:r>
            <a:r>
              <a:rPr lang="en-US" sz="2700" dirty="0"/>
              <a:t> </a:t>
            </a:r>
            <a:r>
              <a:rPr lang="en-US" sz="2700" dirty="0" err="1"/>
              <a:t>dipastikan</a:t>
            </a:r>
            <a:r>
              <a:rPr lang="en-US" sz="2700" dirty="0"/>
              <a:t> </a:t>
            </a:r>
            <a:r>
              <a:rPr lang="en-US" sz="2700" dirty="0" err="1"/>
              <a:t>disimpan</a:t>
            </a:r>
            <a:r>
              <a:rPr lang="en-US" sz="2700" dirty="0"/>
              <a:t> </a:t>
            </a:r>
            <a:r>
              <a:rPr lang="en-US" sz="2700" dirty="0" err="1"/>
              <a:t>tempat</a:t>
            </a:r>
            <a:r>
              <a:rPr lang="en-US" sz="2700" dirty="0"/>
              <a:t> yang </a:t>
            </a:r>
            <a:r>
              <a:rPr lang="en-US" sz="2700" dirty="0" err="1"/>
              <a:t>aman</a:t>
            </a:r>
            <a:r>
              <a:rPr lang="en-US" sz="2700" dirty="0"/>
              <a:t>.</a:t>
            </a:r>
          </a:p>
          <a:p>
            <a:pPr marL="531813" indent="-531813" algn="just"/>
            <a:r>
              <a:rPr lang="en-US" sz="2700" dirty="0"/>
              <a:t>3.  	</a:t>
            </a:r>
            <a:r>
              <a:rPr lang="en-US" sz="2700" dirty="0" err="1"/>
              <a:t>Pengadministrasian</a:t>
            </a:r>
            <a:r>
              <a:rPr lang="en-US" sz="2700" dirty="0"/>
              <a:t> SKKP </a:t>
            </a:r>
            <a:r>
              <a:rPr lang="en-US" sz="2700" dirty="0" err="1"/>
              <a:t>untuk</a:t>
            </a:r>
            <a:r>
              <a:rPr lang="en-US" sz="2700" dirty="0"/>
              <a:t> </a:t>
            </a:r>
            <a:r>
              <a:rPr lang="en-US" sz="2700" dirty="0" err="1"/>
              <a:t>selalu</a:t>
            </a:r>
            <a:r>
              <a:rPr lang="en-US" sz="2700" dirty="0"/>
              <a:t> </a:t>
            </a:r>
            <a:r>
              <a:rPr lang="en-US" sz="2700" dirty="0" err="1"/>
              <a:t>diperhatikan</a:t>
            </a:r>
            <a:r>
              <a:rPr lang="en-US" sz="2700" dirty="0"/>
              <a:t>, </a:t>
            </a:r>
            <a:r>
              <a:rPr lang="en-US" sz="2700" dirty="0" err="1"/>
              <a:t>seperti</a:t>
            </a:r>
            <a:r>
              <a:rPr lang="en-US" sz="2700" dirty="0"/>
              <a:t> SKKP </a:t>
            </a:r>
            <a:r>
              <a:rPr lang="en-US" sz="2700" dirty="0" err="1"/>
              <a:t>Verpal</a:t>
            </a:r>
            <a:r>
              <a:rPr lang="en-US" sz="2700" dirty="0"/>
              <a:t> yang </a:t>
            </a:r>
            <a:r>
              <a:rPr lang="en-US" sz="2700" dirty="0" err="1"/>
              <a:t>harus</a:t>
            </a:r>
            <a:r>
              <a:rPr lang="en-US" sz="2700" dirty="0"/>
              <a:t> </a:t>
            </a:r>
            <a:r>
              <a:rPr lang="en-US" sz="2700" dirty="0" err="1"/>
              <a:t>tindasannya</a:t>
            </a:r>
            <a:r>
              <a:rPr lang="en-US" sz="2700" dirty="0"/>
              <a:t>, dan </a:t>
            </a:r>
            <a:r>
              <a:rPr lang="en-US" sz="2700" dirty="0" err="1"/>
              <a:t>pencatatan</a:t>
            </a:r>
            <a:r>
              <a:rPr lang="en-US" sz="2700" dirty="0"/>
              <a:t> di </a:t>
            </a:r>
            <a:r>
              <a:rPr lang="en-US" sz="2700" dirty="0" err="1"/>
              <a:t>buku</a:t>
            </a:r>
            <a:r>
              <a:rPr lang="en-US" sz="2700" dirty="0"/>
              <a:t> bantu SKKP </a:t>
            </a:r>
            <a:r>
              <a:rPr lang="en-US" sz="2700" dirty="0" err="1"/>
              <a:t>harus</a:t>
            </a:r>
            <a:r>
              <a:rPr lang="en-US" sz="2700" dirty="0"/>
              <a:t> </a:t>
            </a:r>
            <a:r>
              <a:rPr lang="en-US" sz="2700" dirty="0" err="1"/>
              <a:t>lebih</a:t>
            </a:r>
            <a:r>
              <a:rPr lang="en-US" sz="2700" dirty="0"/>
              <a:t> </a:t>
            </a:r>
            <a:r>
              <a:rPr lang="en-US" sz="2700" dirty="0" err="1"/>
              <a:t>diperhatikan</a:t>
            </a:r>
            <a:r>
              <a:rPr lang="en-US" sz="2700" dirty="0"/>
              <a:t> </a:t>
            </a:r>
            <a:r>
              <a:rPr lang="en-US" sz="2700" dirty="0" err="1"/>
              <a:t>penjumlahannya</a:t>
            </a:r>
            <a:r>
              <a:rPr lang="en-US" sz="2700" dirty="0"/>
              <a:t>.</a:t>
            </a:r>
          </a:p>
          <a:p>
            <a:pPr marL="531813" indent="-531813" algn="just"/>
            <a:r>
              <a:rPr lang="en-US" sz="2700" dirty="0"/>
              <a:t>4. 	</a:t>
            </a:r>
            <a:r>
              <a:rPr lang="en-US" sz="2700" dirty="0" err="1"/>
              <a:t>Untuk</a:t>
            </a:r>
            <a:r>
              <a:rPr lang="en-US" sz="2700" dirty="0"/>
              <a:t> </a:t>
            </a:r>
            <a:r>
              <a:rPr lang="en-US" sz="2700" dirty="0" err="1"/>
              <a:t>penggunaan</a:t>
            </a:r>
            <a:r>
              <a:rPr lang="en-US" sz="2700" dirty="0"/>
              <a:t> </a:t>
            </a:r>
            <a:r>
              <a:rPr lang="en-US" sz="2700" dirty="0" err="1"/>
              <a:t>aplikasi</a:t>
            </a:r>
            <a:r>
              <a:rPr lang="en-US" sz="2700" dirty="0"/>
              <a:t> </a:t>
            </a:r>
            <a:r>
              <a:rPr lang="en-US" sz="2700" dirty="0" err="1"/>
              <a:t>pengadministrasian</a:t>
            </a:r>
            <a:r>
              <a:rPr lang="en-US" sz="2700" dirty="0"/>
              <a:t> SKKP, agar </a:t>
            </a:r>
            <a:r>
              <a:rPr lang="en-US" sz="2700" dirty="0" err="1"/>
              <a:t>dapat</a:t>
            </a:r>
            <a:r>
              <a:rPr lang="en-US" sz="2700" dirty="0"/>
              <a:t> </a:t>
            </a:r>
            <a:r>
              <a:rPr lang="en-US" sz="2700" dirty="0" err="1"/>
              <a:t>segera</a:t>
            </a:r>
            <a:r>
              <a:rPr lang="en-US" sz="2700" dirty="0"/>
              <a:t> </a:t>
            </a:r>
            <a:r>
              <a:rPr lang="en-US" sz="2700" dirty="0" err="1"/>
              <a:t>direalisasikan</a:t>
            </a:r>
            <a:r>
              <a:rPr lang="en-US" sz="2700" dirty="0"/>
              <a:t> agar </a:t>
            </a:r>
            <a:r>
              <a:rPr lang="en-US" sz="2700" dirty="0" err="1"/>
              <a:t>mempermudah</a:t>
            </a:r>
            <a:r>
              <a:rPr lang="en-US" sz="2700" dirty="0"/>
              <a:t> </a:t>
            </a:r>
            <a:r>
              <a:rPr lang="en-US" sz="2700" dirty="0" err="1"/>
              <a:t>pemantauan</a:t>
            </a:r>
            <a:r>
              <a:rPr lang="en-US" sz="2700" dirty="0"/>
              <a:t> dan </a:t>
            </a:r>
            <a:r>
              <a:rPr lang="en-US" sz="2700" dirty="0" err="1"/>
              <a:t>meminimalisir</a:t>
            </a:r>
            <a:r>
              <a:rPr lang="en-US" sz="2700" dirty="0"/>
              <a:t> </a:t>
            </a:r>
            <a:r>
              <a:rPr lang="en-US" sz="2700" dirty="0" err="1"/>
              <a:t>kesalahan-kesalahan</a:t>
            </a:r>
            <a:r>
              <a:rPr lang="en-US" sz="2700" dirty="0"/>
              <a:t> yang </a:t>
            </a:r>
            <a:r>
              <a:rPr lang="en-US" sz="2700" dirty="0" err="1"/>
              <a:t>terjadi</a:t>
            </a:r>
            <a:r>
              <a:rPr lang="en-US" sz="2700" dirty="0"/>
              <a:t> </a:t>
            </a:r>
            <a:r>
              <a:rPr lang="en-US" sz="2700" dirty="0" err="1"/>
              <a:t>dalam</a:t>
            </a:r>
            <a:r>
              <a:rPr lang="en-US" sz="2700" dirty="0"/>
              <a:t> </a:t>
            </a:r>
            <a:r>
              <a:rPr lang="en-US" sz="2700" dirty="0" err="1"/>
              <a:t>penggunaan</a:t>
            </a:r>
            <a:r>
              <a:rPr lang="en-US" sz="2700" dirty="0"/>
              <a:t> SKKP.</a:t>
            </a:r>
          </a:p>
        </p:txBody>
      </p:sp>
    </p:spTree>
    <p:extLst>
      <p:ext uri="{BB962C8B-B14F-4D97-AF65-F5344CB8AC3E}">
        <p14:creationId xmlns:p14="http://schemas.microsoft.com/office/powerpoint/2010/main" val="1665449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EF1895-CF65-4BE3-BCEA-D1678247F84D}"/>
              </a:ext>
            </a:extLst>
          </p:cNvPr>
          <p:cNvSpPr txBox="1"/>
          <p:nvPr/>
        </p:nvSpPr>
        <p:spPr>
          <a:xfrm>
            <a:off x="196322" y="1111171"/>
            <a:ext cx="11621430" cy="3000821"/>
          </a:xfrm>
          <a:prstGeom prst="rect">
            <a:avLst/>
          </a:prstGeom>
          <a:noFill/>
        </p:spPr>
        <p:txBody>
          <a:bodyPr wrap="square" rtlCol="0">
            <a:spAutoFit/>
          </a:bodyPr>
          <a:lstStyle/>
          <a:p>
            <a:pPr marL="531813" indent="-531813" algn="just">
              <a:buAutoNum type="arabicPeriod" startAt="5"/>
            </a:pPr>
            <a:r>
              <a:rPr lang="en-US" sz="2700" dirty="0" err="1"/>
              <a:t>Terkait</a:t>
            </a:r>
            <a:r>
              <a:rPr lang="en-US" sz="2700" dirty="0"/>
              <a:t> modem, </a:t>
            </a:r>
            <a:r>
              <a:rPr lang="en-US" sz="2700" dirty="0" err="1"/>
              <a:t>Kepala</a:t>
            </a:r>
            <a:r>
              <a:rPr lang="en-US" sz="2700" dirty="0"/>
              <a:t> Sub </a:t>
            </a:r>
            <a:r>
              <a:rPr lang="en-US" sz="2700" dirty="0" err="1"/>
              <a:t>Bagian</a:t>
            </a:r>
            <a:r>
              <a:rPr lang="en-US" sz="2700" dirty="0"/>
              <a:t> Tata Usaha dan </a:t>
            </a:r>
            <a:r>
              <a:rPr lang="en-US" sz="2700" dirty="0" err="1"/>
              <a:t>Kepala</a:t>
            </a:r>
            <a:r>
              <a:rPr lang="en-US" sz="2700" dirty="0"/>
              <a:t> </a:t>
            </a:r>
            <a:r>
              <a:rPr lang="en-US" sz="2700" dirty="0" err="1"/>
              <a:t>Seksi</a:t>
            </a:r>
            <a:r>
              <a:rPr lang="en-US" sz="2700" dirty="0"/>
              <a:t> PKB, </a:t>
            </a:r>
            <a:r>
              <a:rPr lang="en-US" sz="2700" dirty="0" err="1"/>
              <a:t>melakukan</a:t>
            </a:r>
            <a:r>
              <a:rPr lang="en-US" sz="2700" dirty="0"/>
              <a:t> </a:t>
            </a:r>
            <a:r>
              <a:rPr lang="en-US" sz="2700" dirty="0" err="1"/>
              <a:t>koordinasi</a:t>
            </a:r>
            <a:r>
              <a:rPr lang="en-US" sz="2700" dirty="0"/>
              <a:t> </a:t>
            </a:r>
            <a:r>
              <a:rPr lang="en-US" sz="2700" dirty="0" err="1"/>
              <a:t>penggunaan</a:t>
            </a:r>
            <a:r>
              <a:rPr lang="en-US" sz="2700" dirty="0"/>
              <a:t> modem di </a:t>
            </a:r>
            <a:r>
              <a:rPr lang="en-US" sz="2700" dirty="0" err="1"/>
              <a:t>masing-masing</a:t>
            </a:r>
            <a:r>
              <a:rPr lang="en-US" sz="2700" dirty="0"/>
              <a:t> </a:t>
            </a:r>
            <a:r>
              <a:rPr lang="en-US" sz="2700" dirty="0" err="1"/>
              <a:t>titik</a:t>
            </a:r>
            <a:r>
              <a:rPr lang="en-US" sz="2700" dirty="0"/>
              <a:t> </a:t>
            </a:r>
            <a:r>
              <a:rPr lang="en-US" sz="2700" dirty="0" err="1"/>
              <a:t>layanan</a:t>
            </a:r>
            <a:r>
              <a:rPr lang="en-US" sz="2700" dirty="0"/>
              <a:t>.</a:t>
            </a:r>
          </a:p>
          <a:p>
            <a:pPr marL="531813" indent="-531813" algn="just">
              <a:buAutoNum type="arabicPeriod" startAt="5"/>
            </a:pPr>
            <a:r>
              <a:rPr lang="en-US" sz="2700" dirty="0" err="1"/>
              <a:t>Kasubag</a:t>
            </a:r>
            <a:r>
              <a:rPr lang="en-US" sz="2700" dirty="0"/>
              <a:t> Tata Usaha dan </a:t>
            </a:r>
            <a:r>
              <a:rPr lang="en-US" sz="2700" dirty="0" err="1"/>
              <a:t>Kepala</a:t>
            </a:r>
            <a:r>
              <a:rPr lang="en-US" sz="2700" dirty="0"/>
              <a:t> </a:t>
            </a:r>
            <a:r>
              <a:rPr lang="en-US" sz="2700" dirty="0" err="1"/>
              <a:t>Seksi</a:t>
            </a:r>
            <a:r>
              <a:rPr lang="en-US" sz="2700" dirty="0"/>
              <a:t> PKB </a:t>
            </a:r>
            <a:r>
              <a:rPr lang="en-US" sz="2700" dirty="0" err="1"/>
              <a:t>diharuskan</a:t>
            </a:r>
            <a:r>
              <a:rPr lang="en-US" sz="2700" dirty="0"/>
              <a:t> </a:t>
            </a:r>
            <a:r>
              <a:rPr lang="en-US" sz="2700" dirty="0" err="1"/>
              <a:t>setiap</a:t>
            </a:r>
            <a:r>
              <a:rPr lang="en-US" sz="2700" dirty="0"/>
              <a:t> </a:t>
            </a:r>
            <a:r>
              <a:rPr lang="en-US" sz="2700" dirty="0" err="1"/>
              <a:t>akhir</a:t>
            </a:r>
            <a:r>
              <a:rPr lang="en-US" sz="2700" dirty="0"/>
              <a:t> </a:t>
            </a:r>
            <a:r>
              <a:rPr lang="en-US" sz="2700" dirty="0" err="1"/>
              <a:t>minggu</a:t>
            </a:r>
            <a:r>
              <a:rPr lang="en-US" sz="2700" dirty="0"/>
              <a:t>, </a:t>
            </a:r>
            <a:r>
              <a:rPr lang="en-US" sz="2700" dirty="0" err="1"/>
              <a:t>melakukan</a:t>
            </a:r>
            <a:r>
              <a:rPr lang="en-US" sz="2700" dirty="0"/>
              <a:t> </a:t>
            </a:r>
            <a:r>
              <a:rPr lang="en-US" sz="2700" dirty="0" err="1"/>
              <a:t>pengecekan</a:t>
            </a:r>
            <a:r>
              <a:rPr lang="en-US" sz="2700" dirty="0"/>
              <a:t>, monitoring dan </a:t>
            </a:r>
            <a:r>
              <a:rPr lang="en-US" sz="2700" dirty="0" err="1"/>
              <a:t>melakukan</a:t>
            </a:r>
            <a:r>
              <a:rPr lang="en-US" sz="2700" dirty="0"/>
              <a:t> </a:t>
            </a:r>
            <a:r>
              <a:rPr lang="en-US" sz="2700" dirty="0" err="1"/>
              <a:t>pengarahan</a:t>
            </a:r>
            <a:r>
              <a:rPr lang="en-US" sz="2700" dirty="0"/>
              <a:t> </a:t>
            </a:r>
            <a:r>
              <a:rPr lang="en-US" sz="2700" dirty="0" err="1"/>
              <a:t>terkait</a:t>
            </a:r>
            <a:r>
              <a:rPr lang="en-US" sz="2700" dirty="0"/>
              <a:t> modem.</a:t>
            </a:r>
          </a:p>
          <a:p>
            <a:pPr marL="531813" indent="-531813" algn="just">
              <a:buAutoNum type="arabicPeriod" startAt="5"/>
            </a:pPr>
            <a:r>
              <a:rPr lang="en-US" sz="2700" dirty="0" err="1"/>
              <a:t>Jumlah</a:t>
            </a:r>
            <a:r>
              <a:rPr lang="en-US" sz="2700" dirty="0"/>
              <a:t> </a:t>
            </a:r>
            <a:r>
              <a:rPr lang="en-US" sz="2700" dirty="0" err="1"/>
              <a:t>penerimaan</a:t>
            </a:r>
            <a:r>
              <a:rPr lang="en-US" sz="2700" dirty="0"/>
              <a:t> </a:t>
            </a:r>
            <a:r>
              <a:rPr lang="en-US" sz="2700" dirty="0" err="1"/>
              <a:t>harus</a:t>
            </a:r>
            <a:r>
              <a:rPr lang="en-US" sz="2700" dirty="0"/>
              <a:t> </a:t>
            </a:r>
            <a:r>
              <a:rPr lang="en-US" sz="2700" dirty="0" err="1"/>
              <a:t>direkonsiliasi</a:t>
            </a:r>
            <a:r>
              <a:rPr lang="en-US" sz="2700" dirty="0"/>
              <a:t> </a:t>
            </a:r>
            <a:r>
              <a:rPr lang="en-US" sz="2700" dirty="0" err="1"/>
              <a:t>dengan</a:t>
            </a:r>
            <a:r>
              <a:rPr lang="en-US" sz="2700" dirty="0"/>
              <a:t> </a:t>
            </a:r>
            <a:r>
              <a:rPr lang="en-US" sz="2700" dirty="0" err="1"/>
              <a:t>jurnal</a:t>
            </a:r>
            <a:r>
              <a:rPr lang="en-US" sz="2700" dirty="0"/>
              <a:t> </a:t>
            </a:r>
            <a:r>
              <a:rPr lang="en-US" sz="2700" dirty="0" err="1"/>
              <a:t>penetapan</a:t>
            </a:r>
            <a:r>
              <a:rPr lang="en-US" sz="2700" dirty="0"/>
              <a:t> </a:t>
            </a:r>
            <a:r>
              <a:rPr lang="en-US" sz="2700" dirty="0" err="1"/>
              <a:t>setiap</a:t>
            </a:r>
            <a:r>
              <a:rPr lang="en-US" sz="2700" dirty="0"/>
              <a:t> </a:t>
            </a:r>
            <a:r>
              <a:rPr lang="en-US" sz="2700" dirty="0" err="1"/>
              <a:t>hari</a:t>
            </a:r>
            <a:r>
              <a:rPr lang="en-US" sz="2700" dirty="0"/>
              <a:t> di </a:t>
            </a:r>
            <a:r>
              <a:rPr lang="en-US" sz="2700" dirty="0" err="1"/>
              <a:t>akhir</a:t>
            </a:r>
            <a:r>
              <a:rPr lang="en-US" sz="2700" dirty="0"/>
              <a:t> jam </a:t>
            </a:r>
            <a:r>
              <a:rPr lang="en-US" sz="2700" dirty="0" err="1"/>
              <a:t>pelayanan</a:t>
            </a:r>
            <a:r>
              <a:rPr lang="en-US" sz="2700" dirty="0"/>
              <a:t>. </a:t>
            </a:r>
          </a:p>
        </p:txBody>
      </p:sp>
      <p:sp>
        <p:nvSpPr>
          <p:cNvPr id="3" name="TextBox 2">
            <a:extLst>
              <a:ext uri="{FF2B5EF4-FFF2-40B4-BE49-F238E27FC236}">
                <a16:creationId xmlns:a16="http://schemas.microsoft.com/office/drawing/2014/main" id="{66126B2B-2CCA-418A-B03C-B1612E1EF7CA}"/>
              </a:ext>
            </a:extLst>
          </p:cNvPr>
          <p:cNvSpPr txBox="1"/>
          <p:nvPr/>
        </p:nvSpPr>
        <p:spPr>
          <a:xfrm>
            <a:off x="9375494" y="272802"/>
            <a:ext cx="1805687" cy="369332"/>
          </a:xfrm>
          <a:prstGeom prst="rect">
            <a:avLst/>
          </a:prstGeom>
          <a:noFill/>
        </p:spPr>
        <p:txBody>
          <a:bodyPr wrap="none" rtlCol="0">
            <a:spAutoFit/>
          </a:bodyPr>
          <a:lstStyle/>
          <a:p>
            <a:r>
              <a:rPr lang="en-US" i="1" dirty="0" err="1"/>
              <a:t>Lanjutan</a:t>
            </a:r>
            <a:r>
              <a:rPr lang="en-US" i="1" dirty="0"/>
              <a:t>……………</a:t>
            </a:r>
            <a:endParaRPr lang="id-ID" i="1" dirty="0"/>
          </a:p>
        </p:txBody>
      </p:sp>
    </p:spTree>
    <p:extLst>
      <p:ext uri="{BB962C8B-B14F-4D97-AF65-F5344CB8AC3E}">
        <p14:creationId xmlns:p14="http://schemas.microsoft.com/office/powerpoint/2010/main" val="385592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618" y="1152642"/>
            <a:ext cx="11354763" cy="4552716"/>
          </a:xfrm>
        </p:spPr>
        <p:txBody>
          <a:bodyPr>
            <a:normAutofit/>
          </a:bodyPr>
          <a:lstStyle/>
          <a:p>
            <a:pPr marL="0" indent="0" algn="just">
              <a:buNone/>
            </a:pPr>
            <a:r>
              <a:rPr lang="en-US" sz="4000" b="1" dirty="0"/>
              <a:t>KEPALA UPPD</a:t>
            </a:r>
          </a:p>
          <a:p>
            <a:pPr marL="0" indent="0" algn="just">
              <a:buNone/>
            </a:pPr>
            <a:r>
              <a:rPr lang="en-US" sz="2800" b="1" dirty="0" err="1"/>
              <a:t>Tanggung</a:t>
            </a:r>
            <a:r>
              <a:rPr lang="en-US" sz="2800" b="1" dirty="0"/>
              <a:t> </a:t>
            </a:r>
            <a:r>
              <a:rPr lang="en-US" sz="2800" b="1" dirty="0" err="1"/>
              <a:t>jawab</a:t>
            </a:r>
            <a:r>
              <a:rPr lang="en-US" sz="2800" b="1" dirty="0"/>
              <a:t> </a:t>
            </a:r>
            <a:r>
              <a:rPr lang="en-US" sz="2800" b="1" dirty="0" err="1"/>
              <a:t>Kepala</a:t>
            </a:r>
            <a:r>
              <a:rPr lang="en-US" sz="2800" b="1" dirty="0"/>
              <a:t> UPPD </a:t>
            </a:r>
            <a:r>
              <a:rPr lang="en-US" sz="2800" b="1" dirty="0" err="1"/>
              <a:t>terhadap</a:t>
            </a:r>
            <a:r>
              <a:rPr lang="en-US" sz="2800" b="1" dirty="0"/>
              <a:t> </a:t>
            </a:r>
            <a:r>
              <a:rPr lang="en-US" sz="2800" b="1" dirty="0" err="1"/>
              <a:t>penggunaan</a:t>
            </a:r>
            <a:r>
              <a:rPr lang="en-US" sz="2800" b="1" dirty="0"/>
              <a:t> SKKP :</a:t>
            </a:r>
          </a:p>
          <a:p>
            <a:pPr marL="457200" indent="-457200" algn="just">
              <a:buAutoNum type="alphaLcPeriod"/>
            </a:pPr>
            <a:r>
              <a:rPr lang="en-US" sz="2800" b="1" dirty="0" err="1"/>
              <a:t>Melaporkan</a:t>
            </a:r>
            <a:r>
              <a:rPr lang="en-US" sz="2800" b="1" dirty="0"/>
              <a:t> </a:t>
            </a:r>
            <a:r>
              <a:rPr lang="en-US" sz="2800" b="1" dirty="0" err="1"/>
              <a:t>kepada</a:t>
            </a:r>
            <a:r>
              <a:rPr lang="en-US" sz="2800" b="1" dirty="0"/>
              <a:t> </a:t>
            </a:r>
            <a:r>
              <a:rPr lang="en-US" sz="2800" b="1" dirty="0" err="1"/>
              <a:t>Kepala</a:t>
            </a:r>
            <a:r>
              <a:rPr lang="en-US" sz="2800" b="1" dirty="0"/>
              <a:t> </a:t>
            </a:r>
            <a:r>
              <a:rPr lang="en-US" sz="2800" b="1" dirty="0" err="1"/>
              <a:t>Bapenda</a:t>
            </a:r>
            <a:r>
              <a:rPr lang="en-US" sz="2800" b="1" dirty="0"/>
              <a:t> </a:t>
            </a:r>
            <a:r>
              <a:rPr lang="en-US" sz="2800" b="1" dirty="0" err="1"/>
              <a:t>cq</a:t>
            </a:r>
            <a:r>
              <a:rPr lang="en-US" sz="2800" b="1" dirty="0"/>
              <a:t>. </a:t>
            </a:r>
            <a:r>
              <a:rPr lang="en-US" sz="2800" b="1" dirty="0" err="1"/>
              <a:t>Kepala</a:t>
            </a:r>
            <a:r>
              <a:rPr lang="en-US" sz="2800" b="1" dirty="0"/>
              <a:t> </a:t>
            </a:r>
            <a:r>
              <a:rPr lang="en-US" sz="2800" b="1" dirty="0" err="1"/>
              <a:t>Bidang</a:t>
            </a:r>
            <a:r>
              <a:rPr lang="en-US" sz="2800" b="1" dirty="0"/>
              <a:t> </a:t>
            </a:r>
            <a:r>
              <a:rPr lang="en-US" sz="2800" b="1" dirty="0" err="1"/>
              <a:t>Valbin</a:t>
            </a:r>
            <a:r>
              <a:rPr lang="en-US" sz="2800" b="1" dirty="0"/>
              <a:t> </a:t>
            </a:r>
            <a:r>
              <a:rPr lang="en-US" sz="2800" b="1" dirty="0" err="1"/>
              <a:t>setiap</a:t>
            </a:r>
            <a:r>
              <a:rPr lang="en-US" sz="2800" b="1" dirty="0"/>
              <a:t> </a:t>
            </a:r>
            <a:r>
              <a:rPr lang="en-US" sz="2800" b="1" dirty="0" err="1"/>
              <a:t>hari</a:t>
            </a:r>
            <a:r>
              <a:rPr lang="en-US" sz="2800" b="1" dirty="0"/>
              <a:t> </a:t>
            </a:r>
            <a:r>
              <a:rPr lang="en-US" sz="2800" b="1" dirty="0" err="1"/>
              <a:t>terhadap</a:t>
            </a:r>
            <a:r>
              <a:rPr lang="en-US" sz="2800" b="1" dirty="0"/>
              <a:t> </a:t>
            </a:r>
            <a:r>
              <a:rPr lang="en-US" sz="2800" b="1" dirty="0" err="1"/>
              <a:t>rekap</a:t>
            </a:r>
            <a:r>
              <a:rPr lang="en-US" sz="2800" b="1" dirty="0"/>
              <a:t> </a:t>
            </a:r>
            <a:r>
              <a:rPr lang="en-US" sz="2800" b="1" dirty="0" err="1"/>
              <a:t>penggunaan</a:t>
            </a:r>
            <a:r>
              <a:rPr lang="en-US" sz="2800" b="1" dirty="0"/>
              <a:t> SKKP </a:t>
            </a:r>
            <a:r>
              <a:rPr lang="en-US" sz="2800" b="1" dirty="0" err="1"/>
              <a:t>untuk</a:t>
            </a:r>
            <a:r>
              <a:rPr lang="en-US" sz="2800" b="1" dirty="0"/>
              <a:t> </a:t>
            </a:r>
            <a:r>
              <a:rPr lang="en-US" sz="2800" b="1" dirty="0" err="1"/>
              <a:t>semua</a:t>
            </a:r>
            <a:r>
              <a:rPr lang="en-US" sz="2800" b="1" dirty="0"/>
              <a:t> </a:t>
            </a:r>
            <a:r>
              <a:rPr lang="en-US" sz="2800" b="1" dirty="0" err="1"/>
              <a:t>petugas</a:t>
            </a:r>
            <a:r>
              <a:rPr lang="en-US" sz="2800" b="1" dirty="0"/>
              <a:t> </a:t>
            </a:r>
            <a:r>
              <a:rPr lang="en-US" sz="2800" b="1" dirty="0" err="1"/>
              <a:t>sesuai</a:t>
            </a:r>
            <a:r>
              <a:rPr lang="en-US" sz="2800" b="1" dirty="0"/>
              <a:t> </a:t>
            </a:r>
            <a:r>
              <a:rPr lang="en-US" sz="2800" b="1" dirty="0" err="1"/>
              <a:t>blanko</a:t>
            </a:r>
            <a:r>
              <a:rPr lang="en-US" sz="2800" b="1" dirty="0"/>
              <a:t> </a:t>
            </a:r>
            <a:r>
              <a:rPr lang="en-US" sz="2800" b="1" dirty="0" err="1"/>
              <a:t>terlampir</a:t>
            </a:r>
            <a:r>
              <a:rPr lang="en-US" sz="2800" b="1" dirty="0"/>
              <a:t> </a:t>
            </a:r>
            <a:r>
              <a:rPr lang="en-US" sz="2800" b="1" dirty="0" err="1"/>
              <a:t>dikirim</a:t>
            </a:r>
            <a:r>
              <a:rPr lang="en-US" sz="2800" b="1" dirty="0"/>
              <a:t> </a:t>
            </a:r>
            <a:r>
              <a:rPr lang="en-US" sz="2800" b="1" dirty="0" err="1"/>
              <a:t>melalui</a:t>
            </a:r>
            <a:r>
              <a:rPr lang="en-US" sz="2800" b="1" dirty="0"/>
              <a:t> email bapendavalbin.3a@gmail.com.</a:t>
            </a:r>
          </a:p>
          <a:p>
            <a:pPr marL="457200" indent="-457200" algn="just">
              <a:buAutoNum type="alphaLcPeriod"/>
            </a:pPr>
            <a:r>
              <a:rPr lang="en-US" sz="2800" b="1" dirty="0" err="1"/>
              <a:t>Melaporkan</a:t>
            </a:r>
            <a:r>
              <a:rPr lang="en-US" sz="2800" b="1" dirty="0"/>
              <a:t> </a:t>
            </a:r>
            <a:r>
              <a:rPr lang="en-US" sz="2800" b="1" dirty="0" err="1"/>
              <a:t>kepada</a:t>
            </a:r>
            <a:r>
              <a:rPr lang="en-US" sz="2800" b="1" dirty="0"/>
              <a:t> </a:t>
            </a:r>
            <a:r>
              <a:rPr lang="en-US" sz="2800" b="1" dirty="0" err="1"/>
              <a:t>Kepala</a:t>
            </a:r>
            <a:r>
              <a:rPr lang="en-US" sz="2800" b="1" dirty="0"/>
              <a:t> </a:t>
            </a:r>
            <a:r>
              <a:rPr lang="en-US" sz="2800" b="1" dirty="0" err="1"/>
              <a:t>Bapenda</a:t>
            </a:r>
            <a:r>
              <a:rPr lang="en-US" sz="2800" b="1" dirty="0"/>
              <a:t> </a:t>
            </a:r>
            <a:r>
              <a:rPr lang="en-US" sz="2800" b="1" dirty="0" err="1"/>
              <a:t>penggunaan</a:t>
            </a:r>
            <a:r>
              <a:rPr lang="en-US" sz="2800" b="1" dirty="0"/>
              <a:t> SKKP </a:t>
            </a:r>
            <a:r>
              <a:rPr lang="en-US" sz="2800" b="1" dirty="0" err="1"/>
              <a:t>masing-masing</a:t>
            </a:r>
            <a:r>
              <a:rPr lang="en-US" sz="2800" b="1" dirty="0"/>
              <a:t> </a:t>
            </a:r>
            <a:r>
              <a:rPr lang="en-US" sz="2800" b="1" dirty="0" err="1"/>
              <a:t>petugas</a:t>
            </a:r>
            <a:r>
              <a:rPr lang="en-US" sz="2800" b="1" dirty="0"/>
              <a:t> </a:t>
            </a:r>
            <a:r>
              <a:rPr lang="en-US" sz="2800" b="1" dirty="0" err="1"/>
              <a:t>penetapan</a:t>
            </a:r>
            <a:r>
              <a:rPr lang="en-US" sz="2800" b="1" dirty="0"/>
              <a:t> </a:t>
            </a:r>
            <a:r>
              <a:rPr lang="en-US" sz="2800" b="1" dirty="0" err="1"/>
              <a:t>serta</a:t>
            </a:r>
            <a:r>
              <a:rPr lang="en-US" sz="2800" b="1" dirty="0"/>
              <a:t> </a:t>
            </a:r>
            <a:r>
              <a:rPr lang="en-US" sz="2800" b="1" dirty="0" err="1"/>
              <a:t>rekap</a:t>
            </a:r>
            <a:r>
              <a:rPr lang="en-US" sz="2800" b="1" dirty="0"/>
              <a:t> </a:t>
            </a:r>
            <a:r>
              <a:rPr lang="en-US" sz="2800" b="1" dirty="0" err="1"/>
              <a:t>penggunaan</a:t>
            </a:r>
            <a:r>
              <a:rPr lang="en-US" sz="2800" b="1" dirty="0"/>
              <a:t> SKKP </a:t>
            </a:r>
            <a:r>
              <a:rPr lang="en-US" sz="2800" b="1" dirty="0" err="1"/>
              <a:t>semua</a:t>
            </a:r>
            <a:r>
              <a:rPr lang="en-US" sz="2800" b="1" dirty="0"/>
              <a:t> </a:t>
            </a:r>
            <a:r>
              <a:rPr lang="en-US" sz="2800" b="1" dirty="0" err="1"/>
              <a:t>petugas</a:t>
            </a:r>
            <a:r>
              <a:rPr lang="en-US" sz="2800" b="1" dirty="0"/>
              <a:t> </a:t>
            </a:r>
            <a:r>
              <a:rPr lang="en-US" sz="2800" b="1" dirty="0" err="1"/>
              <a:t>penetapan</a:t>
            </a:r>
            <a:r>
              <a:rPr lang="en-US" sz="2800" b="1" dirty="0"/>
              <a:t> </a:t>
            </a:r>
            <a:r>
              <a:rPr lang="en-US" sz="2800" b="1" dirty="0" err="1"/>
              <a:t>setiap</a:t>
            </a:r>
            <a:r>
              <a:rPr lang="en-US" sz="2800" b="1" dirty="0"/>
              <a:t> </a:t>
            </a:r>
            <a:r>
              <a:rPr lang="en-US" sz="2800" b="1" dirty="0" err="1"/>
              <a:t>bulan</a:t>
            </a:r>
            <a:r>
              <a:rPr lang="en-US" sz="2800" b="1" dirty="0"/>
              <a:t>.</a:t>
            </a:r>
          </a:p>
        </p:txBody>
      </p:sp>
    </p:spTree>
    <p:extLst>
      <p:ext uri="{BB962C8B-B14F-4D97-AF65-F5344CB8AC3E}">
        <p14:creationId xmlns:p14="http://schemas.microsoft.com/office/powerpoint/2010/main" val="3651049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6653" y="2790801"/>
            <a:ext cx="6158694" cy="1276397"/>
          </a:xfrm>
        </p:spPr>
        <p:txBody>
          <a:bodyPr>
            <a:normAutofit/>
          </a:bodyPr>
          <a:lstStyle/>
          <a:p>
            <a:pPr marL="0" indent="0" algn="ctr">
              <a:buNone/>
            </a:pPr>
            <a:r>
              <a:rPr lang="en-US" sz="6000" b="1" dirty="0"/>
              <a:t>MATUR  SUWUN</a:t>
            </a:r>
          </a:p>
        </p:txBody>
      </p:sp>
    </p:spTree>
    <p:extLst>
      <p:ext uri="{BB962C8B-B14F-4D97-AF65-F5344CB8AC3E}">
        <p14:creationId xmlns:p14="http://schemas.microsoft.com/office/powerpoint/2010/main" val="3676298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639</TotalTime>
  <Words>2024</Words>
  <Application>Microsoft Office PowerPoint</Application>
  <PresentationFormat>Widescreen</PresentationFormat>
  <Paragraphs>187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Narrow</vt:lpstr>
      <vt:lpstr>Bauhaus 93</vt:lpstr>
      <vt:lpstr>Calibri</vt:lpstr>
      <vt:lpstr>Calibri Light</vt:lpstr>
      <vt:lpstr>Celestial</vt:lpstr>
      <vt:lpstr>BIDANG EVALUASI DAN PEMBINAAN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BIDANG EVALUASI DAN PEMBINAAN</dc:title>
  <dc:creator>FAREL</dc:creator>
  <cp:lastModifiedBy>valbin_03</cp:lastModifiedBy>
  <cp:revision>43</cp:revision>
  <cp:lastPrinted>2022-09-13T08:24:17Z</cp:lastPrinted>
  <dcterms:created xsi:type="dcterms:W3CDTF">2022-06-01T07:10:46Z</dcterms:created>
  <dcterms:modified xsi:type="dcterms:W3CDTF">2022-09-15T09:40:05Z</dcterms:modified>
</cp:coreProperties>
</file>