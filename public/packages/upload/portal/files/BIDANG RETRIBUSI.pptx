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333" r:id="rId3"/>
    <p:sldId id="316" r:id="rId4"/>
    <p:sldId id="317" r:id="rId5"/>
    <p:sldId id="325" r:id="rId6"/>
    <p:sldId id="329" r:id="rId7"/>
    <p:sldId id="324" r:id="rId8"/>
    <p:sldId id="330" r:id="rId9"/>
    <p:sldId id="328" r:id="rId10"/>
    <p:sldId id="344" r:id="rId11"/>
    <p:sldId id="323" r:id="rId12"/>
    <p:sldId id="331" r:id="rId13"/>
    <p:sldId id="343" r:id="rId14"/>
    <p:sldId id="334" r:id="rId15"/>
    <p:sldId id="339" r:id="rId16"/>
    <p:sldId id="338" r:id="rId17"/>
    <p:sldId id="340" r:id="rId18"/>
    <p:sldId id="341" r:id="rId19"/>
    <p:sldId id="342" r:id="rId20"/>
    <p:sldId id="33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66" autoAdjust="0"/>
    <p:restoredTop sz="87805"/>
  </p:normalViewPr>
  <p:slideViewPr>
    <p:cSldViewPr snapToGrid="0" snapToObjects="1">
      <p:cViewPr varScale="1">
        <p:scale>
          <a:sx n="77" d="100"/>
          <a:sy n="77" d="100"/>
        </p:scale>
        <p:origin x="104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lilikhenry\Documents\16.%20DATA%20MASTER%20REALISASI%20PENDAPATAN\DATA%20MASTER%20PENDAPATAN%202018%20-%20202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0555555555555555E-2"/>
          <c:y val="0.26519337016574585"/>
          <c:w val="0.93888888888888888"/>
          <c:h val="0.607532083351459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'Pajak Daerah 2019-2021'!$K$90</c:f>
              <c:strCache>
                <c:ptCount val="1"/>
                <c:pt idx="0">
                  <c:v>TARGET APBD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'Pajak Daerah 2019-2021'!$J$91:$J$94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'Pajak Daerah 2019-2021'!$K$91:$K$94</c:f>
              <c:numCache>
                <c:formatCode>_(* #,##0_);_(* \(#,##0\);_(* "-"_);_(@_)</c:formatCode>
                <c:ptCount val="4"/>
                <c:pt idx="0">
                  <c:v>2130289000000</c:v>
                </c:pt>
                <c:pt idx="1">
                  <c:v>2274867432000</c:v>
                </c:pt>
                <c:pt idx="2">
                  <c:v>2339578969000</c:v>
                </c:pt>
                <c:pt idx="3">
                  <c:v>2834423506000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EA3A-1B46-8B78-65993F4A92AE}"/>
            </c:ext>
          </c:extLst>
        </c:ser>
        <c:ser>
          <c:idx val="1"/>
          <c:order val="1"/>
          <c:tx>
            <c:strRef>
              <c:f>'Pajak Daerah 2019-2021'!$L$90</c:f>
              <c:strCache>
                <c:ptCount val="1"/>
                <c:pt idx="0">
                  <c:v>REALISASI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-1.7178477690288714E-3"/>
                  <c:y val="7.6956540653407739E-4"/>
                </c:manualLayout>
              </c:layout>
              <c:tx>
                <c:rich>
                  <a:bodyPr/>
                  <a:lstStyle/>
                  <a:p>
                    <a:r>
                      <a:rPr lang="id-ID" sz="1050" b="0" i="0" u="none" strike="noStrike" baseline="0" dirty="0" smtClean="0">
                        <a:effectLst/>
                      </a:rPr>
                      <a:t>837.215.844.287</a:t>
                    </a:r>
                    <a:r>
                      <a:rPr lang="id-ID" dirty="0" smtClean="0"/>
                      <a:t> </a:t>
                    </a:r>
                    <a:endParaRPr lang="id-ID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Tahoma" panose="020B0604030504040204" pitchFamily="34" charset="0"/>
                    <a:ea typeface="Tahoma" panose="020B0604030504040204" pitchFamily="34" charset="0"/>
                    <a:cs typeface="Tahoma" panose="020B0604030504040204" pitchFamily="34" charset="0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'Pajak Daerah 2019-2021'!$J$91:$J$94</c:f>
              <c:numCache>
                <c:formatCode>General</c:formatCode>
                <c:ptCount val="4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</c:numCache>
            </c:numRef>
          </c:cat>
          <c:val>
            <c:numRef>
              <c:f>'Pajak Daerah 2019-2021'!$L$91:$L$94</c:f>
              <c:numCache>
                <c:formatCode>_(* #,##0_);_(* \(#,##0\);_(* "-"_);_(@_)</c:formatCode>
                <c:ptCount val="4"/>
                <c:pt idx="0">
                  <c:v>1979293335733</c:v>
                </c:pt>
                <c:pt idx="1">
                  <c:v>2595712371807</c:v>
                </c:pt>
                <c:pt idx="2">
                  <c:v>2339638538549</c:v>
                </c:pt>
                <c:pt idx="3">
                  <c:v>1094071673887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1-EA3A-1B46-8B78-65993F4A9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92378776"/>
        <c:axId val="292379160"/>
      </c:barChart>
      <c:catAx>
        <c:axId val="292378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pPr>
            <a:endParaRPr lang="id-ID"/>
          </a:p>
        </c:txPr>
        <c:crossAx val="292379160"/>
        <c:crosses val="autoZero"/>
        <c:auto val="1"/>
        <c:lblAlgn val="ctr"/>
        <c:lblOffset val="100"/>
        <c:noMultiLvlLbl val="0"/>
      </c:catAx>
      <c:valAx>
        <c:axId val="2923791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crossAx val="292378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defRPr>
          </a:pPr>
          <a:endParaRPr lang="id-ID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12625C-9CCD-3846-9A2B-61F06FB0F3B1}" type="datetimeFigureOut">
              <a:t>14/09/2022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C088C-ED8F-B845-ADE1-D56E600C70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745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trike="sngStrike" dirty="0"/>
              <a:t>PAP PT. Indonesia Power </a:t>
            </a:r>
            <a:r>
              <a:rPr lang="en-US" strike="sngStrike" dirty="0" err="1"/>
              <a:t>sudah</a:t>
            </a:r>
            <a:r>
              <a:rPr lang="en-US" strike="sngStrike" dirty="0"/>
              <a:t> </a:t>
            </a:r>
            <a:r>
              <a:rPr lang="en-US" strike="sngStrike" dirty="0" err="1"/>
              <a:t>disetor</a:t>
            </a:r>
            <a:r>
              <a:rPr lang="en-US" strike="sngStrike" dirty="0"/>
              <a:t> 26 April 2022 </a:t>
            </a:r>
            <a:r>
              <a:rPr lang="en-US" strike="sngStrike" dirty="0" err="1"/>
              <a:t>sebesar</a:t>
            </a:r>
            <a:r>
              <a:rPr lang="en-US" strike="sngStrike" dirty="0"/>
              <a:t> Rp.590.152.365, </a:t>
            </a:r>
            <a:r>
              <a:rPr lang="en-US" strike="sngStrike" dirty="0" err="1"/>
              <a:t>sehingga</a:t>
            </a:r>
            <a:r>
              <a:rPr lang="en-US" strike="sngStrike" dirty="0"/>
              <a:t> </a:t>
            </a:r>
            <a:r>
              <a:rPr lang="en-US" strike="sngStrike" dirty="0" err="1"/>
              <a:t>realisasi</a:t>
            </a:r>
            <a:r>
              <a:rPr lang="en-US" strike="sngStrike" dirty="0"/>
              <a:t> per </a:t>
            </a:r>
            <a:r>
              <a:rPr lang="en-US" strike="sngStrike" dirty="0" err="1"/>
              <a:t>hari</a:t>
            </a:r>
            <a:r>
              <a:rPr lang="en-US" strike="sngStrike" dirty="0"/>
              <a:t> </a:t>
            </a:r>
            <a:r>
              <a:rPr lang="en-US" strike="sngStrike" dirty="0" err="1"/>
              <a:t>ini</a:t>
            </a:r>
            <a:r>
              <a:rPr lang="en-US" strike="sngStrike" dirty="0"/>
              <a:t> </a:t>
            </a:r>
            <a:r>
              <a:rPr lang="en-US" strike="sngStrike" dirty="0" err="1"/>
              <a:t>mencapai</a:t>
            </a:r>
            <a:r>
              <a:rPr lang="en-US" strike="sngStrike" dirty="0"/>
              <a:t> </a:t>
            </a:r>
            <a:r>
              <a:rPr lang="en-ID" sz="1200" b="0" i="0" u="none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5.714.991.856</a:t>
            </a:r>
            <a:r>
              <a:rPr lang="en-ID" strike="sngStrike" dirty="0"/>
              <a:t> </a:t>
            </a:r>
            <a:r>
              <a:rPr lang="en-ID" strike="sngStrike" dirty="0" err="1"/>
              <a:t>atau</a:t>
            </a:r>
            <a:r>
              <a:rPr lang="en-ID" strike="sngStrike" dirty="0"/>
              <a:t> </a:t>
            </a:r>
            <a:r>
              <a:rPr lang="en-ID" sz="1200" b="0" i="0" u="none" strike="sng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33,14%</a:t>
            </a:r>
            <a:r>
              <a:rPr lang="en-ID" strike="sngStrike" dirty="0"/>
              <a:t> </a:t>
            </a:r>
            <a:endParaRPr lang="en-US" strike="sngStrik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6DDD7-75EB-E744-B531-982EB68AA7E4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491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6DDD7-75EB-E744-B531-982EB68AA7E4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0051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6DDD7-75EB-E744-B531-982EB68AA7E4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822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5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4884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569234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8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7520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9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7112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10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54245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7544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FB1A8-6AFE-4EAB-8A71-9EB8CD7A4046}" type="slidenum">
              <a:rPr lang="en-ID" smtClean="0"/>
              <a:t>12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7136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6DDD7-75EB-E744-B531-982EB68AA7E4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888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6DDD7-75EB-E744-B531-982EB68AA7E4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69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96DDD7-75EB-E744-B531-982EB68AA7E4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469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48C6F2-1E3A-6A4E-8F09-4AE8CACD41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76B08643-3802-9C4A-92B7-C06C8EA18F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1EEFDE-8957-3141-83F8-AACC5F38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37675DD-88C7-A04D-B0F5-544D53078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F7C910-3622-5247-A37E-276ABC7B0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17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5CA370-9180-4941-9EE0-528344197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A1C92BE-9E17-2C4F-BD60-30A3A1C1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7D7BB4-BE61-404F-B969-2239E09ED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BBCD4C4-92F6-4548-9F6D-52908E297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9DE464A-FC93-724D-874B-058D3E05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1099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88C7D73-790D-DE41-B6D0-364A17B1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AAAF217-66D3-B548-8642-BB0A2DE0B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70873F0-75E9-5C4F-9151-2740831AA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83C2CAD-A0B3-2D4B-BA78-3F54912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5998E74-5EB0-9941-9DCC-A26258D2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963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87E1E99-A606-624A-83BE-2DA6A200D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34219B-9405-544E-83BC-2ECBA3588F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83D634B6-2A12-D64D-B5B1-B7E663F91C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CFEE406-9626-B749-B742-1A88F976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355D7DD-45E4-7B49-97EA-BD6A32827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72D5C84-FC67-564D-8264-89A763581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90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E68AD1-5EF9-2A41-A127-11E28093A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0F22328-CFA3-244C-9F2E-9AFB871D5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C1D611A-58E1-314B-A504-60074B8AA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FF5BBF15-19F7-B845-9BBB-F4AF7274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8EAED1FC-AF3C-034E-97A9-136566CF0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F6612B8F-C0B6-A74B-AF0C-3809E81F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1CBB20B6-30FA-6A4B-A0EA-4D7F9A11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6AF400E-C6D9-BB49-81F9-D203A1A3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960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C5815E-789D-4749-BB44-F9A21CDB9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955B9B4-23AE-8E40-8945-E515D3B6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16308C0-8CE8-294A-8E22-2716E112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059690A-8155-984B-8D19-6CC18F72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39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DEB7E533-0FC2-934D-802B-889F5A492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293B67F3-59C5-B648-B5D9-A94ADF5E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3DE6BB4-3096-8E43-82BC-9CFA72B20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8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722112A-60EE-0241-98A9-BB67AA785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0D4FC0-A6DD-574D-8E5C-D96BE89A6A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AAB19CFD-FCF3-2B43-9390-CC39CEDE8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C3EF620-D111-2C48-A3EE-90FEF1F03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B970EFB-CA1E-4C46-B6D2-8A1CB6F93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E0E54BB1-FE30-684F-A5FD-11C72429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1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92B1AF8-E292-424B-A0A0-3C30C3B5C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C59D9F9D-AD00-1045-8863-FA3E69C85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09D7BC98-E3D6-C941-87CE-59CF1E9BBA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46CCE28-29F8-444A-BA65-63FEA2C60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ECD86B7-28A7-3F41-976E-2AC50C92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C9EFCA92-09F3-934D-B8E5-E9E1A1F0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77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CA697DD-E60B-3443-93B3-1D8ABEC6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6BF0C9F5-E421-694B-B8B7-BFE1E6CAB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44E34B-1C98-074D-8442-2322E775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42F32F-9090-C948-A0C1-292936198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73695A-1C52-944A-A4D5-F14153AD0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20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7633118-011E-5443-A86F-BBE94C8D74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0240E4BC-1914-E14B-AF85-82A2B51A0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F8D764-F536-984A-BEFC-F6F50875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178298F-306C-A04B-AFF0-0AAFDAC00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C457719-1368-5343-ACAF-1402CF9FF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36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B27E5D5-8784-9746-83E9-76C9D1BAB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D4EA3E7-418D-9948-8773-630EA7FE7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1B82A8B-70FE-C640-9FE1-A5D3D6F8A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26BFD6-E18E-4C4F-91B2-9AFDD4634945}" type="datetimeFigureOut">
              <a:t>14/09/2022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2743FAE-93D0-AC42-9D40-2A4720D4C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EA80AD0-6C82-5840-9B28-882E30A89B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23C393-41C8-BD48-9C25-2D2E29C635B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8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slide" Target="slide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3CF46BF-C57B-9C4F-93D2-AC843D460601}"/>
              </a:ext>
            </a:extLst>
          </p:cNvPr>
          <p:cNvSpPr/>
          <p:nvPr/>
        </p:nvSpPr>
        <p:spPr>
          <a:xfrm>
            <a:off x="-1" y="-6349"/>
            <a:ext cx="12200309" cy="686434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2000" b="1" dirty="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2400" b="1" dirty="0">
                <a:solidFill>
                  <a:srgbClr val="AB79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EVALUASI KINERJA</a:t>
            </a:r>
          </a:p>
          <a:p>
            <a:pPr algn="ctr"/>
            <a:r>
              <a:rPr lang="en-US" sz="2400" b="1" dirty="0">
                <a:solidFill>
                  <a:srgbClr val="AB794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BIDANG RETRIBUSI DAN PENDAPATAN LAIN</a:t>
            </a:r>
          </a:p>
          <a:p>
            <a:pPr algn="ctr"/>
            <a:r>
              <a:rPr 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BAPENDA PROVINSI JAWA TENGAH</a:t>
            </a:r>
          </a:p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[BULAN </a:t>
            </a:r>
            <a:r>
              <a:rPr 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</a:t>
            </a: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2022]</a:t>
            </a:r>
          </a:p>
          <a:p>
            <a:pPr algn="ctr"/>
            <a:endParaRPr lang="en-US" sz="1400" b="1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endParaRPr lang="en-US" sz="1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Semarang, </a:t>
            </a:r>
            <a:r>
              <a:rPr lang="id-ID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1</a:t>
            </a:r>
            <a:r>
              <a:rPr 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5 September 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2022 </a:t>
            </a:r>
          </a:p>
          <a:p>
            <a:pPr algn="ctr"/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© |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Bidang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Retribusi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&amp; PL,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Bapenda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Provinsi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Jawa</a:t>
            </a:r>
            <a:r>
              <a: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Tengah | 2022</a:t>
            </a:r>
          </a:p>
        </p:txBody>
      </p:sp>
    </p:spTree>
    <p:extLst>
      <p:ext uri="{BB962C8B-B14F-4D97-AF65-F5344CB8AC3E}">
        <p14:creationId xmlns:p14="http://schemas.microsoft.com/office/powerpoint/2010/main" val="42598661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7BADCD5B-D381-A04A-A882-CAEDED610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2263969"/>
              </p:ext>
            </p:extLst>
          </p:nvPr>
        </p:nvGraphicFramePr>
        <p:xfrm>
          <a:off x="374755" y="990672"/>
          <a:ext cx="11447957" cy="29150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1026">
                  <a:extLst>
                    <a:ext uri="{9D8B030D-6E8A-4147-A177-3AD203B41FA5}">
                      <a16:colId xmlns="" xmlns:a16="http://schemas.microsoft.com/office/drawing/2014/main" val="2263069835"/>
                    </a:ext>
                  </a:extLst>
                </a:gridCol>
                <a:gridCol w="1517255">
                  <a:extLst>
                    <a:ext uri="{9D8B030D-6E8A-4147-A177-3AD203B41FA5}">
                      <a16:colId xmlns="" xmlns:a16="http://schemas.microsoft.com/office/drawing/2014/main" val="465166370"/>
                    </a:ext>
                  </a:extLst>
                </a:gridCol>
                <a:gridCol w="1817323">
                  <a:extLst>
                    <a:ext uri="{9D8B030D-6E8A-4147-A177-3AD203B41FA5}">
                      <a16:colId xmlns="" xmlns:a16="http://schemas.microsoft.com/office/drawing/2014/main" val="2764344784"/>
                    </a:ext>
                  </a:extLst>
                </a:gridCol>
                <a:gridCol w="1648035">
                  <a:extLst>
                    <a:ext uri="{9D8B030D-6E8A-4147-A177-3AD203B41FA5}">
                      <a16:colId xmlns="" xmlns:a16="http://schemas.microsoft.com/office/drawing/2014/main" val="739737837"/>
                    </a:ext>
                  </a:extLst>
                </a:gridCol>
                <a:gridCol w="876336">
                  <a:extLst>
                    <a:ext uri="{9D8B030D-6E8A-4147-A177-3AD203B41FA5}">
                      <a16:colId xmlns="" xmlns:a16="http://schemas.microsoft.com/office/drawing/2014/main" val="2883160725"/>
                    </a:ext>
                  </a:extLst>
                </a:gridCol>
                <a:gridCol w="1648035">
                  <a:extLst>
                    <a:ext uri="{9D8B030D-6E8A-4147-A177-3AD203B41FA5}">
                      <a16:colId xmlns="" xmlns:a16="http://schemas.microsoft.com/office/drawing/2014/main" val="2237954009"/>
                    </a:ext>
                  </a:extLst>
                </a:gridCol>
                <a:gridCol w="876336">
                  <a:extLst>
                    <a:ext uri="{9D8B030D-6E8A-4147-A177-3AD203B41FA5}">
                      <a16:colId xmlns="" xmlns:a16="http://schemas.microsoft.com/office/drawing/2014/main" val="3579452619"/>
                    </a:ext>
                  </a:extLst>
                </a:gridCol>
                <a:gridCol w="1726994">
                  <a:extLst>
                    <a:ext uri="{9D8B030D-6E8A-4147-A177-3AD203B41FA5}">
                      <a16:colId xmlns="" xmlns:a16="http://schemas.microsoft.com/office/drawing/2014/main" val="2148223590"/>
                    </a:ext>
                  </a:extLst>
                </a:gridCol>
                <a:gridCol w="836617">
                  <a:extLst>
                    <a:ext uri="{9D8B030D-6E8A-4147-A177-3AD203B41FA5}">
                      <a16:colId xmlns="" xmlns:a16="http://schemas.microsoft.com/office/drawing/2014/main" val="2775792250"/>
                    </a:ext>
                  </a:extLst>
                </a:gridCol>
              </a:tblGrid>
              <a:tr h="96540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5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JENIS PAJAK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PENDAPATAN 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S.D.</a:t>
                      </a:r>
                    </a:p>
                    <a:p>
                      <a:pPr algn="ctr" fontAlgn="ctr"/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id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</a:t>
                      </a:r>
                      <a:r>
                        <a:rPr lang="en-US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</a:t>
                      </a:r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 2022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S.D.</a:t>
                      </a:r>
                    </a:p>
                    <a:p>
                      <a:pPr algn="ctr" fontAlgn="ctr"/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r>
                        <a:rPr lang="en-US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</a:t>
                      </a:r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2022</a:t>
                      </a: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5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PERTUMBUHAN</a:t>
                      </a:r>
                    </a:p>
                    <a:p>
                      <a:pPr algn="ctr" fontAlgn="ctr"/>
                      <a:r>
                        <a:rPr lang="en-US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JULI</a:t>
                      </a:r>
                      <a:r>
                        <a:rPr lang="en-ID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15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 </a:t>
                      </a:r>
                      <a:r>
                        <a:rPr lang="en-US" sz="15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</a:t>
                      </a:r>
                      <a:endParaRPr lang="en-ID" sz="15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9013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6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013" marB="0"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14053595"/>
                  </a:ext>
                </a:extLst>
              </a:tr>
              <a:tr h="478901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4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4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PBBKB</a:t>
                      </a:r>
                    </a:p>
                  </a:txBody>
                  <a:tcPr marL="72000" marR="72000" marT="901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2.156.225.094.000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1.220.039.858.616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56,58%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1.411.083.355.923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65,44%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191.043.497.307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15,66%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45939641"/>
                  </a:ext>
                </a:extLst>
              </a:tr>
              <a:tr h="51294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4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4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PAJAK AIR PERMUKAAN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17.243.453.000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11.225.951.525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65,10</a:t>
                      </a:r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12.351.243.591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71,63%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1.125.292.066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10,02%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57025855"/>
                  </a:ext>
                </a:extLst>
              </a:tr>
              <a:tr h="478901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4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4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4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PAJAK ROKOK</a:t>
                      </a:r>
                    </a:p>
                  </a:txBody>
                  <a:tcPr marL="72000" marR="72000" marT="901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2.834.423.506.000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1.931.287.518.174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68,14%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1.931.287.518.174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68,14%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0,00%</a:t>
                      </a:r>
                      <a:endParaRPr lang="en-US" sz="1600" b="0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434716330"/>
                  </a:ext>
                </a:extLst>
              </a:tr>
              <a:tr h="478901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D" sz="14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</a:p>
                  </a:txBody>
                  <a:tcPr marL="72000" marR="72000" marT="9013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5.007.892.053.000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1" i="0" u="none" strike="noStrike" kern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3.162.553.328.315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63,15%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3.354.722.117.688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id-ID" sz="16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66</a:t>
                      </a:r>
                      <a:r>
                        <a:rPr lang="en-US" sz="16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,</a:t>
                      </a:r>
                      <a:r>
                        <a:rPr lang="id-ID" sz="16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99</a:t>
                      </a:r>
                      <a:r>
                        <a:rPr lang="en-US" sz="16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</a:t>
                      </a:r>
                      <a:endParaRPr 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192.168.789.373</a:t>
                      </a: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0" hangingPunct="1"/>
                      <a:r>
                        <a:rPr lang="en-US" sz="16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6,08</a:t>
                      </a:r>
                      <a:r>
                        <a:rPr lang="id-ID" sz="1600" b="1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%</a:t>
                      </a:r>
                      <a:endParaRPr lang="en-US" sz="16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86629446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0" y="1"/>
            <a:ext cx="121920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DAN REALISASI PAJAK LAIN</a:t>
            </a:r>
          </a:p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170673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  <p:sp>
        <p:nvSpPr>
          <p:cNvPr id="9" name="Flowchart: Preparation 31">
            <a:extLst>
              <a:ext uri="{FF2B5EF4-FFF2-40B4-BE49-F238E27FC236}">
                <a16:creationId xmlns="" xmlns:a16="http://schemas.microsoft.com/office/drawing/2014/main" id="{899C2A61-C02C-3046-8094-791FD90D5EE3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2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" name="Picture 9">
            <a:hlinkClick r:id="rId3" action="ppaction://hlinksldjump"/>
            <a:extLst>
              <a:ext uri="{FF2B5EF4-FFF2-40B4-BE49-F238E27FC236}">
                <a16:creationId xmlns="" xmlns:a16="http://schemas.microsoft.com/office/drawing/2014/main" id="{E5C15EE9-C90B-DA4B-80D4-0C3905BF10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95E21BA-3D8E-5F47-ADD8-95D5C0C211BC}"/>
              </a:ext>
            </a:extLst>
          </p:cNvPr>
          <p:cNvSpPr/>
          <p:nvPr/>
        </p:nvSpPr>
        <p:spPr>
          <a:xfrm>
            <a:off x="374754" y="4282512"/>
            <a:ext cx="11447958" cy="1792798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Catatan</a:t>
            </a:r>
            <a:r>
              <a:rPr lang="en-US" dirty="0"/>
              <a:t> :</a:t>
            </a:r>
          </a:p>
          <a:p>
            <a:pPr marL="285750" indent="-285750">
              <a:spcAft>
                <a:spcPts val="300"/>
              </a:spcAft>
              <a:buFont typeface="Wingdings" pitchFamily="2" charset="2"/>
              <a:buChar char="ü"/>
            </a:pP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Pajak</a:t>
            </a:r>
            <a:r>
              <a:rPr lang="en-US" dirty="0"/>
              <a:t> </a:t>
            </a:r>
            <a:r>
              <a:rPr lang="en-US" dirty="0" err="1"/>
              <a:t>Rokok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tanggal</a:t>
            </a:r>
            <a:r>
              <a:rPr lang="en-US" dirty="0"/>
              <a:t> 28 April 2022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rincian</a:t>
            </a:r>
            <a:r>
              <a:rPr lang="en-US" dirty="0"/>
              <a:t> </a:t>
            </a:r>
            <a:r>
              <a:rPr lang="en-US" dirty="0" err="1"/>
              <a:t>sbb</a:t>
            </a:r>
            <a:r>
              <a:rPr lang="en-US" dirty="0"/>
              <a:t>: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Triwulan</a:t>
            </a:r>
            <a:r>
              <a:rPr lang="en-US" dirty="0"/>
              <a:t> IV </a:t>
            </a:r>
            <a:r>
              <a:rPr lang="en-US" dirty="0" err="1"/>
              <a:t>Kedua</a:t>
            </a:r>
            <a:r>
              <a:rPr lang="en-US" dirty="0"/>
              <a:t> 2021 (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Desember</a:t>
            </a:r>
            <a:r>
              <a:rPr lang="en-US" dirty="0"/>
              <a:t> 2021) </a:t>
            </a:r>
            <a:r>
              <a:rPr lang="en-US" dirty="0" err="1"/>
              <a:t>sebesar</a:t>
            </a:r>
            <a:r>
              <a:rPr lang="en-US" dirty="0"/>
              <a:t> </a:t>
            </a:r>
            <a:r>
              <a:rPr lang="en-US" dirty="0" err="1"/>
              <a:t>Rp</a:t>
            </a:r>
            <a:r>
              <a:rPr lang="en-US" dirty="0"/>
              <a:t>. 350.757.059.281,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Triwulan</a:t>
            </a:r>
            <a:r>
              <a:rPr lang="en-US" dirty="0"/>
              <a:t> I </a:t>
            </a:r>
            <a:r>
              <a:rPr lang="en-US" dirty="0" err="1"/>
              <a:t>Tahun</a:t>
            </a:r>
            <a:r>
              <a:rPr lang="en-US" dirty="0"/>
              <a:t> 2022 (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Januari</a:t>
            </a:r>
            <a:r>
              <a:rPr lang="en-US" dirty="0"/>
              <a:t> </a:t>
            </a:r>
            <a:r>
              <a:rPr lang="en-US" dirty="0" err="1"/>
              <a:t>s.d.</a:t>
            </a:r>
            <a:r>
              <a:rPr lang="en-US" dirty="0"/>
              <a:t> </a:t>
            </a:r>
            <a:r>
              <a:rPr lang="en-US" dirty="0" err="1"/>
              <a:t>Bulan</a:t>
            </a:r>
            <a:r>
              <a:rPr lang="en-US" dirty="0"/>
              <a:t> </a:t>
            </a:r>
            <a:r>
              <a:rPr lang="en-US" dirty="0" err="1"/>
              <a:t>Maret</a:t>
            </a:r>
            <a:r>
              <a:rPr lang="en-US" dirty="0"/>
              <a:t> 2022) </a:t>
            </a:r>
            <a:r>
              <a:rPr lang="en-US" dirty="0" err="1"/>
              <a:t>sebesar</a:t>
            </a:r>
            <a:r>
              <a:rPr lang="en-US" dirty="0"/>
              <a:t> </a:t>
            </a:r>
            <a:r>
              <a:rPr lang="en-US" dirty="0" err="1"/>
              <a:t>Rp</a:t>
            </a:r>
            <a:r>
              <a:rPr lang="en-US" dirty="0"/>
              <a:t>. </a:t>
            </a:r>
            <a:r>
              <a:rPr lang="en-US" dirty="0" smtClean="0"/>
              <a:t>743.314.614.606. 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US" dirty="0" err="1"/>
              <a:t>Pembayaran</a:t>
            </a:r>
            <a:r>
              <a:rPr lang="en-US" dirty="0"/>
              <a:t> </a:t>
            </a:r>
            <a:r>
              <a:rPr lang="en-US" dirty="0" err="1"/>
              <a:t>Pajak</a:t>
            </a:r>
            <a:r>
              <a:rPr lang="en-US" dirty="0"/>
              <a:t> </a:t>
            </a:r>
            <a:r>
              <a:rPr lang="en-US" dirty="0" err="1"/>
              <a:t>Rokok</a:t>
            </a:r>
            <a:r>
              <a:rPr lang="en-US" dirty="0"/>
              <a:t>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tanggal</a:t>
            </a:r>
            <a:r>
              <a:rPr lang="en-US" dirty="0"/>
              <a:t> 25 </a:t>
            </a:r>
            <a:r>
              <a:rPr lang="en-US" dirty="0" err="1"/>
              <a:t>Juli</a:t>
            </a:r>
            <a:r>
              <a:rPr lang="en-US" dirty="0"/>
              <a:t> </a:t>
            </a:r>
            <a:r>
              <a:rPr lang="en-US" dirty="0" smtClean="0"/>
              <a:t>2022 </a:t>
            </a:r>
            <a:r>
              <a:rPr lang="en-US" dirty="0" err="1" smtClean="0"/>
              <a:t>untuk</a:t>
            </a:r>
            <a:r>
              <a:rPr lang="en-US" dirty="0" smtClean="0"/>
              <a:t> </a:t>
            </a:r>
            <a:r>
              <a:rPr lang="en-US" dirty="0" err="1" smtClean="0"/>
              <a:t>Pembayaran</a:t>
            </a:r>
            <a:r>
              <a:rPr lang="en-US" dirty="0" smtClean="0"/>
              <a:t> </a:t>
            </a:r>
            <a:r>
              <a:rPr lang="en-US" dirty="0" err="1" smtClean="0"/>
              <a:t>Triwulan</a:t>
            </a:r>
            <a:r>
              <a:rPr lang="en-US" dirty="0" smtClean="0"/>
              <a:t> II </a:t>
            </a:r>
            <a:r>
              <a:rPr lang="en-US" dirty="0" err="1" smtClean="0"/>
              <a:t>Tahun</a:t>
            </a:r>
            <a:r>
              <a:rPr lang="en-US" dirty="0" smtClean="0"/>
              <a:t> 2022 (</a:t>
            </a:r>
            <a:r>
              <a:rPr lang="en-US" dirty="0" err="1" smtClean="0"/>
              <a:t>Bulan</a:t>
            </a:r>
            <a:r>
              <a:rPr lang="en-US" dirty="0" smtClean="0"/>
              <a:t> April </a:t>
            </a:r>
            <a:r>
              <a:rPr lang="en-US" dirty="0" err="1" smtClean="0"/>
              <a:t>s.d</a:t>
            </a:r>
            <a:r>
              <a:rPr lang="en-US" dirty="0"/>
              <a:t> </a:t>
            </a:r>
            <a:r>
              <a:rPr lang="en-US" dirty="0" err="1" smtClean="0"/>
              <a:t>Juni</a:t>
            </a:r>
            <a:r>
              <a:rPr lang="en-US" dirty="0" smtClean="0"/>
              <a:t> 2022) </a:t>
            </a:r>
            <a:r>
              <a:rPr lang="en-US" dirty="0" err="1" smtClean="0"/>
              <a:t>sebesar</a:t>
            </a:r>
            <a:r>
              <a:rPr lang="en-US" dirty="0" smtClean="0"/>
              <a:t> </a:t>
            </a:r>
            <a:r>
              <a:rPr lang="en-US" dirty="0" err="1" smtClean="0"/>
              <a:t>Rp</a:t>
            </a:r>
            <a:r>
              <a:rPr lang="en-US" dirty="0" smtClean="0"/>
              <a:t>.</a:t>
            </a:r>
            <a:r>
              <a:rPr lang="id-ID" dirty="0" smtClean="0"/>
              <a:t>837.215.844.287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3611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96DC89C-AB10-8C47-84CF-0163E646D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67079"/>
              </p:ext>
            </p:extLst>
          </p:nvPr>
        </p:nvGraphicFramePr>
        <p:xfrm>
          <a:off x="334779" y="990673"/>
          <a:ext cx="11522440" cy="5006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788">
                  <a:extLst>
                    <a:ext uri="{9D8B030D-6E8A-4147-A177-3AD203B41FA5}">
                      <a16:colId xmlns="" xmlns:a16="http://schemas.microsoft.com/office/drawing/2014/main" val="3759459132"/>
                    </a:ext>
                  </a:extLst>
                </a:gridCol>
                <a:gridCol w="2397913">
                  <a:extLst>
                    <a:ext uri="{9D8B030D-6E8A-4147-A177-3AD203B41FA5}">
                      <a16:colId xmlns="" xmlns:a16="http://schemas.microsoft.com/office/drawing/2014/main" val="3117052381"/>
                    </a:ext>
                  </a:extLst>
                </a:gridCol>
                <a:gridCol w="2397913">
                  <a:extLst>
                    <a:ext uri="{9D8B030D-6E8A-4147-A177-3AD203B41FA5}">
                      <a16:colId xmlns="" xmlns:a16="http://schemas.microsoft.com/office/drawing/2014/main" val="2585404529"/>
                    </a:ext>
                  </a:extLst>
                </a:gridCol>
                <a:gridCol w="2397913">
                  <a:extLst>
                    <a:ext uri="{9D8B030D-6E8A-4147-A177-3AD203B41FA5}">
                      <a16:colId xmlns="" xmlns:a16="http://schemas.microsoft.com/office/drawing/2014/main" val="2869969820"/>
                    </a:ext>
                  </a:extLst>
                </a:gridCol>
                <a:gridCol w="2397913">
                  <a:extLst>
                    <a:ext uri="{9D8B030D-6E8A-4147-A177-3AD203B41FA5}">
                      <a16:colId xmlns="" xmlns:a16="http://schemas.microsoft.com/office/drawing/2014/main" val="2629264218"/>
                    </a:ext>
                  </a:extLst>
                </a:gridCol>
              </a:tblGrid>
              <a:tr h="468393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1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BULAN</a:t>
                      </a:r>
                      <a:endParaRPr lang="en-ID" sz="16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 dirty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2019</a:t>
                      </a:r>
                      <a:endParaRPr lang="en-ID" sz="16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2020</a:t>
                      </a:r>
                      <a:endParaRPr lang="en-ID" sz="1600" b="1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2021</a:t>
                      </a:r>
                      <a:endParaRPr lang="en-ID" sz="1600" b="1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2022*</a:t>
                      </a:r>
                      <a:endParaRPr lang="en-ID" sz="1600" b="1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4321938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JANUARI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165.291.426.264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172.846.430.431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150.918.229.746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172.841.529.086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10420061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FEBRUARI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317.645.101.062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329.863.878.017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290.624.127.504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341.017.795.407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7725233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MARET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455.880.219.217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475.035.874.053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416.610.050.636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490.467.957.862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94712003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APRIL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609.236.375.127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620.301.398.415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572.339.517.095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667.521.027.401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53031611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MEI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762.903.493.586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732.301.164.849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724.586.021.179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848.036.958.973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00957911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JUNI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923.477.537.891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848.427.857.718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887.703.967.775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1.046.034.112.943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3784016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JULI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1.099.715.502.121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978.821.962.950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1.039.005.720.894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1.220.039.858.616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01441629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1.264.980.481.312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1.123.821.485.213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1.176.277.591.134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kern="12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1.411.083.355.923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65842350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SEPTEMBER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1.433.109.769.605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1.273.354.876.092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1.329.743.511.694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17190862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OKTOBER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1.591.921.000.941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1.419.303.021.523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1.490.309.650.327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7071357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NOVEMBER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1.762.375.631.702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1.571.087.088.684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1.661.437.631.897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41645218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b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DESEMBER</a:t>
                      </a:r>
                      <a:endParaRPr lang="en-ID" sz="1400" b="0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1.925.488.927.109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1.719.403.821.612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1.826.681.450.277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27428412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  <a:endParaRPr lang="en-ID" sz="1400" b="1" i="0" u="none" strike="noStrike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1.911.272.458.000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1.855.000.000.000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1.996.504.717.000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2.156.225.094.000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9279770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b="1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REALISASI*</a:t>
                      </a: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1.925.488.927.109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1.719.403.821.612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Tahoma" panose="020B0604030504040204" pitchFamily="34" charset="0"/>
                        </a:rPr>
                        <a:t>1.826.681.450.277 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600" b="1" i="0" u="none" strike="noStrike" kern="12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1.411.083.355.923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9031657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endParaRPr lang="en-ID" sz="1600" b="1" i="0" u="none" strike="noStrike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100,74%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i="0" u="none" strike="noStrike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92,69%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i="0" u="none" strike="noStrike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91,49%</a:t>
                      </a: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</a:t>
                      </a:r>
                      <a:r>
                        <a:rPr lang="en-ID" sz="1600" b="1" i="0" u="none" strike="no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en-US" sz="1600" b="1" i="0" u="none" strike="no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44</a:t>
                      </a:r>
                      <a:r>
                        <a:rPr lang="en-ID" sz="1600" b="1" i="0" u="none" strike="noStrike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  <a:endParaRPr lang="en-ID" sz="1600" b="1" i="0" u="none" strike="noStrike" dirty="0">
                        <a:solidFill>
                          <a:schemeClr val="bg1">
                            <a:lumMod val="8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36585553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0" y="1"/>
            <a:ext cx="121920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DAN REALISASI PAJAK BAHAN BAKAR KENDARAAN BERMOTOR  (PBBKB)</a:t>
            </a:r>
          </a:p>
          <a:p>
            <a:pPr algn="ctr"/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2019-2022*</a:t>
            </a:r>
          </a:p>
        </p:txBody>
      </p:sp>
      <p:sp>
        <p:nvSpPr>
          <p:cNvPr id="8" name="Flowchart: Preparation 31">
            <a:extLst>
              <a:ext uri="{FF2B5EF4-FFF2-40B4-BE49-F238E27FC236}">
                <a16:creationId xmlns="" xmlns:a16="http://schemas.microsoft.com/office/drawing/2014/main" id="{E5A152C0-26EB-6B4F-8A1D-11531BC91DB7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3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" name="Picture 9">
            <a:hlinkClick r:id="rId5" action="ppaction://hlinksldjump"/>
            <a:extLst>
              <a:ext uri="{FF2B5EF4-FFF2-40B4-BE49-F238E27FC236}">
                <a16:creationId xmlns="" xmlns:a16="http://schemas.microsoft.com/office/drawing/2014/main" id="{992A732F-2590-7846-876C-60028F18F5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170673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3281334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0" y="1"/>
            <a:ext cx="12192000" cy="1016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</a:t>
            </a:r>
            <a:r>
              <a:rPr lang="en-US" b="1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DAN REALISASI PAJAK AIR PERMUKAAN (PAP)</a:t>
            </a:r>
          </a:p>
          <a:p>
            <a:pPr algn="ctr"/>
            <a:r>
              <a:rPr lang="en-US" b="1">
                <a:solidFill>
                  <a:schemeClr val="tx2">
                    <a:lumMod val="5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2019-2022*</a:t>
            </a:r>
          </a:p>
        </p:txBody>
      </p:sp>
      <p:sp>
        <p:nvSpPr>
          <p:cNvPr id="8" name="Flowchart: Preparation 31">
            <a:extLst>
              <a:ext uri="{FF2B5EF4-FFF2-40B4-BE49-F238E27FC236}">
                <a16:creationId xmlns="" xmlns:a16="http://schemas.microsoft.com/office/drawing/2014/main" id="{6EA72E42-9EBD-C74C-AC28-C75645922EE7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4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0" name="Picture 9">
            <a:hlinkClick r:id="rId3" action="ppaction://hlinksldjump"/>
            <a:extLst>
              <a:ext uri="{FF2B5EF4-FFF2-40B4-BE49-F238E27FC236}">
                <a16:creationId xmlns="" xmlns:a16="http://schemas.microsoft.com/office/drawing/2014/main" id="{3745E6C5-519C-7045-8787-3A77B502E6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="" xmlns:a16="http://schemas.microsoft.com/office/drawing/2014/main" id="{C7C3ECC2-FB4F-0B41-8401-7DE6219F7C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466189"/>
              </p:ext>
            </p:extLst>
          </p:nvPr>
        </p:nvGraphicFramePr>
        <p:xfrm>
          <a:off x="334779" y="990673"/>
          <a:ext cx="11487933" cy="50067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5005">
                  <a:extLst>
                    <a:ext uri="{9D8B030D-6E8A-4147-A177-3AD203B41FA5}">
                      <a16:colId xmlns="" xmlns:a16="http://schemas.microsoft.com/office/drawing/2014/main" val="3759459132"/>
                    </a:ext>
                  </a:extLst>
                </a:gridCol>
                <a:gridCol w="2390732">
                  <a:extLst>
                    <a:ext uri="{9D8B030D-6E8A-4147-A177-3AD203B41FA5}">
                      <a16:colId xmlns="" xmlns:a16="http://schemas.microsoft.com/office/drawing/2014/main" val="3117052381"/>
                    </a:ext>
                  </a:extLst>
                </a:gridCol>
                <a:gridCol w="2390732">
                  <a:extLst>
                    <a:ext uri="{9D8B030D-6E8A-4147-A177-3AD203B41FA5}">
                      <a16:colId xmlns="" xmlns:a16="http://schemas.microsoft.com/office/drawing/2014/main" val="2585404529"/>
                    </a:ext>
                  </a:extLst>
                </a:gridCol>
                <a:gridCol w="2390732">
                  <a:extLst>
                    <a:ext uri="{9D8B030D-6E8A-4147-A177-3AD203B41FA5}">
                      <a16:colId xmlns="" xmlns:a16="http://schemas.microsoft.com/office/drawing/2014/main" val="2869969820"/>
                    </a:ext>
                  </a:extLst>
                </a:gridCol>
                <a:gridCol w="2390732">
                  <a:extLst>
                    <a:ext uri="{9D8B030D-6E8A-4147-A177-3AD203B41FA5}">
                      <a16:colId xmlns="" xmlns:a16="http://schemas.microsoft.com/office/drawing/2014/main" val="2629264218"/>
                    </a:ext>
                  </a:extLst>
                </a:gridCol>
              </a:tblGrid>
              <a:tr h="468393">
                <a:tc>
                  <a:txBody>
                    <a:bodyPr/>
                    <a:lstStyle/>
                    <a:p>
                      <a:pPr algn="l" fontAlgn="b"/>
                      <a:r>
                        <a:rPr lang="en-ID" sz="1600" b="1" u="none" strike="noStrike" dirty="0">
                          <a:solidFill>
                            <a:schemeClr val="bg2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BULAN</a:t>
                      </a:r>
                      <a:endParaRPr lang="en-ID" sz="1600" b="1" i="0" u="none" strike="noStrike" dirty="0"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2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2019</a:t>
                      </a:r>
                      <a:endParaRPr lang="en-ID" sz="1600" b="1" i="0" u="none" strike="noStrike"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2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2020</a:t>
                      </a:r>
                      <a:endParaRPr lang="en-ID" sz="1600" b="1" i="0" u="none" strike="noStrike"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2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2021</a:t>
                      </a:r>
                      <a:endParaRPr lang="en-ID" sz="1600" b="1" i="0" u="none" strike="noStrike"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600" b="1" u="none" strike="noStrike">
                          <a:solidFill>
                            <a:schemeClr val="bg2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600" b="1" i="0" u="none" strike="noStrike">
                        <a:solidFill>
                          <a:schemeClr val="bg2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4321938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JANUARI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1.525.174.153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1.216.436.915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1.280.482.809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1.623.254.128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10420061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FEBRUARI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2.330.124.815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2.641.284.039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2.207.265.775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2.385.947.761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7725233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MARET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4.024.692.594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4.349.974.036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3.783.087.187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4.666.212.286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94712003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APRIL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5.111.595.244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5.180.504.365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6.025.373.161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5.124.839.491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53031611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MEI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6.903.528.126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6.752.431.314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7.303.621.922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8.040.451.339</a:t>
                      </a: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00957911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JUNI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8.575.988.308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8.550.049.004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8.824.802.535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kern="12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9.667.473.481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23784016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JULI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9.412.607.517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9.704.739.279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9.934.364.913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11.225.951.525</a:t>
                      </a:r>
                    </a:p>
                  </a:txBody>
                  <a:tcPr marL="9525" marR="9525" marT="9525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01441629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10.342.871.717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10.912.327.284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11.563.068.974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kern="12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12.351.243.591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65842350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SEPTEMBER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11.692.923.730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12.480.670.833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12.548.202.421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17190862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OKTOBER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12.932.770.922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13.328.837.471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13.962.952.966 </a:t>
                      </a:r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7071357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NOVEMBER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13.620.067.700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14.382.761.717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14.944.146.326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41645218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b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DESEMBER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14.320.954.591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16.056.164.261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17.243.479.154 </a:t>
                      </a:r>
                      <a:endParaRPr lang="en-ID" sz="1400" b="0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en-ID" sz="1400" b="0" i="0" u="none" strike="noStrike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27428412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  <a:endParaRPr lang="en-ID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13.276.000.000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13.268.000.000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i="0" u="none" strike="noStrike" kern="12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15.224.117.000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i="0" u="none" strike="noStrike" kern="12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17.243.453.000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9279770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ID" sz="14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REALISASI*</a:t>
                      </a: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14.320.954.591 </a:t>
                      </a:r>
                      <a:endParaRPr lang="en-ID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16.056.164.261 </a:t>
                      </a:r>
                      <a:endParaRPr lang="en-ID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1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17.243.479.154 </a:t>
                      </a:r>
                      <a:endParaRPr lang="en-ID" sz="14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1" i="0" u="none" strike="noStrike" kern="1200" dirty="0" smtClean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12.351.243.591</a:t>
                      </a: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9031657"/>
                  </a:ext>
                </a:extLst>
              </a:tr>
              <a:tr h="302555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CAPAIAN</a:t>
                      </a:r>
                      <a:endParaRPr lang="en-ID" sz="16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107,87%</a:t>
                      </a:r>
                      <a:endParaRPr lang="en-ID" sz="16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121,01%</a:t>
                      </a:r>
                      <a:endParaRPr lang="en-ID" sz="16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113,26%</a:t>
                      </a:r>
                      <a:endParaRPr lang="en-ID" sz="1600" b="1" i="0" u="none" strike="noStrike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71</a:t>
                      </a:r>
                      <a:r>
                        <a:rPr lang="en-ID" sz="16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en-US" sz="16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63</a:t>
                      </a:r>
                      <a:r>
                        <a:rPr lang="en-ID" sz="16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  <a:endParaRPr lang="en-ID" sz="16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7200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365855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170673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2333464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1" y="129309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REALISASI PENERIMAAN PAJAK AIR PERMUKAAN (PAP) PER UPPD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S.D. BULAN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 </a:t>
            </a:r>
          </a:p>
        </p:txBody>
      </p:sp>
      <p:sp>
        <p:nvSpPr>
          <p:cNvPr id="5" name="Flowchart: Preparation 31">
            <a:extLst>
              <a:ext uri="{FF2B5EF4-FFF2-40B4-BE49-F238E27FC236}">
                <a16:creationId xmlns="" xmlns:a16="http://schemas.microsoft.com/office/drawing/2014/main" id="{E5588342-FEDA-604C-A83D-1622270E21D8}"/>
              </a:ext>
            </a:extLst>
          </p:cNvPr>
          <p:cNvSpPr/>
          <p:nvPr/>
        </p:nvSpPr>
        <p:spPr>
          <a:xfrm>
            <a:off x="11441712" y="6418019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5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33A96910-98A9-964E-8439-262501D2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89211"/>
              </p:ext>
            </p:extLst>
          </p:nvPr>
        </p:nvGraphicFramePr>
        <p:xfrm>
          <a:off x="350994" y="1253333"/>
          <a:ext cx="5482432" cy="51654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86985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SEMARANG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1.300.000.000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1.023.872.085,00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78,76%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KENDAL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51.000.000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50.013.712,00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98,07%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DEMAK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225.800.000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145.778.300,00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64,56%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GROBOGAN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947.278.000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629.797.915,00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66,49%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PATI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80.100.000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54.797.159,00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68,41%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KUDUS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1.100.000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4.474.770,00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406,80%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3683885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JEPARA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11.500.000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8.215.000,00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71,43%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5538200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REMBANG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86.800.000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58.324.585,00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67,19%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8640123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BLORA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93.400.000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57.152.500,00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61,19%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60171515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PKL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288.000.000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217.564.090,00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75,54%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1078809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BATANG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352.700.000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264.361.000,00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74,95%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86928163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PEMALANG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215.400.000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152.875.800,00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70,97%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22425849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TEGAL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315.000.000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238.004.807,00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75,56%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16950124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BREBES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217.500.000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150.181.095,00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69,05%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00833295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BANYUMAS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754.934.000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532.952.390,00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70,60%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00225946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CILACAP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3.891.000.000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2.335.742.762,00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60,03%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54380907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PBG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339.500.000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282.459.950,00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83,20%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21889273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BNA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2.700.000.000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2.492.308.860,00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92,31%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6885610"/>
                  </a:ext>
                </a:extLst>
              </a:tr>
              <a:tr h="21477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MAGELANG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720.200.000 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449.988.350,00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62,48%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230583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7AC3105-9B73-AA40-8E43-85FB1CF6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114137"/>
              </p:ext>
            </p:extLst>
          </p:nvPr>
        </p:nvGraphicFramePr>
        <p:xfrm>
          <a:off x="6358576" y="1253333"/>
          <a:ext cx="5482432" cy="50792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91648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1081150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83043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TMG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243.200.000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174.414.390,00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71,72%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WONOSOBO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584.605.000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397.106.662,00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67,93%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5302930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PWJ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111.600.000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75.222.810,00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67,40%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KEBUMEN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765.000.000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593.501.435,00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77,58%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KLATEN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554.100.000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376.153.000,00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67,89%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2616187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BOYOLALI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165.468.000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112.993.600,00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68,29%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3334818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SRAGEN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4.100.000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3.932.500,00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95,91%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1853532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SUKOHARJO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354.800.000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203.086.439,00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57,24%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202385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KRA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417.300.000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273.254.500,00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65,48%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218989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KAB. WONOGIRI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355.168.000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228.459.925,00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64,32%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4055009"/>
                  </a:ext>
                </a:extLst>
              </a:tr>
              <a:tr h="260034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SMG 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87703845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SMG II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619.500.000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386.598.500,00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62,40%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0764074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32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SMG III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268.600.000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239.318.100,00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89,10%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0900162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PKL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7763866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SURAKARTA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55.600.000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33.180.500,00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59,68%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30252731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SALATIGA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48.000.000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32.318.100,00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67,33%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38173527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TEGAL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-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3763597"/>
                  </a:ext>
                </a:extLst>
              </a:tr>
              <a:tr h="20504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KOTA MAGELANG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105.200.000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72.838.000,00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69,24%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60348643"/>
                  </a:ext>
                </a:extLst>
              </a:tr>
              <a:tr h="297950">
                <a:tc>
                  <a:txBody>
                    <a:bodyPr/>
                    <a:lstStyle/>
                    <a:p>
                      <a:pPr algn="ctr" rtl="0" fontAlgn="ctr"/>
                      <a:endParaRPr lang="id-ID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id-ID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</a:p>
                  </a:txBody>
                  <a:tcPr marL="72000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17.243.453.000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</a:rPr>
                        <a:t>12.351.243.591,00 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/>
                        </a:rPr>
                        <a:t>71,63%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4382514"/>
                  </a:ext>
                </a:extLst>
              </a:tr>
            </a:tbl>
          </a:graphicData>
        </a:graphic>
      </p:graphicFrame>
      <p:pic>
        <p:nvPicPr>
          <p:cNvPr id="13" name="Picture 12">
            <a:hlinkClick r:id="rId3" action="ppaction://hlinksldjump"/>
            <a:extLst>
              <a:ext uri="{FF2B5EF4-FFF2-40B4-BE49-F238E27FC236}">
                <a16:creationId xmlns="" xmlns:a16="http://schemas.microsoft.com/office/drawing/2014/main" id="{F0C964AC-B828-104F-9CDC-D346A360D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0496" y="6437446"/>
            <a:ext cx="429812" cy="3421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501766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18229087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1" y="129309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UPPD DENGAN PERFORMA TERTINGGI DAN TERRENDAH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 CAPAIAN PENERIMAAN PAJAK AIR PERMUKAAN (PAP) S.D.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 TAHUN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33A96910-98A9-964E-8439-262501D2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735454"/>
              </p:ext>
            </p:extLst>
          </p:nvPr>
        </p:nvGraphicFramePr>
        <p:xfrm>
          <a:off x="350994" y="1253332"/>
          <a:ext cx="5482432" cy="4861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589531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239516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478071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823015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159805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538256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5450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l-PL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KAB. K U D U 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1.100.000,00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4.474.770,00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406,80%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5450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KAB. K E N D A 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51.000.000,00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50.013.712,00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98,07%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5450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KAB. SRAGEN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4.100.000,00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3.932.500,00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95,91%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5450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KAB. BANJARNEGARA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2.700.000.000,00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2.492.308.860,00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92,31%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5450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KOTA SEMARANG III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268.600.000,00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239.318.100,00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89,10%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7AC3105-9B73-AA40-8E43-85FB1CF6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019466"/>
              </p:ext>
            </p:extLst>
          </p:nvPr>
        </p:nvGraphicFramePr>
        <p:xfrm>
          <a:off x="6358576" y="1253332"/>
          <a:ext cx="5482432" cy="48617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172475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517361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523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KAB. SUKOHARJO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354.800.000,00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203.086.439,00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57,24%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523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KOTA SURAKARTA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55.600.000,00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33.180.500,00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59,68%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60203215"/>
                  </a:ext>
                </a:extLst>
              </a:tr>
              <a:tr h="523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KOTA SEMARANG 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5302930"/>
                  </a:ext>
                </a:extLst>
              </a:tr>
              <a:tr h="523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KOTA PEKALONGAN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52392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KOTA TEGAL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-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</a:tbl>
          </a:graphicData>
        </a:graphic>
      </p:graphicFrame>
      <p:sp>
        <p:nvSpPr>
          <p:cNvPr id="10" name="Flowchart: Preparation 31">
            <a:extLst>
              <a:ext uri="{FF2B5EF4-FFF2-40B4-BE49-F238E27FC236}">
                <a16:creationId xmlns="" xmlns:a16="http://schemas.microsoft.com/office/drawing/2014/main" id="{14DA5BCB-1771-7B4F-BC6A-82B505B2B523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6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1" name="Picture 10">
            <a:hlinkClick r:id="rId3" action="ppaction://hlinksldjump"/>
            <a:extLst>
              <a:ext uri="{FF2B5EF4-FFF2-40B4-BE49-F238E27FC236}">
                <a16:creationId xmlns="" xmlns:a16="http://schemas.microsoft.com/office/drawing/2014/main" id="{4989A5D1-20D2-CF4E-96B0-FAF0C6612B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42963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13836035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0" y="1"/>
            <a:ext cx="12192000" cy="101600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DAN REALISASI PAJAK ROKOK (PR)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2019-2022*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="" xmlns:a16="http://schemas.microsoft.com/office/drawing/2014/main" id="{AF7D13A7-935C-9149-98B2-2F87C62D7B41}"/>
              </a:ext>
            </a:extLst>
          </p:cNvPr>
          <p:cNvGrpSpPr/>
          <p:nvPr/>
        </p:nvGrpSpPr>
        <p:grpSpPr>
          <a:xfrm>
            <a:off x="5966696" y="990673"/>
            <a:ext cx="5856016" cy="4966374"/>
            <a:chOff x="7669601" y="814647"/>
            <a:chExt cx="4039799" cy="5510864"/>
          </a:xfrm>
        </p:grpSpPr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6861FBA-00CD-2C46-9F04-979447E2E1BC}"/>
                </a:ext>
              </a:extLst>
            </p:cNvPr>
            <p:cNvSpPr/>
            <p:nvPr/>
          </p:nvSpPr>
          <p:spPr>
            <a:xfrm>
              <a:off x="7669601" y="814647"/>
              <a:ext cx="4039799" cy="3153717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40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="" xmlns:a16="http://schemas.microsoft.com/office/drawing/2014/main" id="{CFC20E1D-48B3-5249-A63E-C70839A3917D}"/>
                </a:ext>
              </a:extLst>
            </p:cNvPr>
            <p:cNvGrpSpPr/>
            <p:nvPr/>
          </p:nvGrpSpPr>
          <p:grpSpPr>
            <a:xfrm>
              <a:off x="7827155" y="1184895"/>
              <a:ext cx="3786269" cy="2319095"/>
              <a:chOff x="7783375" y="349437"/>
              <a:chExt cx="4116525" cy="2523298"/>
            </a:xfrm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</p:grpSpPr>
          <p:pic>
            <p:nvPicPr>
              <p:cNvPr id="21" name="Picture 20">
                <a:extLst>
                  <a:ext uri="{FF2B5EF4-FFF2-40B4-BE49-F238E27FC236}">
                    <a16:creationId xmlns="" xmlns:a16="http://schemas.microsoft.com/office/drawing/2014/main" id="{232ADE3B-3A40-2D4F-BE53-F6385684FB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83375" y="349437"/>
                <a:ext cx="1784842" cy="2523298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12700" cap="sq">
                <a:solidFill>
                  <a:schemeClr val="tx1"/>
                </a:solidFill>
                <a:miter lim="800000"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p3d prstMaterial="matte">
                <a:bevelT w="127000" h="63500"/>
              </a:sp3d>
            </p:spPr>
          </p:pic>
          <p:pic>
            <p:nvPicPr>
              <p:cNvPr id="22" name="Picture 21">
                <a:extLst>
                  <a:ext uri="{FF2B5EF4-FFF2-40B4-BE49-F238E27FC236}">
                    <a16:creationId xmlns="" xmlns:a16="http://schemas.microsoft.com/office/drawing/2014/main" id="{55E9ABED-A853-FD48-A6B4-CE3DB239F1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41954" y="349437"/>
                <a:ext cx="1766074" cy="2523298"/>
              </a:xfrm>
              <a:prstGeom prst="round2DiagRect">
                <a:avLst>
                  <a:gd name="adj1" fmla="val 16667"/>
                  <a:gd name="adj2" fmla="val 0"/>
                </a:avLst>
              </a:prstGeom>
              <a:ln w="12700" cap="sq">
                <a:solidFill>
                  <a:schemeClr val="tx1"/>
                </a:solidFill>
                <a:miter lim="800000"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p3d prstMaterial="matte">
                <a:bevelT w="127000" h="63500"/>
              </a:sp3d>
            </p:spPr>
          </p:pic>
          <p:sp>
            <p:nvSpPr>
              <p:cNvPr id="23" name="Teardrop 22">
                <a:extLst>
                  <a:ext uri="{FF2B5EF4-FFF2-40B4-BE49-F238E27FC236}">
                    <a16:creationId xmlns="" xmlns:a16="http://schemas.microsoft.com/office/drawing/2014/main" id="{8F508472-D4DE-C148-99A2-6D90B0FD02F5}"/>
                  </a:ext>
                </a:extLst>
              </p:cNvPr>
              <p:cNvSpPr/>
              <p:nvPr/>
            </p:nvSpPr>
            <p:spPr>
              <a:xfrm>
                <a:off x="7912904" y="1842378"/>
                <a:ext cx="110438" cy="56780"/>
              </a:xfrm>
              <a:prstGeom prst="teardrop">
                <a:avLst/>
              </a:prstGeom>
              <a:noFill/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p3d prstMaterial="matte">
                <a:bevelT w="127000"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ardrop 23">
                <a:extLst>
                  <a:ext uri="{FF2B5EF4-FFF2-40B4-BE49-F238E27FC236}">
                    <a16:creationId xmlns="" xmlns:a16="http://schemas.microsoft.com/office/drawing/2014/main" id="{DEC8F758-AD02-CE46-9305-B81B3DA2BD13}"/>
                  </a:ext>
                </a:extLst>
              </p:cNvPr>
              <p:cNvSpPr/>
              <p:nvPr/>
            </p:nvSpPr>
            <p:spPr>
              <a:xfrm>
                <a:off x="9060304" y="1852768"/>
                <a:ext cx="402566" cy="56780"/>
              </a:xfrm>
              <a:prstGeom prst="teardrop">
                <a:avLst/>
              </a:prstGeom>
              <a:noFill/>
              <a:ln>
                <a:noFill/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p3d prstMaterial="matte">
                <a:bevelT w="127000" h="635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5" name="Picture 24">
                <a:extLst>
                  <a:ext uri="{FF2B5EF4-FFF2-40B4-BE49-F238E27FC236}">
                    <a16:creationId xmlns="" xmlns:a16="http://schemas.microsoft.com/office/drawing/2014/main" id="{98C6F2F2-CA72-5E4A-A6A8-10FCE21594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83376" y="2011425"/>
                <a:ext cx="4116524" cy="28184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190500" dist="228600" dir="2700000" algn="ctr">
                  <a:srgbClr val="000000">
                    <a:alpha val="30000"/>
                  </a:srgbClr>
                </a:outerShdw>
              </a:effectLst>
              <a:sp3d prstMaterial="matte">
                <a:bevelT w="127000" h="63500"/>
              </a:sp3d>
            </p:spPr>
          </p:pic>
        </p:grpSp>
        <p:sp>
          <p:nvSpPr>
            <p:cNvPr id="20" name="Rectangle 19">
              <a:extLst>
                <a:ext uri="{FF2B5EF4-FFF2-40B4-BE49-F238E27FC236}">
                  <a16:creationId xmlns="" xmlns:a16="http://schemas.microsoft.com/office/drawing/2014/main" id="{FF40443F-C349-E84A-9A36-F992F711138E}"/>
                </a:ext>
              </a:extLst>
            </p:cNvPr>
            <p:cNvSpPr/>
            <p:nvPr/>
          </p:nvSpPr>
          <p:spPr>
            <a:xfrm>
              <a:off x="7669601" y="3968365"/>
              <a:ext cx="4039799" cy="235714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400" b="1">
                  <a:solidFill>
                    <a:srgbClr val="FFFF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NOTE :</a:t>
              </a:r>
            </a:p>
            <a:p>
              <a:endParaRPr lang="en-US" sz="1400" b="1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  <a:p>
              <a:r>
                <a:rPr lang="en-US" sz="1400">
                  <a:solidFill>
                    <a:srgbClr val="FFFF00"/>
                  </a:solidFill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Dalam APBD Tahun Anggaran 2022 dialokasikan Rp.2,83 trilyun sedangkan dalam SK Dirjen Perimbangan Keuangan No KEP-40/PK/2021 Tentang Proporsi Dan Estimasi Penerimaan Pajak Rokok Per Provinsi Tahun 2022 dialokasikan Rp.2,59 trilyun sehingga pada P-APBD Tahun Anggaran 2022 harus disesuaikan atau (berkurang) Rp.240,81 milyar.</a:t>
              </a:r>
            </a:p>
            <a:p>
              <a:pPr algn="ctr"/>
              <a:endParaRPr lang="en-US" sz="1400">
                <a:solidFill>
                  <a:srgbClr val="FFFF0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17" name="Flowchart: Preparation 31">
            <a:extLst>
              <a:ext uri="{FF2B5EF4-FFF2-40B4-BE49-F238E27FC236}">
                <a16:creationId xmlns="" xmlns:a16="http://schemas.microsoft.com/office/drawing/2014/main" id="{8BA0872C-469F-6742-9EB1-E58DA7888ED2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7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8" name="Picture 17">
            <a:hlinkClick r:id="rId5" action="ppaction://hlinksldjump"/>
            <a:extLst>
              <a:ext uri="{FF2B5EF4-FFF2-40B4-BE49-F238E27FC236}">
                <a16:creationId xmlns="" xmlns:a16="http://schemas.microsoft.com/office/drawing/2014/main" id="{8B19B744-3C05-FE41-B0EF-9D7F8055D2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graphicFrame>
        <p:nvGraphicFramePr>
          <p:cNvPr id="28" name="Chart 27">
            <a:extLst>
              <a:ext uri="{FF2B5EF4-FFF2-40B4-BE49-F238E27FC236}">
                <a16:creationId xmlns="" xmlns:a16="http://schemas.microsoft.com/office/drawing/2014/main" id="{6B514A44-2E70-4D4A-9433-989E6CE384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5590475"/>
              </p:ext>
            </p:extLst>
          </p:nvPr>
        </p:nvGraphicFramePr>
        <p:xfrm>
          <a:off x="697348" y="990673"/>
          <a:ext cx="4572000" cy="459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" name="Cloud 1">
            <a:extLst>
              <a:ext uri="{FF2B5EF4-FFF2-40B4-BE49-F238E27FC236}">
                <a16:creationId xmlns="" xmlns:a16="http://schemas.microsoft.com/office/drawing/2014/main" id="{132EE7FB-2E52-4342-B915-4A92C74D790E}"/>
              </a:ext>
            </a:extLst>
          </p:cNvPr>
          <p:cNvSpPr/>
          <p:nvPr/>
        </p:nvSpPr>
        <p:spPr>
          <a:xfrm>
            <a:off x="4940058" y="2855191"/>
            <a:ext cx="914400" cy="914400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sz="10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</a:t>
            </a:r>
            <a:r>
              <a:rPr lang="id-ID" sz="10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</a:t>
            </a:r>
            <a:r>
              <a:rPr lang="en-US" sz="10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050" dirty="0" err="1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</a:t>
            </a:r>
            <a:endParaRPr lang="en-US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sz="105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68,14%</a:t>
            </a:r>
            <a:endParaRPr lang="en-ID" sz="105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42963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593562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1" y="129309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REALISASI PENERIMAAN RETRIBUSI BAPENDA PER UPPD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S.D. BULAN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33A96910-98A9-964E-8439-262501D2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034007"/>
              </p:ext>
            </p:extLst>
          </p:nvPr>
        </p:nvGraphicFramePr>
        <p:xfrm>
          <a:off x="350994" y="1074260"/>
          <a:ext cx="5482432" cy="51422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78575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</a:t>
                      </a:r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21523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Kab.Semarang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136.965.800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103.787.000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75,78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Kab.Kendal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74.720.000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56.730.000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75,92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Kab.Demak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82.691.990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57.902.500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70,02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Kab.Grobogan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137.874.000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94.480.000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68,53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Kab.Pati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107.453.500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75.317.000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70,09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Kab.Kudus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103.129.200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73.713.200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71,48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3683885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Kab.Jepara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215.579.500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205.804.291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95,47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5538200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Kab.Rembang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80.886.708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52.200.000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64,53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8640123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Kab.Blora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98.460.000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78.770.000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80,00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0171515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Kab.Pekalongan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64.140.000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45.510.000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70,95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1078809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Kab.Batang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66.059.200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47.585.700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72,03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86928163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Kab.Pemalang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109.456.600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83.240.600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76,05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22425849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Kab.Tegal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73.526.000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54.684.000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74,37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16950124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Kab.Brebes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121.500.000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81.120.000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66,77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00833295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Kab.Banyumas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179.051.800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151.520.000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84,62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00225946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Kab.Cilacap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120.320.000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86.680.000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72,04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54380907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Kab.Purbalingga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69.579.225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50.539.300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72,64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1889273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Kab.Banjarnegara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81.312.600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52.950.000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65,12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6885610"/>
                  </a:ext>
                </a:extLst>
              </a:tr>
              <a:tr h="2179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Kab.Magelang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154.835.500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148.048.000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95,62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230583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7AC3105-9B73-AA40-8E43-85FB1CF6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281278"/>
              </p:ext>
            </p:extLst>
          </p:nvPr>
        </p:nvGraphicFramePr>
        <p:xfrm>
          <a:off x="6340280" y="1074260"/>
          <a:ext cx="5482432" cy="51153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81638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L</a:t>
                      </a:r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I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21206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Kab.Temanggung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68.608.000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56.350.000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82,13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Kab.Wonosobo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103.200.000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68.150.000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66,04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5302930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Kab.Purworejo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65.400.000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43.600.000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66,67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Kab.Kebumen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108.125.000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75.161.000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69,51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Kab.Klaten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163.189.000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112.643.000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69,03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2616187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Kab.Boyolali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95.370.000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67.730.000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71,02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3334818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Sragen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64.370.000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46.330.000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71,97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1853532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Kab.Sukoharjo</a:t>
                      </a:r>
                      <a:endParaRPr lang="en-ID" sz="1200" b="0" i="0" u="none" strike="noStrike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103.740.000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69.880.000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67,36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202385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Kab.Karanganyar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76.181.500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54.682.000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71,78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218989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Kab.Wonogiri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135.004.000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51.760.000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38,34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4055009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Semarang 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330.391.496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241.413.893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73,07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87703845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Semarang II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226.325.099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148.467.200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65,60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0764074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32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Semarang III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285.781.600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200.416.100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70,13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0900162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Pekalongan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61.140.000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40.760.000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66,67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7763866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Surakarta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168.740.000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124.236.000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73,63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30252731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Salatiga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67.615.050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48.448.000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71,65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38173527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Tegal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262.092.632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89.310.100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34,08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3763597"/>
                  </a:ext>
                </a:extLst>
              </a:tr>
              <a:tr h="21475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Magelang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58.440.000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43.920.000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75,15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60348643"/>
                  </a:ext>
                </a:extLst>
              </a:tr>
              <a:tr h="221293">
                <a:tc>
                  <a:txBody>
                    <a:bodyPr/>
                    <a:lstStyle/>
                    <a:p>
                      <a:pPr algn="ctr" rtl="0" fontAlgn="ctr"/>
                      <a:endParaRPr lang="id-ID" sz="13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id-ID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4.521.255.000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2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3.080.051.884 </a:t>
                      </a:r>
                      <a:endParaRPr lang="en-US" sz="1200" b="1" i="0" u="none" strike="noStrike" kern="120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70,25 </a:t>
                      </a:r>
                      <a:endParaRPr lang="en-US" sz="1200" b="1" i="0" u="none" strike="noStrike" kern="120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4382514"/>
                  </a:ext>
                </a:extLst>
              </a:tr>
            </a:tbl>
          </a:graphicData>
        </a:graphic>
      </p:graphicFrame>
      <p:sp>
        <p:nvSpPr>
          <p:cNvPr id="12" name="Flowchart: Preparation 31">
            <a:extLst>
              <a:ext uri="{FF2B5EF4-FFF2-40B4-BE49-F238E27FC236}">
                <a16:creationId xmlns="" xmlns:a16="http://schemas.microsoft.com/office/drawing/2014/main" id="{FA7882A4-6B4A-1F4D-AF42-2E1876E8D6FF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8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4" name="Picture 13">
            <a:hlinkClick r:id="rId3" action="ppaction://hlinksldjump"/>
            <a:extLst>
              <a:ext uri="{FF2B5EF4-FFF2-40B4-BE49-F238E27FC236}">
                <a16:creationId xmlns="" xmlns:a16="http://schemas.microsoft.com/office/drawing/2014/main" id="{3AFC3D45-FFD9-5141-8DB5-1CF43610A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64827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21313520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1" y="129309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UPPD DENGAN PERFORMA TERTINGGI DAN TERRENDAH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 CAPAIAN PENERIMAAN RETRIBUSI S.D. </a:t>
            </a:r>
            <a:r>
              <a:rPr lang="id-ID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2022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33A96910-98A9-964E-8439-262501D2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268002"/>
              </p:ext>
            </p:extLst>
          </p:nvPr>
        </p:nvGraphicFramePr>
        <p:xfrm>
          <a:off x="350994" y="1253333"/>
          <a:ext cx="5482432" cy="48617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412110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78424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64776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974823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1703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52091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527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Kab.Magelang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154.835.500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148.048.000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95,62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527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Kab.Jepara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215.579.500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205.804.291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95,47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527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Kab.Banyumas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179.051.800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151.520.000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84,62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527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Kab.Temanggung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68.608.000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56.350.000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82,13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5275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Kab.Blora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98.460.000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78.770.000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80,00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7AC3105-9B73-AA40-8E43-85FB1CF6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684050"/>
              </p:ext>
            </p:extLst>
          </p:nvPr>
        </p:nvGraphicFramePr>
        <p:xfrm>
          <a:off x="6358576" y="1253333"/>
          <a:ext cx="5331947" cy="48617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464134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255594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405719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854201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1698477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</a:p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521694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528308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Kota </a:t>
                      </a:r>
                      <a:r>
                        <a:rPr lang="en-US" sz="14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Tegal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262.092.632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89.310.100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34,08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528308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Kab.Wonogiri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135.004.000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51.760.000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38,34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60203215"/>
                  </a:ext>
                </a:extLst>
              </a:tr>
              <a:tr h="528308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Kab.Rembang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80.886.708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52.200.000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64,53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5302930"/>
                  </a:ext>
                </a:extLst>
              </a:tr>
              <a:tr h="528308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Kab.Banjarnegara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81.312.600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52.950.000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65,12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528308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Semarang II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226.325.099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148.467.200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65,60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</a:tbl>
          </a:graphicData>
        </a:graphic>
      </p:graphicFrame>
      <p:sp>
        <p:nvSpPr>
          <p:cNvPr id="10" name="Flowchart: Preparation 31">
            <a:extLst>
              <a:ext uri="{FF2B5EF4-FFF2-40B4-BE49-F238E27FC236}">
                <a16:creationId xmlns="" xmlns:a16="http://schemas.microsoft.com/office/drawing/2014/main" id="{5205BEF5-B819-974D-9662-E86F0494F527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9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1" name="Picture 10">
            <a:hlinkClick r:id="rId3" action="ppaction://hlinksldjump"/>
            <a:extLst>
              <a:ext uri="{FF2B5EF4-FFF2-40B4-BE49-F238E27FC236}">
                <a16:creationId xmlns="" xmlns:a16="http://schemas.microsoft.com/office/drawing/2014/main" id="{54F5A4BB-2AF5-1B45-9FEA-38B0FFC12D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222336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2022 </a:t>
            </a:r>
            <a:endParaRPr lang="en-US" sz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25874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1" y="129309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ESTIMASI CAPAIAN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RETRIBUSI BAPENDA PER UPPD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S.D. BULAN </a:t>
            </a:r>
            <a:r>
              <a:rPr lang="id-ID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DESEMBER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 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33A96910-98A9-964E-8439-262501D2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258755"/>
              </p:ext>
            </p:extLst>
          </p:nvPr>
        </p:nvGraphicFramePr>
        <p:xfrm>
          <a:off x="350994" y="986561"/>
          <a:ext cx="5482432" cy="53456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81685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ESTIMASI 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223747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D" sz="1050" b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D" sz="1050" b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D" sz="1050" b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D" sz="1050" b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ID" sz="1050" b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Semarang 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330.391.496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322.920.893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97,74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Semarang 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226.325.099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169.695.900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74,98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Semarang III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285.781.600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254.901.000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89,19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Salatiga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67.615.050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67.752.550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100,20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Semarang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136.965.800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139.323.000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101,72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Kendal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74.720.000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76.570.000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102,48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3683885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Demak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82.691.990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82.892.500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100,24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5538200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Grobogan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137.874.000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140.520.000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101,92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8640123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Surakarta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168.740.000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169.004.000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100,16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60171515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Sukoharjo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103.740.000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104.820.000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101,04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1078809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Klaten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163.189.000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164.589.000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100,86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86928163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Boyolali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95.370.000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95.370.000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22425849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Sragen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64.370.000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64.370.000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316950124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Kab.Karanganyar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76.181.500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76.512.000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100,43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00833295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Wonogiri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135.004.000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137.040.000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101,51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000225946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Pati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107.453.500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108.317.000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100,80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54380907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Kudus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103.129.200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108.879.200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105,58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121889273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Jepara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215.579.500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241.564.374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112,05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6885610"/>
                  </a:ext>
                </a:extLst>
              </a:tr>
              <a:tr h="2265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Rembang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80.886.708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71.538.000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88,44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2305837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7AC3105-9B73-AA40-8E43-85FB1CF6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873270"/>
              </p:ext>
            </p:extLst>
          </p:nvPr>
        </p:nvGraphicFramePr>
        <p:xfrm>
          <a:off x="6340280" y="986561"/>
          <a:ext cx="5482432" cy="521382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832107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ESTIMASI 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id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</a:p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216148"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0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050" b="0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0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050" b="0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0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050" b="0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0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050" b="0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050" b="0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Blora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98.460.000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101.530.000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103,12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Pekalongan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61.140.000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61.140.000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5302930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Pekalongan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64.140.000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68.890.000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107,41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Batang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66.059.200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66.672.700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100,93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Pemalang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109.456.600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106.648.600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97,43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2616187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Tegal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262.092.632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100.940.000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38,51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3334818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Tegal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73.526.000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79.525.500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108,16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1853532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Brebes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121.500.000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121.680.000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100,15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202385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Banyumas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179.051.800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212.280.000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118,56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218989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Cilacap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120.320.000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137.320.000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114,13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4055009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Purbalingga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69.579.225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70.977.700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102,01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87703845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Banjarnegara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81.312.600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79.050.000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97,22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0764074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32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Kota Magelang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58.440.000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59.880.000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102,46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0900162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Magelang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154.835.500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188.122.000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121,50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7763866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Purworejo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65.400.000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65.400.000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30252731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Kebumen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108.125.000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108.129.000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100,00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38173527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Temanggung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68.608.000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78.525.000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114,45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3763597"/>
                  </a:ext>
                </a:extLst>
              </a:tr>
              <a:tr h="218890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2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37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Kab. Wonosobo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103.200.000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99.250.000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96,17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60348643"/>
                  </a:ext>
                </a:extLst>
              </a:tr>
              <a:tr h="225554">
                <a:tc>
                  <a:txBody>
                    <a:bodyPr/>
                    <a:lstStyle/>
                    <a:p>
                      <a:pPr algn="ctr" rtl="0" fontAlgn="ctr"/>
                      <a:endParaRPr lang="id-ID" sz="13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id-ID" sz="13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4.521.255.000 </a:t>
                      </a: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d-ID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4.402.539.917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2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97,37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4382514"/>
                  </a:ext>
                </a:extLst>
              </a:tr>
            </a:tbl>
          </a:graphicData>
        </a:graphic>
      </p:graphicFrame>
      <p:sp>
        <p:nvSpPr>
          <p:cNvPr id="12" name="Flowchart: Preparation 31">
            <a:extLst>
              <a:ext uri="{FF2B5EF4-FFF2-40B4-BE49-F238E27FC236}">
                <a16:creationId xmlns="" xmlns:a16="http://schemas.microsoft.com/office/drawing/2014/main" id="{FA7882A4-6B4A-1F4D-AF42-2E1876E8D6FF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10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4" name="Picture 13">
            <a:hlinkClick r:id="rId3" action="ppaction://hlinksldjump"/>
            <a:extLst>
              <a:ext uri="{FF2B5EF4-FFF2-40B4-BE49-F238E27FC236}">
                <a16:creationId xmlns="" xmlns:a16="http://schemas.microsoft.com/office/drawing/2014/main" id="{3AFC3D45-FFD9-5141-8DB5-1CF43610A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64827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9448943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1" y="170808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REALISASI PENERIMAAN RETRIBUSI PER OPD PENGHASIL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S.D. BULAN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 TAHUN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ANGGARAN 2022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="" xmlns:a16="http://schemas.microsoft.com/office/drawing/2014/main" id="{34F60C7D-F45F-46D5-8B3C-2FE2388DA9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597086"/>
              </p:ext>
            </p:extLst>
          </p:nvPr>
        </p:nvGraphicFramePr>
        <p:xfrm>
          <a:off x="350994" y="1253333"/>
          <a:ext cx="5482432" cy="49094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104375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9439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05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05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P DAN K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6.500.000.000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1.103.383.000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16,98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KESEHATAN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26.284.477.000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14.460.639.362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55,02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PU BMCK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6.538.650.000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5.373.664.988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82,18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DNS PUSDATARU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4.715.000.000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2.602.280.326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55,19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BAPPEDA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26.460.000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17.640.000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66,67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DISHUB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4.303.871.000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2.855.865.220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66,36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03683885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LHK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5.202.000.000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3.356.976.940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64,53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5538200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SOSIAL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106.597.000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133.260.650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125,01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38640123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NASNAKERTRANS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4.805.220.000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1.706.632.500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35,52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60171515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DISKOP DAN UKM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402.054.000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316.593.250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78,74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391078809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DPM-PTSP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30.000.000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30.000.000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100,00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86928163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DISPORAPAR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3.570.000.000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1.279.318.900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35,84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22425849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SATPOL PP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410.000.000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478.220.480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116,64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16950124"/>
                  </a:ext>
                </a:extLst>
              </a:tr>
              <a:tr h="257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BIRO UMUM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850.000.000 </a:t>
                      </a:r>
                    </a:p>
                  </a:txBody>
                  <a:tcPr marL="9525" marR="72000" marT="9525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385.250.000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45,32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50083329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="" xmlns:a16="http://schemas.microsoft.com/office/drawing/2014/main" id="{99510F0A-96DE-480B-883D-1DCDBCD24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28254"/>
              </p:ext>
            </p:extLst>
          </p:nvPr>
        </p:nvGraphicFramePr>
        <p:xfrm>
          <a:off x="6358576" y="1253335"/>
          <a:ext cx="5482432" cy="49094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1037361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</a:p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</a:t>
                      </a:r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1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1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439" marR="9439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BPKAD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6.795.838.000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3.066.258.845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45,12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SET DPRD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1.550.000.000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718.250.000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46,34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75302930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BAPENDA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4.521.255.000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3.183.338.884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70,41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BPSDMD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1.942.023.000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1.420.463.750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73,14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  <a:tr h="28170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BDN P’HUBUNG</a:t>
                      </a:r>
                    </a:p>
                  </a:txBody>
                  <a:tcPr marL="36000" marR="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1.010.000.000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341.485.000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33,81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2616187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BKD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10.000.000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12.000.000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120,00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3334818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ARPUS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84.000.000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22.395.900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26,66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1853532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DISTANBUN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14.394.105.000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7.228.631.503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50,22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202385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DISNAKKESWAN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7.634.550.000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6.096.484.888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79,85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218989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DINAS ESDM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2.516.177.000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1.268.758.000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50,42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4055009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DISLUTKAN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12.576.600.000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11.342.026.117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90,18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87703845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DISPERINDAG</a:t>
                      </a:r>
                    </a:p>
                  </a:txBody>
                  <a:tcPr marL="36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200" b="0" i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3.134.810.000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2.524.640.644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          80,54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0764074"/>
                  </a:ext>
                </a:extLst>
              </a:tr>
              <a:tr h="276185">
                <a:tc>
                  <a:txBody>
                    <a:bodyPr/>
                    <a:lstStyle/>
                    <a:p>
                      <a:pPr algn="ctr" rtl="0" fontAlgn="ctr"/>
                      <a:endParaRPr lang="id-ID" sz="1200" b="0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id-ID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  <a:endParaRPr lang="id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119.913.687.000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71.324.459.147 </a:t>
                      </a:r>
                      <a:endParaRPr lang="en-US" sz="1100" b="1" i="0" u="none" strike="noStrike" kern="120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d-ID" sz="11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</a:t>
                      </a:r>
                      <a:r>
                        <a:rPr lang="en-US" sz="11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59</a:t>
                      </a:r>
                      <a:r>
                        <a:rPr lang="id-ID" sz="11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en-US" sz="11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48</a:t>
                      </a:r>
                      <a:r>
                        <a:rPr lang="id-ID" sz="1100" b="1" i="0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id-ID" sz="1100" b="1" i="0" u="none" strike="noStrike" kern="1200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4382514"/>
                  </a:ext>
                </a:extLst>
              </a:tr>
            </a:tbl>
          </a:graphicData>
        </a:graphic>
      </p:graphicFrame>
      <p:sp>
        <p:nvSpPr>
          <p:cNvPr id="8" name="Flowchart: Preparation 31">
            <a:extLst>
              <a:ext uri="{FF2B5EF4-FFF2-40B4-BE49-F238E27FC236}">
                <a16:creationId xmlns="" xmlns:a16="http://schemas.microsoft.com/office/drawing/2014/main" id="{2DFF93E2-DE2D-A240-9C8B-926ECC64B57D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11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="" xmlns:a16="http://schemas.microsoft.com/office/drawing/2014/main" id="{B1606094-AA19-0D41-90AD-DC403A75A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00158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34250752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E7ADDCC6-76F2-574C-BFC6-A2DAEA3526D7}"/>
              </a:ext>
            </a:extLst>
          </p:cNvPr>
          <p:cNvSpPr/>
          <p:nvPr/>
        </p:nvSpPr>
        <p:spPr>
          <a:xfrm>
            <a:off x="0" y="146877"/>
            <a:ext cx="12191999" cy="85725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 OPD DENGAN PERFORMA TERTINGGI DAN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TERENDAH</a:t>
            </a:r>
            <a:endParaRPr lang="en-US" b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ATAS CAPAIAN PENERIMAAN RETRIBUSI S.D.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2022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33A96910-98A9-964E-8439-262501D237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877184"/>
              </p:ext>
            </p:extLst>
          </p:nvPr>
        </p:nvGraphicFramePr>
        <p:xfrm>
          <a:off x="350994" y="1253332"/>
          <a:ext cx="5482432" cy="4861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194692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48072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US" sz="13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b="0" i="0" u="none" strike="noStrike" dirty="0" smtClean="0">
                          <a:effectLst/>
                          <a:latin typeface="Tahoma" panose="020B0604030504040204" pitchFamily="34" charset="0"/>
                        </a:rPr>
                        <a:t>DINAS SOSIAL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106.597.000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133.260.650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125,01%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858929150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b="0" i="0" u="none" strike="noStrike" dirty="0" smtClean="0">
                          <a:effectLst/>
                          <a:latin typeface="Tahoma" panose="020B0604030504040204" pitchFamily="34" charset="0"/>
                        </a:rPr>
                        <a:t>BKD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10.000.000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12.000.000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120,00%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57009956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 smtClean="0">
                          <a:effectLst/>
                          <a:latin typeface="Tahoma" panose="020B0604030504040204" pitchFamily="34" charset="0"/>
                        </a:rPr>
                        <a:t>SATPOL PP</a:t>
                      </a:r>
                      <a:endParaRPr lang="en-ID" sz="1200" b="0" i="0" u="none" strike="noStrike" dirty="0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410.000.000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478.220.480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116,64%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 smtClean="0">
                          <a:effectLst/>
                          <a:latin typeface="Tahoma" panose="020B0604030504040204" pitchFamily="34" charset="0"/>
                        </a:rPr>
                        <a:t>DPM-PTSP</a:t>
                      </a:r>
                      <a:endParaRPr lang="en-ID" sz="1200" b="0" i="0" u="none" strike="noStrike" dirty="0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30.000.000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30.000.000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100,00%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US" sz="1300" b="0" i="0" u="none" strike="noStrike" dirty="0">
                        <a:solidFill>
                          <a:schemeClr val="bg2">
                            <a:lumMod val="25000"/>
                          </a:schemeClr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 smtClean="0">
                          <a:effectLst/>
                          <a:latin typeface="Tahoma" panose="020B0604030504040204" pitchFamily="34" charset="0"/>
                        </a:rPr>
                        <a:t>DINLUTKAN</a:t>
                      </a:r>
                      <a:endParaRPr lang="en-ID" sz="1200" b="0" i="0" u="none" strike="noStrike" dirty="0"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12.576.600.000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11.342.026.117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90,18%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27AC3105-9B73-AA40-8E43-85FB1CF6C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841507"/>
              </p:ext>
            </p:extLst>
          </p:nvPr>
        </p:nvGraphicFramePr>
        <p:xfrm>
          <a:off x="6096000" y="1253332"/>
          <a:ext cx="5745008" cy="48617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9172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76442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282890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51128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977390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194692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NO33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UPPD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480720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id-ID" sz="1400" b="0" i="0" u="none" strike="noStrike" dirty="0">
                          <a:solidFill>
                            <a:schemeClr val="bg2">
                              <a:lumMod val="25000"/>
                            </a:schemeClr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400" b="0" i="0" u="none" strike="noStrike">
                          <a:effectLst/>
                          <a:latin typeface="Tahoma" panose="020B0604030504040204" pitchFamily="34" charset="0"/>
                        </a:rPr>
                        <a:t>DINAS P DAN K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6.500.000.000 </a:t>
                      </a:r>
                      <a:endParaRPr lang="en-ID" sz="1400" b="0" i="0" u="none" strike="noStrike" dirty="0"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1.103.383.000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16,98%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95054317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id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DINARPUS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84.000.000</a:t>
                      </a:r>
                      <a:endParaRPr lang="en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22.395.900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26,66%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6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id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id-ID" sz="14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BADAN</a:t>
                      </a:r>
                      <a:r>
                        <a:rPr lang="id-ID" sz="14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id-ID" sz="14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PENGHUBUNG</a:t>
                      </a:r>
                      <a:endParaRPr lang="id-ID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id-ID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+mn-ea"/>
                          <a:cs typeface="+mn-cs"/>
                        </a:rPr>
                        <a:t>1.010.000.000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341.485.000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33,81%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86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id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DISNAKERTRANS</a:t>
                      </a:r>
                      <a:endParaRPr lang="en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4.805.220.000</a:t>
                      </a:r>
                      <a:endParaRPr lang="en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1.706.632.500</a:t>
                      </a:r>
                      <a:endParaRPr lang="id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35</a:t>
                      </a:r>
                      <a:r>
                        <a:rPr lang="id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,</a:t>
                      </a:r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52</a:t>
                      </a:r>
                      <a:r>
                        <a:rPr lang="id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%</a:t>
                      </a:r>
                      <a:endParaRPr lang="id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48746696"/>
                  </a:ext>
                </a:extLst>
              </a:tr>
              <a:tr h="48681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id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</a:rPr>
                        <a:t>DISPORAPAR</a:t>
                      </a:r>
                    </a:p>
                  </a:txBody>
                  <a:tcPr marL="72000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ID" sz="14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3.570.000.000 </a:t>
                      </a:r>
                      <a:endParaRPr lang="en-ID" sz="1400" b="0" i="0" u="none" strike="noStrike" dirty="0">
                        <a:solidFill>
                          <a:schemeClr val="tx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72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1.279.318.900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35,84%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0" name="Flowchart: Preparation 31">
            <a:extLst>
              <a:ext uri="{FF2B5EF4-FFF2-40B4-BE49-F238E27FC236}">
                <a16:creationId xmlns="" xmlns:a16="http://schemas.microsoft.com/office/drawing/2014/main" id="{36998FCB-F11B-EE4D-9239-82DF884390C1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12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1" name="Picture 10">
            <a:hlinkClick r:id="rId3" action="ppaction://hlinksldjump"/>
            <a:extLst>
              <a:ext uri="{FF2B5EF4-FFF2-40B4-BE49-F238E27FC236}">
                <a16:creationId xmlns="" xmlns:a16="http://schemas.microsoft.com/office/drawing/2014/main" id="{31901A8D-57F7-2C49-888C-D6F1D8E7F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00158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4555197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0" y="1"/>
            <a:ext cx="12192000" cy="668739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DAN REALISASI HASIL PENGELOLAAN KEKAYAAN DAERAH YANG DIPISAHKAN</a:t>
            </a: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S.D. BULAN </a:t>
            </a:r>
            <a:r>
              <a:rPr lang="en-US" sz="1600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</a:t>
            </a:r>
            <a:r>
              <a:rPr lang="en-US" sz="1600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7278BFFC-9360-D447-A561-779569A5E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89348"/>
              </p:ext>
            </p:extLst>
          </p:nvPr>
        </p:nvGraphicFramePr>
        <p:xfrm>
          <a:off x="312058" y="6051509"/>
          <a:ext cx="6772027" cy="68235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865">
                  <a:extLst>
                    <a:ext uri="{9D8B030D-6E8A-4147-A177-3AD203B41FA5}">
                      <a16:colId xmlns="" xmlns:a16="http://schemas.microsoft.com/office/drawing/2014/main" val="3207486760"/>
                    </a:ext>
                  </a:extLst>
                </a:gridCol>
                <a:gridCol w="6361162">
                  <a:extLst>
                    <a:ext uri="{9D8B030D-6E8A-4147-A177-3AD203B41FA5}">
                      <a16:colId xmlns="" xmlns:a16="http://schemas.microsoft.com/office/drawing/2014/main" val="226583095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CATATAN :</a:t>
                      </a:r>
                    </a:p>
                  </a:txBody>
                  <a:tcPr marL="72000" marR="72000" marT="901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ID" sz="13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9446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fontAlgn="ctr">
                        <a:buFont typeface="+mj-lt"/>
                        <a:buNone/>
                      </a:pPr>
                      <a:r>
                        <a:rPr lang="en-ID" sz="1400" b="1" u="none" strike="noStrike" dirty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✓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Sudah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RUPS,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mencapai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dividen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100%,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namun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belum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13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disetor</a:t>
                      </a:r>
                      <a:r>
                        <a:rPr lang="id-ID" sz="1300" b="0" i="0" u="none" strike="noStrike" dirty="0" smtClean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100%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8353790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 fontAlgn="ctr">
                        <a:buFont typeface="+mj-lt"/>
                        <a:buNone/>
                      </a:pPr>
                      <a:r>
                        <a:rPr lang="en-ID" sz="1600" b="1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✕</a:t>
                      </a:r>
                      <a:endParaRPr lang="en-ID" sz="14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Font typeface="+mj-lt"/>
                        <a:buNone/>
                      </a:pP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Sudah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RUPS,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tidak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mencapai</a:t>
                      </a:r>
                      <a:r>
                        <a:rPr lang="en-ID" sz="13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</a:t>
                      </a:r>
                      <a:r>
                        <a:rPr lang="en-ID" sz="13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dividen</a:t>
                      </a:r>
                      <a:endParaRPr lang="en-ID" sz="13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01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090699542"/>
                  </a:ext>
                </a:extLst>
              </a:tr>
            </a:tbl>
          </a:graphicData>
        </a:graphic>
      </p:graphicFrame>
      <p:sp>
        <p:nvSpPr>
          <p:cNvPr id="9" name="Flowchart: Preparation 31">
            <a:extLst>
              <a:ext uri="{FF2B5EF4-FFF2-40B4-BE49-F238E27FC236}">
                <a16:creationId xmlns="" xmlns:a16="http://schemas.microsoft.com/office/drawing/2014/main" id="{05CBF1DB-3299-4B47-8313-56ACC1F7F1C8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13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2" name="Picture 11">
            <a:hlinkClick r:id="rId2" action="ppaction://hlinksldjump"/>
            <a:extLst>
              <a:ext uri="{FF2B5EF4-FFF2-40B4-BE49-F238E27FC236}">
                <a16:creationId xmlns="" xmlns:a16="http://schemas.microsoft.com/office/drawing/2014/main" id="{EC77CE94-5C14-FA41-8287-954DDFC89C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="" xmlns:a16="http://schemas.microsoft.com/office/drawing/2014/main" id="{3B4AEE7A-4E78-5544-B7FB-78AD43B16E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8768008"/>
              </p:ext>
            </p:extLst>
          </p:nvPr>
        </p:nvGraphicFramePr>
        <p:xfrm>
          <a:off x="463714" y="743045"/>
          <a:ext cx="11264572" cy="53084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382">
                  <a:extLst>
                    <a:ext uri="{9D8B030D-6E8A-4147-A177-3AD203B41FA5}">
                      <a16:colId xmlns="" xmlns:a16="http://schemas.microsoft.com/office/drawing/2014/main" val="697471379"/>
                    </a:ext>
                  </a:extLst>
                </a:gridCol>
                <a:gridCol w="1962991">
                  <a:extLst>
                    <a:ext uri="{9D8B030D-6E8A-4147-A177-3AD203B41FA5}">
                      <a16:colId xmlns="" xmlns:a16="http://schemas.microsoft.com/office/drawing/2014/main" val="2566889808"/>
                    </a:ext>
                  </a:extLst>
                </a:gridCol>
                <a:gridCol w="1460709">
                  <a:extLst>
                    <a:ext uri="{9D8B030D-6E8A-4147-A177-3AD203B41FA5}">
                      <a16:colId xmlns="" xmlns:a16="http://schemas.microsoft.com/office/drawing/2014/main" val="1086178323"/>
                    </a:ext>
                  </a:extLst>
                </a:gridCol>
                <a:gridCol w="1504711">
                  <a:extLst>
                    <a:ext uri="{9D8B030D-6E8A-4147-A177-3AD203B41FA5}">
                      <a16:colId xmlns="" xmlns:a16="http://schemas.microsoft.com/office/drawing/2014/main" val="1761151829"/>
                    </a:ext>
                  </a:extLst>
                </a:gridCol>
                <a:gridCol w="1192282">
                  <a:extLst>
                    <a:ext uri="{9D8B030D-6E8A-4147-A177-3AD203B41FA5}">
                      <a16:colId xmlns="" xmlns:a16="http://schemas.microsoft.com/office/drawing/2014/main" val="616561053"/>
                    </a:ext>
                  </a:extLst>
                </a:gridCol>
                <a:gridCol w="1216333">
                  <a:extLst>
                    <a:ext uri="{9D8B030D-6E8A-4147-A177-3AD203B41FA5}">
                      <a16:colId xmlns="" xmlns:a16="http://schemas.microsoft.com/office/drawing/2014/main" val="1156994585"/>
                    </a:ext>
                  </a:extLst>
                </a:gridCol>
                <a:gridCol w="1431464">
                  <a:extLst>
                    <a:ext uri="{9D8B030D-6E8A-4147-A177-3AD203B41FA5}">
                      <a16:colId xmlns="" xmlns:a16="http://schemas.microsoft.com/office/drawing/2014/main" val="972491277"/>
                    </a:ext>
                  </a:extLst>
                </a:gridCol>
                <a:gridCol w="1184947">
                  <a:extLst>
                    <a:ext uri="{9D8B030D-6E8A-4147-A177-3AD203B41FA5}">
                      <a16:colId xmlns="" xmlns:a16="http://schemas.microsoft.com/office/drawing/2014/main" val="402887070"/>
                    </a:ext>
                  </a:extLst>
                </a:gridCol>
                <a:gridCol w="1018753">
                  <a:extLst>
                    <a:ext uri="{9D8B030D-6E8A-4147-A177-3AD203B41FA5}">
                      <a16:colId xmlns="" xmlns:a16="http://schemas.microsoft.com/office/drawing/2014/main" val="718837782"/>
                    </a:ext>
                  </a:extLst>
                </a:gridCol>
              </a:tblGrid>
              <a:tr h="67010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BUMD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DIVIDEN DALAM APBD TA 2022 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TARGET DIVIDEN DALAM P-APBD TA 2022***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BERTAMBAH (BERKURANG)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REALISASI 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BERDASARKAN 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RUPS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</a:t>
                      </a:r>
                      <a:r>
                        <a:rPr lang="en-ID" sz="900" b="1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SETOR KASDA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KET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TANGGAL RUPS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10750640"/>
                  </a:ext>
                </a:extLst>
              </a:tr>
              <a:tr h="20618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800" b="0" i="0" u="none" strike="noStrike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800" b="0" i="0" u="none" strike="noStrike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800" b="0" i="0" u="none" strike="noStrike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800" b="0" i="0" u="none" strike="noStrike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5=4-3</a:t>
                      </a:r>
                      <a:endParaRPr lang="en-ID" sz="800" b="0" i="0" u="none" strike="noStrike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ID" sz="800" b="0" i="0" u="none" strike="noStrike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ID" sz="800" b="0" i="0" u="none" strike="noStrike" dirty="0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r>
                        <a:rPr lang="id-ID" sz="800" b="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=7/6*100%</a:t>
                      </a:r>
                      <a:endParaRPr lang="en-ID" sz="800" b="0" i="0" u="none" strike="noStrike" dirty="0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800" b="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ID" sz="800" b="0" i="0" u="none" strike="noStrike" dirty="0">
                        <a:solidFill>
                          <a:srgbClr val="FFFFFF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extLst>
                  <a:ext uri="{0D108BD9-81ED-4DB2-BD59-A6C34878D82A}">
                    <a16:rowId xmlns="" xmlns:a16="http://schemas.microsoft.com/office/drawing/2014/main" val="3914589876"/>
                  </a:ext>
                </a:extLst>
              </a:tr>
              <a:tr h="445916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BANK </a:t>
                      </a:r>
                      <a:r>
                        <a:rPr lang="en-ID" sz="10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JATENG</a:t>
                      </a:r>
                      <a:r>
                        <a:rPr lang="id-ID" sz="10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1000" b="1" u="none" strike="noStrike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✓</a:t>
                      </a:r>
                      <a:endParaRPr lang="en-ID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400.000.000.000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408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645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620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567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8.645.620.567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408.645.620.567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316.779.620.567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D" sz="900" b="1" u="none" strike="noStrike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Sisanya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900" b="1" u="none" strike="noStrike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akan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900" b="1" u="none" strike="noStrike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disetor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900" b="1" u="none" strike="noStrike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setelah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semester I 2022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/0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3434473463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BKK JATENG ✓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 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1742691530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BPR BKK SE JATENG ✓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69.168.575.000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69.168.575.000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603.092.233 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69.771.667.233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69.771.667.233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100,00%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/0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3761065659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SPJT </a:t>
                      </a:r>
                      <a:r>
                        <a:rPr lang="en-ID" sz="10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✓</a:t>
                      </a:r>
                      <a:endParaRPr lang="en-ID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30.000.000.000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9.024.857.185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(20.975.142.815) 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9.024.857.185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9.024.857.185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100,00%</a:t>
                      </a:r>
                      <a:endParaRPr lang="en-ID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27/05/2022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599520895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PD </a:t>
                      </a:r>
                      <a:r>
                        <a:rPr lang="en-ID" sz="10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CMJT </a:t>
                      </a:r>
                      <a:r>
                        <a:rPr lang="en-ID" sz="1000" b="1" u="none" strike="noStrike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✓</a:t>
                      </a:r>
                      <a:endParaRPr lang="en-ID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6.500.000.000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6.500.000.000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      -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6.500.000.000,00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dirty="0" smtClean="0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belum setor menunggu notarill RUPS-</a:t>
                      </a:r>
                      <a:endParaRPr lang="en-ID" sz="900" b="1" i="0" u="none" strike="noStrike" dirty="0">
                        <a:solidFill>
                          <a:srgbClr val="9C0006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20/06/2022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2598074449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PRPP </a:t>
                      </a:r>
                      <a:r>
                        <a:rPr lang="en-ID" sz="1000" b="1" u="none" strike="noStrike" dirty="0" smtClean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✕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150.000.000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(150.000.000)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</a:t>
                      </a:r>
                      <a:endParaRPr lang="en-ID" sz="900" b="1" i="0" u="none" strike="noStrike" dirty="0">
                        <a:solidFill>
                          <a:srgbClr val="FF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dirty="0" smtClean="0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ID" sz="900" b="1" i="0" u="none" strike="noStrike" dirty="0">
                        <a:solidFill>
                          <a:srgbClr val="9C0006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-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/04/2022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1630522184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</a:t>
                      </a:r>
                      <a:r>
                        <a:rPr lang="en-ID" sz="10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KIW </a:t>
                      </a:r>
                      <a:r>
                        <a:rPr lang="en-ID" sz="1000" b="1" u="none" strike="noStrike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✓</a:t>
                      </a:r>
                      <a:endParaRPr lang="en-ID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1.500.000.000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2.445.643.698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945.643.698 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2.445.643.698</a:t>
                      </a:r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,00</a:t>
                      </a:r>
                      <a:endParaRPr lang="en-ID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t-IT" sz="900" b="1" i="0" u="none" strike="noStrike" dirty="0" smtClean="0">
                          <a:solidFill>
                            <a:srgbClr val="9C0006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Setor di TW III 2022</a:t>
                      </a:r>
                      <a:endParaRPr lang="en-ID" sz="900" b="1" i="0" u="none" strike="noStrike" dirty="0">
                        <a:solidFill>
                          <a:srgbClr val="9C0006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163,04</a:t>
                      </a:r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  <a:endParaRPr lang="en-ID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28/06/2022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1013639994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</a:t>
                      </a:r>
                      <a:r>
                        <a:rPr lang="en-ID" sz="10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JPEN ✓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31.300.000.000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301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982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088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1.982.088 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301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982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088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301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982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.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088</a:t>
                      </a:r>
                      <a:endParaRPr lang="en-ID" sz="900" b="1" i="0" u="none" strike="noStrike" dirty="0">
                        <a:solidFill>
                          <a:srgbClr val="9C0006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100,00%</a:t>
                      </a:r>
                      <a:endParaRPr lang="en-ID" sz="9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12/07/2022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1055827103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PT. TIRTA UTAMA </a:t>
                      </a:r>
                      <a:r>
                        <a:rPr lang="en-ID" sz="1000" b="1" u="none" strike="noStrike" dirty="0" smtClean="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✓</a:t>
                      </a:r>
                      <a:endParaRPr lang="en-ID" sz="1000" b="1" i="0" u="none" strike="noStrike" dirty="0" smtClean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7.525.689.000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7.620.941.639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95.252.639 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7.620.941.639,00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5.100.000.000</a:t>
                      </a: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Sisanya akan disetor di TW III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06/04/2022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1074926984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0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JAMKRIDA JATENG ✓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8.100.000.000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8.100.000.000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107.415.144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8.207.415.144,00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8.207.415.144,00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101,33%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11/04/2022</a:t>
                      </a:r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2486833829"/>
                  </a:ext>
                </a:extLst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11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PT </a:t>
                      </a:r>
                      <a:r>
                        <a:rPr lang="en-ID" sz="10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Askrida</a:t>
                      </a:r>
                      <a:endParaRPr lang="en-ID" sz="10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2.800.000.000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 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3.198.101.180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</a:t>
                      </a:r>
                      <a:r>
                        <a:rPr lang="id-ID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603.092.233 </a:t>
                      </a:r>
                      <a:endParaRPr lang="id-ID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3.198.101.180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3.198.101.180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100,00%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29/03/2022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</a:tr>
              <a:tr h="343643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900" b="1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  <a:endParaRPr lang="en-ID" sz="900" b="1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 "/>
                        </a:rPr>
                        <a:t>     557.044.264.000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Tahoma "/>
                          <a:ea typeface="+mn-ea"/>
                          <a:cs typeface="+mn-cs"/>
                        </a:rPr>
                        <a:t>       </a:t>
                      </a:r>
                      <a:r>
                        <a:rPr lang="id-ID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ahoma "/>
                          <a:ea typeface="+mn-ea"/>
                          <a:cs typeface="+mn-cs"/>
                        </a:rPr>
                        <a:t>546.716.228.734</a:t>
                      </a:r>
                      <a:r>
                        <a:rPr lang="en-US" sz="11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Tahoma "/>
                          <a:ea typeface="+mn-ea"/>
                          <a:cs typeface="+mn-cs"/>
                        </a:rPr>
                        <a:t> </a:t>
                      </a:r>
                      <a:endParaRPr lang="en-US" sz="1100" b="1" i="0" u="none" strike="noStrike" kern="1200" dirty="0">
                        <a:solidFill>
                          <a:srgbClr val="000000"/>
                        </a:solidFill>
                        <a:effectLst/>
                        <a:latin typeface="Tahoma 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(10.328.035.266)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546.71</a:t>
                      </a:r>
                      <a:r>
                        <a:rPr lang="id-ID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6.228.734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9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r>
                        <a:rPr lang="id-ID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43.383.643.309</a:t>
                      </a:r>
                      <a:r>
                        <a:rPr lang="en-US" sz="9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endParaRPr lang="en-US" sz="900" b="1" u="none" strike="noStrike" kern="1200" dirty="0">
                        <a:solidFill>
                          <a:schemeClr val="dk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81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,</a:t>
                      </a:r>
                      <a:r>
                        <a:rPr lang="id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09</a:t>
                      </a:r>
                      <a:r>
                        <a:rPr lang="en-ID" sz="900" b="1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900" b="1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 </a:t>
                      </a:r>
                      <a:endParaRPr lang="en-ID" sz="9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72000" marT="8812" marB="0" anchor="ctr"/>
                </a:tc>
                <a:extLst>
                  <a:ext uri="{0D108BD9-81ED-4DB2-BD59-A6C34878D82A}">
                    <a16:rowId xmlns="" xmlns:a16="http://schemas.microsoft.com/office/drawing/2014/main" val="2065711275"/>
                  </a:ext>
                </a:extLst>
              </a:tr>
              <a:tr h="206185">
                <a:tc>
                  <a:txBody>
                    <a:bodyPr/>
                    <a:lstStyle/>
                    <a:p>
                      <a:pPr algn="l" fontAlgn="ctr"/>
                      <a:r>
                        <a:rPr lang="en-ID" sz="900" u="none" strike="noStrike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* **</a:t>
                      </a:r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noFill/>
                  </a:tcPr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ID" sz="9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 </a:t>
                      </a:r>
                      <a:r>
                        <a:rPr lang="en-ID" sz="900" u="none" strike="noStrike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Perubahan</a:t>
                      </a:r>
                      <a:r>
                        <a:rPr lang="en-ID" sz="9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APBD TA. 2022 </a:t>
                      </a:r>
                      <a:r>
                        <a:rPr lang="id-ID" sz="90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berdasarkan hasil </a:t>
                      </a:r>
                      <a:r>
                        <a:rPr lang="en-ID" sz="900" u="none" strike="noStrike" dirty="0" err="1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pembahasan</a:t>
                      </a:r>
                      <a:r>
                        <a:rPr lang="en-ID" sz="90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900" u="none" strike="noStrike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dalam</a:t>
                      </a:r>
                      <a:r>
                        <a:rPr lang="en-ID" sz="9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900" u="none" strike="noStrike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Rakor</a:t>
                      </a:r>
                      <a:r>
                        <a:rPr lang="en-ID" sz="9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en-ID" sz="900" u="none" strike="noStrike" dirty="0" err="1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Pendapatan</a:t>
                      </a:r>
                      <a:r>
                        <a:rPr lang="en-ID" sz="900" u="none" strike="noStrike" dirty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id-ID" sz="900" u="none" strike="noStrike" dirty="0" smtClean="0"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Perubahan APBD 2022</a:t>
                      </a:r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ID" sz="900" b="0" i="0" u="none" strike="noStrike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ID" sz="9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8812" marR="8812" marT="8812" marB="0" anchor="ctr"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88371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58676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0" y="1"/>
            <a:ext cx="12192000" cy="101600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TARGET DAN REALISASI LAIN-LAIN PAD YANG SAH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S.D. 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</a:t>
            </a:r>
          </a:p>
        </p:txBody>
      </p:sp>
      <p:sp>
        <p:nvSpPr>
          <p:cNvPr id="11" name="Flowchart: Preparation 31">
            <a:extLst>
              <a:ext uri="{FF2B5EF4-FFF2-40B4-BE49-F238E27FC236}">
                <a16:creationId xmlns="" xmlns:a16="http://schemas.microsoft.com/office/drawing/2014/main" id="{002B6F1A-DF36-9D4D-9F23-793ABE008838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14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2" name="Picture 11">
            <a:hlinkClick r:id="rId3" action="ppaction://hlinksldjump"/>
            <a:extLst>
              <a:ext uri="{FF2B5EF4-FFF2-40B4-BE49-F238E27FC236}">
                <a16:creationId xmlns="" xmlns:a16="http://schemas.microsoft.com/office/drawing/2014/main" id="{1AE742F0-04B7-CC44-84A0-48B056786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606DA479-C3C9-CB4C-BC36-D076AF5FA8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4215195"/>
              </p:ext>
            </p:extLst>
          </p:nvPr>
        </p:nvGraphicFramePr>
        <p:xfrm>
          <a:off x="350994" y="1253333"/>
          <a:ext cx="5482432" cy="47967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2532297131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2014874743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3991689350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1755293470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809680415"/>
                    </a:ext>
                  </a:extLst>
                </a:gridCol>
              </a:tblGrid>
              <a:tr h="881034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OPD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30523522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98983232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P DAN 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13912128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KESEHATAN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75.000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50050472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RSUD MOEWARDI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710.000.000.000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550.898.935.335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77,59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54005889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RSUD MARGONO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378.000.000.000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275.502.805.478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72,88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3683885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RSUD TUGUREJO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164.000.000.000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148.958.119.441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90,83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55538200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RSUD KELET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41.374.000.000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36.055.202.447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87,14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38640123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RSJD  AMINO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54.000.000.000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59.286.281.267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109,79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860171515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RSJD SURAKARTA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36.000.000.000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21.996.379.146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61,10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391078809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RSJD SDEJARWADI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42.000.000.000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24.105.706.963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57,39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86928163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PU BMCK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61.735.000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22425849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PUSDATARU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77.770.500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16950124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BAPPEDA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500833295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DISHUB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9.491.362.000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13.884.692.396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146,29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000225946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LHK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54380907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SOSIAL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121889273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DISNAKERTRANS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39.000.000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10.525.000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26,99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546885610"/>
                  </a:ext>
                </a:extLst>
              </a:tr>
              <a:tr h="217539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 KOP DAN UKM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46.725.000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2305837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="" xmlns:a16="http://schemas.microsoft.com/office/drawing/2014/main" id="{9C98C742-D01F-9C49-82EE-394F7072DD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282462"/>
              </p:ext>
            </p:extLst>
          </p:nvPr>
        </p:nvGraphicFramePr>
        <p:xfrm>
          <a:off x="6358576" y="1253333"/>
          <a:ext cx="5482432" cy="48844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99">
                  <a:extLst>
                    <a:ext uri="{9D8B030D-6E8A-4147-A177-3AD203B41FA5}">
                      <a16:colId xmlns="" xmlns:a16="http://schemas.microsoft.com/office/drawing/2014/main" val="700673363"/>
                    </a:ext>
                  </a:extLst>
                </a:gridCol>
                <a:gridCol w="1342088">
                  <a:extLst>
                    <a:ext uri="{9D8B030D-6E8A-4147-A177-3AD203B41FA5}">
                      <a16:colId xmlns="" xmlns:a16="http://schemas.microsoft.com/office/drawing/2014/main" val="3519126744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2570626396"/>
                    </a:ext>
                  </a:extLst>
                </a:gridCol>
                <a:gridCol w="1315247">
                  <a:extLst>
                    <a:ext uri="{9D8B030D-6E8A-4147-A177-3AD203B41FA5}">
                      <a16:colId xmlns="" xmlns:a16="http://schemas.microsoft.com/office/drawing/2014/main" val="821626213"/>
                    </a:ext>
                  </a:extLst>
                </a:gridCol>
                <a:gridCol w="1157551">
                  <a:extLst>
                    <a:ext uri="{9D8B030D-6E8A-4147-A177-3AD203B41FA5}">
                      <a16:colId xmlns="" xmlns:a16="http://schemas.microsoft.com/office/drawing/2014/main" val="1743427301"/>
                    </a:ext>
                  </a:extLst>
                </a:gridCol>
              </a:tblGrid>
              <a:tr h="89361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NO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36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OPD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TARGET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REALISASI </a:t>
                      </a: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S.D. </a:t>
                      </a:r>
                      <a:r>
                        <a:rPr lang="en-US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AGUSTUS</a:t>
                      </a:r>
                      <a:r>
                        <a:rPr lang="en-ID" sz="1200" b="1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</a:t>
                      </a:r>
                      <a:endParaRPr lang="en-ID" sz="1200" b="1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  <a:p>
                      <a:pPr algn="ctr" fontAlgn="ctr"/>
                      <a:r>
                        <a:rPr lang="en-ID" sz="1200" b="1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TAHUN 2022</a:t>
                      </a:r>
                      <a:endParaRPr lang="en-ID" sz="12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%</a:t>
                      </a:r>
                    </a:p>
                  </a:txBody>
                  <a:tcPr marL="72000" marR="72000" marT="9439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7078534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D" sz="1200" b="1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</a:t>
                      </a:r>
                      <a:endParaRPr lang="en-ID" sz="12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72000" marR="72000" marT="9439" marB="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53885838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DPM-PTSP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793349979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DISPORAPAR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16758080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SATPOL PP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36.680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82616187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BIRO UMUM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53334818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BPKAD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120.565.500.000 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52.452.384.494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43,51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01853532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SET DPRD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202385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BAPENDA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120.000.000.000 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144.067.476.207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120,06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73218989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BPSDMD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16.670.548.000 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12.084.450.750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72,49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64055009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BAN HUB JAKARTA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87703845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BKD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650.000.000 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569.300.000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87,58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50764074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ARPUS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60900162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29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DISTANBUN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737763866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DISNAKKESWAN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230252731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DINAS ESDM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138173527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DISKANLUT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78.264.043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0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23763597"/>
                  </a:ext>
                </a:extLst>
              </a:tr>
              <a:tr h="220645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DISPERINDAG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</a:rPr>
                        <a:t>1.528.752.000 </a:t>
                      </a: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1.508.768.550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/>
                        </a:rPr>
                        <a:t>98,69 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760348643"/>
                  </a:ext>
                </a:extLst>
              </a:tr>
              <a:tr h="239842">
                <a:tc>
                  <a:txBody>
                    <a:bodyPr/>
                    <a:lstStyle/>
                    <a:p>
                      <a:pPr algn="ctr" rtl="0" fontAlgn="ctr"/>
                      <a:endParaRPr lang="id-ID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id-ID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JUMLAH</a:t>
                      </a:r>
                    </a:p>
                  </a:txBody>
                  <a:tcPr marL="72000" marR="144000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1100" b="0" i="0" u="none" strike="noStrike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1.694.319.162.000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5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/>
                        </a:rPr>
                        <a:t>1.341.645.633.697 </a:t>
                      </a:r>
                      <a:endParaRPr 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Tahom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79</a:t>
                      </a:r>
                      <a:r>
                        <a:rPr lang="en-ID" sz="11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Tahoma" panose="020B0604030504040204" pitchFamily="34" charset="0"/>
                        </a:rPr>
                        <a:t>,18%</a:t>
                      </a:r>
                      <a:endParaRPr lang="en-ID" sz="11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7438251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00158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1510775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eparation 31">
            <a:extLst>
              <a:ext uri="{FF2B5EF4-FFF2-40B4-BE49-F238E27FC236}">
                <a16:creationId xmlns="" xmlns:a16="http://schemas.microsoft.com/office/drawing/2014/main" id="{002B6F1A-DF36-9D4D-9F23-793ABE008838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15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2" name="Picture 11">
            <a:hlinkClick r:id="rId3" action="ppaction://hlinksldjump"/>
            <a:extLst>
              <a:ext uri="{FF2B5EF4-FFF2-40B4-BE49-F238E27FC236}">
                <a16:creationId xmlns="" xmlns:a16="http://schemas.microsoft.com/office/drawing/2014/main" id="{1AE742F0-04B7-CC44-84A0-48B056786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72550" y="135968"/>
            <a:ext cx="5690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sz="2400" b="1" dirty="0"/>
              <a:t>TARGET DAN REALISASI </a:t>
            </a:r>
            <a:r>
              <a:rPr lang="id-ID" sz="2400" b="1" dirty="0" smtClean="0"/>
              <a:t>PENDAPATAN BLUD</a:t>
            </a:r>
            <a:endParaRPr lang="fi-FI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336923"/>
              </p:ext>
            </p:extLst>
          </p:nvPr>
        </p:nvGraphicFramePr>
        <p:xfrm>
          <a:off x="799340" y="736637"/>
          <a:ext cx="10167267" cy="54594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0687"/>
                <a:gridCol w="2846543"/>
                <a:gridCol w="1197007"/>
                <a:gridCol w="1576547"/>
                <a:gridCol w="1503559"/>
                <a:gridCol w="1521806"/>
                <a:gridCol w="821118"/>
              </a:tblGrid>
              <a:tr h="26874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No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OPD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Tahun Anggaran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 Target APBD Murni 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>
                          <a:effectLst/>
                        </a:rPr>
                        <a:t>REALISASI 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%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687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</a:rPr>
                        <a:t>s.d</a:t>
                      </a:r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 err="1" smtClean="0">
                          <a:effectLst/>
                        </a:rPr>
                        <a:t>Agustus</a:t>
                      </a:r>
                      <a:r>
                        <a:rPr lang="en-US" sz="1400" b="1" u="none" strike="noStrike" dirty="0" smtClean="0">
                          <a:effectLst/>
                        </a:rPr>
                        <a:t> </a:t>
                      </a:r>
                      <a:r>
                        <a:rPr lang="en-US" sz="1400" b="1" u="none" strike="noStrike" dirty="0">
                          <a:effectLst/>
                        </a:rPr>
                        <a:t>2022 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687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RSUD MOEWARDI SURAKARTA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710.000.000.000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550.898.935.335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550.898.935.335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77,59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710.000.000.000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615.924.221.687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1.096.083.274.297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154,38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723.840.000.000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616.833.116.448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932.632.010.637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128,85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722.302.734.000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459.177.770.541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682.447.684.996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94,48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RSUD MARGONO S. PURWOKERTO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378.000.000.000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275.502.805.478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275.502.805.478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72,88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375.000.000.000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229.574.023.362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555.980.036.192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148,26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375.632.300.000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255.004.778.558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428.494.231.557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114,07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350.000.000.000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211.662.468.126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382.565.627.755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109,30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RSUD TUGUREJO SEMARANG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164.000.000.000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148.958.119.441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148.958.119.441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90,83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167.188.000.000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115.368.524.415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221.383.394.575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132,42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145.119.000.000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105.831.295.953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170.706.555.450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117,63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323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154.000.000.000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92.291.302.727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132.599.502.326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86,10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300158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18378677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Preparation 31">
            <a:extLst>
              <a:ext uri="{FF2B5EF4-FFF2-40B4-BE49-F238E27FC236}">
                <a16:creationId xmlns="" xmlns:a16="http://schemas.microsoft.com/office/drawing/2014/main" id="{002B6F1A-DF36-9D4D-9F23-793ABE008838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16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12" name="Picture 11">
            <a:hlinkClick r:id="rId3" action="ppaction://hlinksldjump"/>
            <a:extLst>
              <a:ext uri="{FF2B5EF4-FFF2-40B4-BE49-F238E27FC236}">
                <a16:creationId xmlns="" xmlns:a16="http://schemas.microsoft.com/office/drawing/2014/main" id="{1AE742F0-04B7-CC44-84A0-48B056786D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372550" y="135968"/>
            <a:ext cx="56907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sz="2400" b="1" dirty="0"/>
              <a:t>TARGET DAN REALISASI </a:t>
            </a:r>
            <a:r>
              <a:rPr lang="id-ID" sz="2400" b="1" dirty="0" smtClean="0"/>
              <a:t>PENDAPATAN BLUD</a:t>
            </a:r>
            <a:endParaRPr lang="fi-FI" sz="2400" b="1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1192286"/>
              </p:ext>
            </p:extLst>
          </p:nvPr>
        </p:nvGraphicFramePr>
        <p:xfrm>
          <a:off x="1014247" y="627455"/>
          <a:ext cx="9690540" cy="57836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67833"/>
                <a:gridCol w="2713073"/>
                <a:gridCol w="1140881"/>
                <a:gridCol w="1502625"/>
                <a:gridCol w="1433060"/>
                <a:gridCol w="1450451"/>
                <a:gridCol w="782617"/>
              </a:tblGrid>
              <a:tr h="18638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No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OPD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Tahun Anggaran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 Target APBD Murni 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 REALISASI 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>
                          <a:effectLst/>
                        </a:rPr>
                        <a:t>Total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%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19281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 err="1">
                          <a:effectLst/>
                        </a:rPr>
                        <a:t>s.d</a:t>
                      </a:r>
                      <a:r>
                        <a:rPr lang="en-US" sz="1400" b="1" u="none" strike="noStrike" dirty="0">
                          <a:effectLst/>
                        </a:rPr>
                        <a:t> </a:t>
                      </a:r>
                      <a:r>
                        <a:rPr lang="en-US" sz="1400" b="1" u="none" strike="noStrike" dirty="0" err="1" smtClean="0">
                          <a:effectLst/>
                        </a:rPr>
                        <a:t>Agustus</a:t>
                      </a:r>
                      <a:r>
                        <a:rPr lang="en-US" sz="1400" b="1" u="none" strike="noStrike" dirty="0" smtClean="0">
                          <a:effectLst/>
                        </a:rPr>
                        <a:t> </a:t>
                      </a:r>
                      <a:r>
                        <a:rPr lang="en-US" sz="1400" b="1" u="none" strike="noStrike" dirty="0">
                          <a:effectLst/>
                        </a:rPr>
                        <a:t>2022 </a:t>
                      </a:r>
                      <a:endParaRPr lang="en-US" sz="1400" b="1" i="0" u="none" strike="noStrike" dirty="0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28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1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4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RSUD KELET DONOROJO JEPARA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41.374.000.000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36.055.202.447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36.055.202.447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87,14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37.000.000.000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24.740.975.031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49.509.558.788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133,81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34.586.524.000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25.689.040.314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34.802.451.480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100,62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41.100.000.000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21.105.882.866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33.408.631.911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81,29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5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RSJD DR. AMINO GONDOHUTOMO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54.000.000.000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59.286.281.267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59.286.281.267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109,79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53.000.000.000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28.734.599.687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51.102.616.824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96,42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47.600.000.000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34.855.585.335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53.363.009.574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112,11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47.000.000.000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31.819.886.486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48.910.953.719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104,07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6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RSJD SURAKARTA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36.000.000.000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21.996.379.146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21.996.379.146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61,10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41.103.300.000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32.380.692.601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76.247.667.943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185,50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28.500.000.000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23.498.687.267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34.540.247.747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121,19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21.563.748.295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19.615.500.981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29.473.995.288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136,68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7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RSJD RM. SUDJARWADI KLATEN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42.000.000.000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24.105.706.963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24.105.706.963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57,39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40.000.000.000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33.787.386.901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56.532.541.656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141,33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33.000.000.000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28.025.012.755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42.374.101.646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128,41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26993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400" u="none" strike="noStrike">
                          <a:effectLst/>
                        </a:rPr>
                        <a:t> </a:t>
                      </a:r>
                      <a:endParaRPr lang="en-US" sz="1400" b="0" i="0" u="none" strike="noStrike">
                        <a:effectLst/>
                        <a:latin typeface="Arial"/>
                      </a:endParaRPr>
                    </a:p>
                  </a:txBody>
                  <a:tcPr marL="4906" marR="4906" marT="4906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2019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 47.000.000.000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22.975.367.398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      36.540.731.750 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77,75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289392" y="6438657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7406214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946245" y="1"/>
            <a:ext cx="10299510" cy="101600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REKAPITULASI PENYALURAN BAGI HASIL PAJAK DAERAH KEPADA KABUPATEN/KOTA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PENERIMAAN PAJAK BULAN </a:t>
            </a:r>
            <a:r>
              <a:rPr lang="id-ID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838243"/>
              </p:ext>
            </p:extLst>
          </p:nvPr>
        </p:nvGraphicFramePr>
        <p:xfrm>
          <a:off x="697527" y="1016001"/>
          <a:ext cx="10196446" cy="5402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1810"/>
                <a:gridCol w="1280948"/>
                <a:gridCol w="1457365"/>
                <a:gridCol w="1388333"/>
                <a:gridCol w="1488047"/>
                <a:gridCol w="1227255"/>
                <a:gridCol w="1388333"/>
                <a:gridCol w="1434355"/>
              </a:tblGrid>
              <a:tr h="26219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KAB/KOTA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REALISASI </a:t>
                      </a:r>
                      <a:r>
                        <a:rPr lang="en-US" sz="12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PENYALURAN</a:t>
                      </a:r>
                      <a:r>
                        <a:rPr lang="id-ID" sz="12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DBH</a:t>
                      </a:r>
                      <a:r>
                        <a:rPr lang="id-ID" sz="1200" b="1" u="none" strike="noStrike" baseline="0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PAJAK PROVINSI</a:t>
                      </a:r>
                      <a:r>
                        <a:rPr lang="en-US" sz="12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TOTAL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682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PKB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BBNKB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PBBKB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PAP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Pajak</a:t>
                      </a:r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Rokok</a:t>
                      </a:r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7439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sng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KABUPATEN :</a:t>
                      </a:r>
                      <a:endParaRPr lang="en-US" sz="1200" b="1" i="0" u="sng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Semarang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31.163.335.951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18.354.402.598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36.614.519.756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417.662.443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39.518.364.224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126.068.284.972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Kendal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25.928.756.920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16.175.198.412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31.101.843.683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35.123.889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35.271.869.200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108.512.792.104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Demak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29.732.787.366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21.256.603.547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33.330.833.672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84.965.932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43.492.303.521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127.897.494.038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Grobogan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30.638.908.795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18.575.983.590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30.170.795.107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300.062.349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50.066.364.783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129.752.114.624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Pati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38.684.778.124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22.273.662.743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39.232.884.762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246.415.320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46.659.401.063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147.097.142.012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Kudus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29.823.938.228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17.386.264.332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29.478.162.919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29.330.778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34.147.058.249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110.864.754.506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Jepara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30.061.965.833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19.730.453.236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34.298.094.070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342.380.771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42.991.576.949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127.424.470.859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Rembang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15.970.823.477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9.953.498.782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25.452.291.415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57.064.974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28.777.306.426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80.210.985.074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Blora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19.996.336.269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11.097.791.339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19.258.983.276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43.391.604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35.072.937.479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85.469.439.967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Pekalongan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19.887.636.465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12.761.122.229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18.683.123.120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119.775.314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37.298.482.568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88.750.139.696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Batang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17.353.706.659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11.398.395.816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25.642.884.947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146.535.539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32.896.730.117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87.438.253.078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Pemalang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27.270.471.981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16.476.162.808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26.932.548.254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84.433.669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50.539.538.091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121.303.154.803 </a:t>
                      </a:r>
                    </a:p>
                  </a:txBody>
                  <a:tcPr marL="9525" marR="9525" marT="9525" marB="0" anchor="ctr"/>
                </a:tc>
              </a:tr>
              <a:tr h="3536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Tegal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29.574.061.797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18.577.866.285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33.976.808.563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125.588.358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53.845.587.324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136.099.912.327 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697527" y="6560936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id-ID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</p:spTree>
    <p:extLst>
      <p:ext uri="{BB962C8B-B14F-4D97-AF65-F5344CB8AC3E}">
        <p14:creationId xmlns:p14="http://schemas.microsoft.com/office/powerpoint/2010/main" val="22752503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946245" y="1"/>
            <a:ext cx="10299510" cy="101600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REKAPITULASI PENYALURAN BAGI HASIL PAJAK DAERAH KEPADA KABUPATEN/KOTA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PENERIMAAN PAJAK BULAN </a:t>
            </a:r>
            <a:r>
              <a:rPr lang="id-ID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697527" y="6560936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id-ID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18887"/>
              </p:ext>
            </p:extLst>
          </p:nvPr>
        </p:nvGraphicFramePr>
        <p:xfrm>
          <a:off x="697527" y="940842"/>
          <a:ext cx="10299512" cy="55449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7185"/>
                <a:gridCol w="1293896"/>
                <a:gridCol w="1472097"/>
                <a:gridCol w="1402366"/>
                <a:gridCol w="1503087"/>
                <a:gridCol w="1239661"/>
                <a:gridCol w="1402366"/>
                <a:gridCol w="1448854"/>
              </a:tblGrid>
              <a:tr h="2691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KAB/KOTA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REALISASI PENYALURAN </a:t>
                      </a:r>
                      <a:r>
                        <a:rPr lang="id-ID" sz="12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DBH</a:t>
                      </a:r>
                      <a:r>
                        <a:rPr lang="id-ID" sz="1200" b="1" u="none" strike="noStrike" baseline="0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PAJAK PROVINSI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TOTAL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275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PKB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BBNKB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PBBKB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PAP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Pajak</a:t>
                      </a:r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Rokok</a:t>
                      </a:r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8162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sng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KABUPATEN :</a:t>
                      </a:r>
                      <a:endParaRPr lang="en-US" sz="1200" b="1" i="0" u="sng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Brebes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31.614.892.861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21.713.380.985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38.490.019.600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87.599.349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51.776.195.180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143.682.087.975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Banyumas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42.705.308.680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23.250.521.524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42.280.204.787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281.771.129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52.374.794.391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160.892.600.511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Cilacap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42.229.185.013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23.656.114.272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40.077.607.811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832.943.538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63.008.786.124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169.804.636.758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Purbalingga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19.817.544.594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11.475.369.620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18.202.391.425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139.166.007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33.293.673.932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82.928.145.578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Banjarnegara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19.527.169.760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11.030.638.711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17.991.567.227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774.585.394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34.633.509.837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83.957.470.929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19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Magelang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30.200.402.284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16.555.828.677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31.805.093.923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215.515.882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46.018.537.433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124.795.378.199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Temanggung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17.104.371.390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8.781.211.387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20.961.188.225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104.531.694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32.592.643.235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79.543.945.931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Wonosobo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18.827.886.581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10.421.951.668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15.301.730.620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186.404.633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33.707.068.517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78.445.042.019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Purworejo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17.955.176.320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9.548.595.666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17.600.468.666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51.327.469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32.058.067.767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77.213.635.888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Kebumen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26.345.880.739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13.801.193.637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25.565.120.565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224.836.861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47.350.866.816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113.287.898.618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Klaten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37.891.410.683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20.404.008.918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36.602.368.050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204.285.820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44.981.918.317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140.083.991.788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Boyolali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28.456.362.837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14.889.274.251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26.022.065.108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95.117.181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39.771.743.617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109.234.562.994 </a:t>
                      </a:r>
                    </a:p>
                  </a:txBody>
                  <a:tcPr marL="9525" marR="9525" marT="9525" marB="0" anchor="ctr"/>
                </a:tc>
              </a:tr>
              <a:tr h="36298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26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Sragen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4911" marR="4911" marT="491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31.328.308.930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16.321.297.720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34.323.614.635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28.145.331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37.403.627.825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119.404.994.441 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836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034CCCD-15BA-154F-B9AB-C6D9D786BFFF}"/>
              </a:ext>
            </a:extLst>
          </p:cNvPr>
          <p:cNvSpPr/>
          <p:nvPr/>
        </p:nvSpPr>
        <p:spPr>
          <a:xfrm>
            <a:off x="946245" y="1"/>
            <a:ext cx="10299510" cy="1016000"/>
          </a:xfrm>
          <a:prstGeom prst="rect">
            <a:avLst/>
          </a:prstGeom>
          <a:noFill/>
          <a:ln w="28575"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REKAPITULASI PENYALURAN BAGI HASIL PAJAK DAERAH KEPADA KABUPATEN/KOTA 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S.D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PENERIMAAN PAJAK BULAN </a:t>
            </a:r>
            <a:r>
              <a:rPr lang="id-ID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AGUSTUS</a:t>
            </a:r>
            <a:r>
              <a:rPr lang="en-US" b="1" dirty="0" smtClean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TAHUN ANGGARAN 2022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5ED6163-F597-424E-9F1E-3652CB2BA3D1}"/>
              </a:ext>
            </a:extLst>
          </p:cNvPr>
          <p:cNvSpPr txBox="1"/>
          <p:nvPr/>
        </p:nvSpPr>
        <p:spPr>
          <a:xfrm>
            <a:off x="697527" y="6560936"/>
            <a:ext cx="36582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*Data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diakses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tanggal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</a:t>
            </a:r>
            <a:r>
              <a:rPr lang="id-ID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</a:t>
            </a:r>
            <a:r>
              <a:rPr lang="en-US" sz="1200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September </a:t>
            </a:r>
            <a:r>
              <a:rPr lang="en-US" sz="1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2022 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4053105"/>
              </p:ext>
            </p:extLst>
          </p:nvPr>
        </p:nvGraphicFramePr>
        <p:xfrm>
          <a:off x="697527" y="1024758"/>
          <a:ext cx="11014309" cy="53590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4468"/>
                <a:gridCol w="1383693"/>
                <a:gridCol w="1574262"/>
                <a:gridCol w="1499691"/>
                <a:gridCol w="1490485"/>
                <a:gridCol w="1351266"/>
                <a:gridCol w="1641040"/>
                <a:gridCol w="1499404"/>
              </a:tblGrid>
              <a:tr h="29967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No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KAB/KOTA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REALISASI PENYALURAN </a:t>
                      </a:r>
                      <a:r>
                        <a:rPr lang="id-ID" sz="12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DBH PAJAK PROVINSI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TOTAL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3156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PKB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BBNKB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PBBKB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PAP </a:t>
                      </a:r>
                      <a:endParaRPr lang="en-US" sz="1200" b="1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Pajak</a:t>
                      </a:r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r>
                        <a:rPr lang="en-US" sz="1200" b="1" u="none" strike="noStrike" dirty="0" err="1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Rokok</a:t>
                      </a:r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295634"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sng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KABUPATEN :</a:t>
                      </a:r>
                      <a:endParaRPr lang="en-US" sz="1200" b="1" i="0" u="sng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27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Sukoharjo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32.913.396.607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17.693.930.605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33.241.692.062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109.457.583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35.685.483.941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119.643.960.798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28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Karanganyar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32.050.733.381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16.677.893.903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29.804.564.079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170.674.267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36.327.585.626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115.031.451.256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29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Wonogiri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24.130.620.783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11.548.572.315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22.427.792.754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142.784.873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39.257.135.048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97.506.905.773 </a:t>
                      </a:r>
                    </a:p>
                  </a:txBody>
                  <a:tcPr marL="9525" marR="9525" marT="9525" marB="0" anchor="ctr"/>
                </a:tc>
              </a:tr>
              <a:tr h="24480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sng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KOTA </a:t>
                      </a:r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:</a:t>
                      </a:r>
                      <a:endParaRPr lang="en-US" sz="1200" b="1" i="0" u="sng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 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30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Semarang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130.002.049.019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76.963.632.678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89.628.818.390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303.291.360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55.334.622.603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352.232.414.050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31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Pekalongan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10.431.182.068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6.483.962.342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10.511.583.975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42.329.508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19.869.041.169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47.338.099.062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32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Surakarta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37.008.073.492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18.982.152.036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24.757.776.226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21.399.167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25.538.112.054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106.307.512.975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33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Salatiga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10.074.858.580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5.249.495.671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10.737.717.538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78.123.403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16.844.293.376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42.984.488.568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34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Tegal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9.824.482.283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5.970.094.425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10.728.696.147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11.597.271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18.991.208.930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45.526.079.056 </a:t>
                      </a:r>
                    </a:p>
                  </a:txBody>
                  <a:tcPr marL="9525" marR="9525" marT="9525" marB="0" anchor="ctr"/>
                </a:tc>
              </a:tr>
              <a:tr h="4160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35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Magelang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7.615.231.728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3.730.843.733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6.522.493.791 </a:t>
                      </a:r>
                      <a:endParaRPr lang="id-ID" sz="1200" b="0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   37.003.131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14.979.416.824 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id-ID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      32.884.989.207 </a:t>
                      </a:r>
                    </a:p>
                  </a:txBody>
                  <a:tcPr marL="9525" marR="9525" marT="9525" marB="0" anchor="ctr"/>
                </a:tc>
              </a:tr>
              <a:tr h="45906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TOTAL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5695" marR="5695" marT="5695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1.004.142.036.478 </a:t>
                      </a:r>
                      <a:endParaRPr lang="id-ID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579.167.370.461 </a:t>
                      </a:r>
                      <a:endParaRPr lang="id-ID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987.758.349.148 </a:t>
                      </a:r>
                      <a:endParaRPr lang="id-ID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6.175.621.791 </a:t>
                      </a:r>
                      <a:endParaRPr lang="id-ID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 </a:t>
                      </a:r>
                      <a:r>
                        <a:rPr lang="id-ID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1.342.375.852.556 </a:t>
                      </a:r>
                      <a:endParaRPr lang="id-ID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id-ID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3.919.619.230.434 </a:t>
                      </a:r>
                      <a:endParaRPr lang="id-ID" sz="1200" b="1" i="0" u="none" strike="noStrike" dirty="0">
                        <a:solidFill>
                          <a:srgbClr val="000000"/>
                        </a:solidFill>
                        <a:effectLst/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2348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2EE3328F-C5D9-4549-982E-7A3726182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8" y="-6349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83CF46BF-C57B-9C4F-93D2-AC843D460601}"/>
              </a:ext>
            </a:extLst>
          </p:cNvPr>
          <p:cNvSpPr/>
          <p:nvPr/>
        </p:nvSpPr>
        <p:spPr>
          <a:xfrm>
            <a:off x="-1" y="-6349"/>
            <a:ext cx="12200309" cy="6864349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solidFill>
                <a:schemeClr val="bg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113DF146-9AF0-5746-ABD4-E6A97D3B910E}"/>
              </a:ext>
            </a:extLst>
          </p:cNvPr>
          <p:cNvSpPr/>
          <p:nvPr/>
        </p:nvSpPr>
        <p:spPr>
          <a:xfrm>
            <a:off x="8309" y="5479643"/>
            <a:ext cx="12191999" cy="857250"/>
          </a:xfrm>
          <a:prstGeom prst="rect">
            <a:avLst/>
          </a:prstGeom>
          <a:solidFill>
            <a:schemeClr val="tx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TERIMA KASIH…</a:t>
            </a:r>
          </a:p>
        </p:txBody>
      </p:sp>
      <p:sp>
        <p:nvSpPr>
          <p:cNvPr id="8" name="Flowchart: Preparation 31">
            <a:extLst>
              <a:ext uri="{FF2B5EF4-FFF2-40B4-BE49-F238E27FC236}">
                <a16:creationId xmlns="" xmlns:a16="http://schemas.microsoft.com/office/drawing/2014/main" id="{272A6C57-AE30-F34D-AD63-9A401362C4AB}"/>
              </a:ext>
            </a:extLst>
          </p:cNvPr>
          <p:cNvSpPr/>
          <p:nvPr/>
        </p:nvSpPr>
        <p:spPr>
          <a:xfrm>
            <a:off x="11441712" y="6308835"/>
            <a:ext cx="381000" cy="381000"/>
          </a:xfrm>
          <a:prstGeom prst="flowChartPreparation">
            <a:avLst/>
          </a:prstGeom>
          <a:solidFill>
            <a:srgbClr val="FFFF00"/>
          </a:solidFill>
          <a:ln w="38100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fld id="{6390FB38-D6F0-4FD4-8FCF-1C1CBE27A4B5}" type="slidenum">
              <a:rPr lang="en-US" sz="1200" b="1" smtClean="0">
                <a:latin typeface="Tahoma" pitchFamily="34" charset="0"/>
                <a:ea typeface="Tahoma" pitchFamily="34" charset="0"/>
                <a:cs typeface="Tahoma" pitchFamily="34" charset="0"/>
              </a:rPr>
              <a:pPr algn="ctr"/>
              <a:t>20</a:t>
            </a:fld>
            <a:endParaRPr lang="en-US" sz="1200" b="1" dirty="0"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pic>
        <p:nvPicPr>
          <p:cNvPr id="9" name="Picture 8">
            <a:hlinkClick r:id="rId3" action="ppaction://hlinksldjump"/>
            <a:extLst>
              <a:ext uri="{FF2B5EF4-FFF2-40B4-BE49-F238E27FC236}">
                <a16:creationId xmlns="" xmlns:a16="http://schemas.microsoft.com/office/drawing/2014/main" id="{58A774F3-F901-E04B-BFF7-4C42CE82A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07" y="6332255"/>
            <a:ext cx="429812" cy="34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58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2288</TotalTime>
  <Words>3688</Words>
  <Application>Microsoft Office PowerPoint</Application>
  <PresentationFormat>Widescreen</PresentationFormat>
  <Paragraphs>2284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Tahoma</vt:lpstr>
      <vt:lpstr>Tahoma 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bambang</cp:lastModifiedBy>
  <cp:revision>132</cp:revision>
  <dcterms:created xsi:type="dcterms:W3CDTF">2022-04-25T13:00:00Z</dcterms:created>
  <dcterms:modified xsi:type="dcterms:W3CDTF">2022-09-14T04:25:50Z</dcterms:modified>
</cp:coreProperties>
</file>