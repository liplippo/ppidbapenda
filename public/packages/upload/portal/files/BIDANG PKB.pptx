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71" r:id="rId8"/>
    <p:sldId id="263" r:id="rId9"/>
    <p:sldId id="267" r:id="rId10"/>
    <p:sldId id="270" r:id="rId11"/>
    <p:sldId id="268" r:id="rId12"/>
    <p:sldId id="269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2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87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1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390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4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453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78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7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2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33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23355-1AC7-42E7-99A4-B17C7443FBA2}" type="datetimeFigureOut">
              <a:rPr lang="en-US" smtClean="0"/>
              <a:t>9/16/2022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153CD9-E6E5-455E-B02E-9A15DA3705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520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4.xlsx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package" Target="../embeddings/Microsoft_Excel_Worksheet5.xlsx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4.emf"/><Relationship Id="rId5" Type="http://schemas.openxmlformats.org/officeDocument/2006/relationships/package" Target="../embeddings/Microsoft_Excel_Worksheet6.xlsx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1.png"/><Relationship Id="rId7" Type="http://schemas.openxmlformats.org/officeDocument/2006/relationships/package" Target="../embeddings/Microsoft_Excel_Worksheet8.xls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Excel_Worksheet7.xlsx"/><Relationship Id="rId10" Type="http://schemas.openxmlformats.org/officeDocument/2006/relationships/image" Target="../media/image17.emf"/><Relationship Id="rId4" Type="http://schemas.openxmlformats.org/officeDocument/2006/relationships/image" Target="../media/image2.png"/><Relationship Id="rId9" Type="http://schemas.openxmlformats.org/officeDocument/2006/relationships/package" Target="../embeddings/Microsoft_Excel_Worksheet9.xls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emf"/><Relationship Id="rId5" Type="http://schemas.openxmlformats.org/officeDocument/2006/relationships/package" Target="../embeddings/Microsoft_Excel_Worksheet10.xlsx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Excel_Worksheet11.xlsx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Excel_Worksheet12.xlsx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Excel_Worksheet13.xlsx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0;p40"/>
          <p:cNvSpPr txBox="1">
            <a:spLocks noGrp="1"/>
          </p:cNvSpPr>
          <p:nvPr>
            <p:ph type="ctrTitle"/>
          </p:nvPr>
        </p:nvSpPr>
        <p:spPr>
          <a:xfrm>
            <a:off x="1295400" y="1894752"/>
            <a:ext cx="6593400" cy="162901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>
                <a:latin typeface="Baskerville Old Face" pitchFamily="18" charset="0"/>
              </a:rPr>
              <a:t>EVALUASI </a:t>
            </a:r>
            <a:r>
              <a:rPr lang="en-US" sz="3200" dirty="0">
                <a:latin typeface="Baskerville Old Face" pitchFamily="18" charset="0"/>
              </a:rPr>
              <a:t>PENERIMAAN</a:t>
            </a:r>
            <a:br>
              <a:rPr lang="en" sz="3200" dirty="0">
                <a:latin typeface="Baskerville Old Face" pitchFamily="18" charset="0"/>
              </a:rPr>
            </a:br>
            <a:r>
              <a:rPr lang="en-US" sz="3200" dirty="0">
                <a:latin typeface="Baskerville Old Face" pitchFamily="18" charset="0"/>
              </a:rPr>
              <a:t>PKB DAN BBNKB</a:t>
            </a:r>
            <a:br>
              <a:rPr lang="en" sz="3200" dirty="0">
                <a:latin typeface="Baskerville Old Face" pitchFamily="18" charset="0"/>
              </a:rPr>
            </a:br>
            <a:r>
              <a:rPr lang="en" sz="3200" dirty="0">
                <a:latin typeface="Baskerville Old Face" pitchFamily="18" charset="0"/>
              </a:rPr>
              <a:t>BULAN SEPTEMBER 2022</a:t>
            </a:r>
            <a:endParaRPr sz="3200" dirty="0">
              <a:solidFill>
                <a:schemeClr val="dk1"/>
              </a:solidFill>
              <a:latin typeface="Baskerville Old Face" pitchFamily="18" charset="0"/>
            </a:endParaRPr>
          </a:p>
        </p:txBody>
      </p:sp>
      <p:sp>
        <p:nvSpPr>
          <p:cNvPr id="7" name="Google Shape;290;p40"/>
          <p:cNvSpPr txBox="1">
            <a:spLocks/>
          </p:cNvSpPr>
          <p:nvPr/>
        </p:nvSpPr>
        <p:spPr>
          <a:xfrm>
            <a:off x="2514600" y="3534655"/>
            <a:ext cx="4155000" cy="4072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bg1"/>
                </a:solidFill>
                <a:latin typeface="Baskerville Old Face" pitchFamily="18" charset="0"/>
              </a:rPr>
              <a:t>JEPARA, 16 SEPTEMBER 2022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4285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Google Shape;521;p45"/>
          <p:cNvSpPr txBox="1">
            <a:spLocks/>
          </p:cNvSpPr>
          <p:nvPr/>
        </p:nvSpPr>
        <p:spPr>
          <a:xfrm>
            <a:off x="359229" y="838200"/>
            <a:ext cx="8343900" cy="1282389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Berdasarkan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hasil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penerimaan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PKB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sd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31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Agustus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2022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telah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mencapai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Rp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3,347M (60,62%)  </a:t>
            </a:r>
          </a:p>
          <a:p>
            <a:pPr marL="139700"/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diatas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target AKP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sebesar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Rp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 3,294M (59,67%)</a:t>
            </a:r>
          </a:p>
          <a:p>
            <a:pPr marL="139700"/>
            <a:r>
              <a:rPr lang="en-US" sz="1500" b="1" dirty="0">
                <a:solidFill>
                  <a:srgbClr val="FF0000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NAMUN MASIH DIBAWAH TARGET AKSELERASI </a:t>
            </a:r>
            <a:r>
              <a:rPr lang="en-US" sz="1500" b="1" dirty="0" err="1">
                <a:solidFill>
                  <a:srgbClr val="FF0000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s.d.</a:t>
            </a:r>
            <a:r>
              <a:rPr lang="en-US" sz="1500" b="1" dirty="0">
                <a:solidFill>
                  <a:srgbClr val="FF0000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</a:t>
            </a:r>
            <a:r>
              <a:rPr lang="en-US" sz="1500" b="1" dirty="0" err="1">
                <a:solidFill>
                  <a:srgbClr val="FF0000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Agustus</a:t>
            </a:r>
            <a:r>
              <a:rPr lang="en-US" sz="1500" b="1" dirty="0">
                <a:solidFill>
                  <a:srgbClr val="FF0000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 2022 </a:t>
            </a:r>
            <a:r>
              <a:rPr lang="en-US" sz="1500" b="1" dirty="0" err="1">
                <a:solidFill>
                  <a:srgbClr val="FF0000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sebesar</a:t>
            </a:r>
            <a:r>
              <a:rPr lang="en-US" sz="1500" b="1" dirty="0">
                <a:solidFill>
                  <a:srgbClr val="FF0000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63,91%.  </a:t>
            </a:r>
          </a:p>
          <a:p>
            <a:pPr marL="139700"/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                Target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sd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bulan</a:t>
            </a:r>
            <a:r>
              <a:rPr lang="en-US" sz="1500" b="1" dirty="0">
                <a:solidFill>
                  <a:schemeClr val="tx1"/>
                </a:solidFill>
                <a:latin typeface="Baskerville Old Face" pitchFamily="18" charset="0"/>
                <a:ea typeface="Tahoma" pitchFamily="34" charset="0"/>
                <a:cs typeface="Aharoni" pitchFamily="2" charset="-79"/>
              </a:rPr>
              <a:t> September 2022 AKP 68,00%</a:t>
            </a:r>
            <a:endParaRPr lang="en-US" sz="1500" b="1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601213"/>
              </p:ext>
            </p:extLst>
          </p:nvPr>
        </p:nvGraphicFramePr>
        <p:xfrm>
          <a:off x="38100" y="2173075"/>
          <a:ext cx="4335331" cy="378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" name="Worksheet" r:id="rId5" imgW="9382230" imgH="3133815" progId="Excel.Sheet.12">
                  <p:embed/>
                </p:oleObj>
              </mc:Choice>
              <mc:Fallback>
                <p:oleObj name="Worksheet" r:id="rId5" imgW="9382230" imgH="31338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" y="2173075"/>
                        <a:ext cx="4335331" cy="3784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654" y="2198914"/>
            <a:ext cx="4673145" cy="3748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2108654" y="119743"/>
            <a:ext cx="4622572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CAPAIAN PENERIMAAN PKB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029200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</p:spTree>
    <p:extLst>
      <p:ext uri="{BB962C8B-B14F-4D97-AF65-F5344CB8AC3E}">
        <p14:creationId xmlns:p14="http://schemas.microsoft.com/office/powerpoint/2010/main" val="2443178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2108654" y="119743"/>
            <a:ext cx="4622572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CAPAIAN PENERIMAAN PKB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029200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646910"/>
              </p:ext>
            </p:extLst>
          </p:nvPr>
        </p:nvGraphicFramePr>
        <p:xfrm>
          <a:off x="228600" y="1752600"/>
          <a:ext cx="863441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Worksheet" r:id="rId5" imgW="9115470" imgH="504915" progId="Excel.Sheet.12">
                  <p:embed/>
                </p:oleObj>
              </mc:Choice>
              <mc:Fallback>
                <p:oleObj name="Worksheet" r:id="rId5" imgW="9115470" imgH="5049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600" y="1752600"/>
                        <a:ext cx="8634413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2286000"/>
            <a:ext cx="8610601" cy="37719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590800" y="1219200"/>
            <a:ext cx="427672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REALISASI PKB </a:t>
            </a:r>
            <a:r>
              <a:rPr lang="en-US" sz="1400" b="1" dirty="0" err="1">
                <a:latin typeface="Baskerville Old Face" pitchFamily="18" charset="0"/>
              </a:rPr>
              <a:t>s.d.</a:t>
            </a:r>
            <a:r>
              <a:rPr lang="en-US" sz="1400" b="1" dirty="0">
                <a:latin typeface="Baskerville Old Face" pitchFamily="18" charset="0"/>
              </a:rPr>
              <a:t> 31 AGUSTUS</a:t>
            </a:r>
          </a:p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PADA PERIODE YANG SAMA</a:t>
            </a:r>
          </a:p>
          <a:p>
            <a:pPr marL="139700" indent="0" algn="just"/>
            <a:endParaRPr lang="en-US" b="1" dirty="0">
              <a:latin typeface="Baskerville Old Fac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70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1828800" y="119743"/>
            <a:ext cx="5029200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CAPAIAN PENERIMAAN BBNKB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155974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59746"/>
              </p:ext>
            </p:extLst>
          </p:nvPr>
        </p:nvGraphicFramePr>
        <p:xfrm>
          <a:off x="152400" y="2057400"/>
          <a:ext cx="4305300" cy="388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Worksheet" r:id="rId5" imgW="5600610" imgH="2838360" progId="Excel.Sheet.12">
                  <p:embed/>
                </p:oleObj>
              </mc:Choice>
              <mc:Fallback>
                <p:oleObj name="Worksheet" r:id="rId5" imgW="5600610" imgH="28383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" y="2057400"/>
                        <a:ext cx="4305300" cy="3886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854" y="2057400"/>
            <a:ext cx="4549621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1133475" y="924520"/>
            <a:ext cx="69913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just"/>
            <a:r>
              <a:rPr lang="en-US" b="1" dirty="0" err="1">
                <a:latin typeface="Baskerville Old Face" pitchFamily="18" charset="0"/>
              </a:rPr>
              <a:t>Capaian</a:t>
            </a:r>
            <a:r>
              <a:rPr lang="en-US" b="1" dirty="0">
                <a:latin typeface="Baskerville Old Face" pitchFamily="18" charset="0"/>
              </a:rPr>
              <a:t> </a:t>
            </a:r>
            <a:r>
              <a:rPr lang="en-US" b="1" dirty="0" err="1">
                <a:latin typeface="Baskerville Old Face" pitchFamily="18" charset="0"/>
              </a:rPr>
              <a:t>penerimaan</a:t>
            </a:r>
            <a:r>
              <a:rPr lang="en-US" b="1" dirty="0">
                <a:latin typeface="Baskerville Old Face" pitchFamily="18" charset="0"/>
              </a:rPr>
              <a:t> BBNKB </a:t>
            </a:r>
            <a:r>
              <a:rPr lang="en-US" b="1" dirty="0" err="1">
                <a:latin typeface="Baskerville Old Face" pitchFamily="18" charset="0"/>
              </a:rPr>
              <a:t>s.d</a:t>
            </a:r>
            <a:r>
              <a:rPr lang="en-US" b="1" dirty="0">
                <a:latin typeface="Baskerville Old Face" pitchFamily="18" charset="0"/>
              </a:rPr>
              <a:t> 31 </a:t>
            </a:r>
            <a:r>
              <a:rPr lang="en-US" b="1" dirty="0" err="1">
                <a:latin typeface="Baskerville Old Face" pitchFamily="18" charset="0"/>
              </a:rPr>
              <a:t>Agustus</a:t>
            </a:r>
            <a:r>
              <a:rPr lang="en-US" b="1" dirty="0">
                <a:latin typeface="Baskerville Old Face" pitchFamily="18" charset="0"/>
              </a:rPr>
              <a:t> 2022 </a:t>
            </a:r>
            <a:r>
              <a:rPr lang="en-US" b="1" dirty="0" err="1">
                <a:latin typeface="Baskerville Old Face" pitchFamily="18" charset="0"/>
              </a:rPr>
              <a:t>sebesar</a:t>
            </a:r>
            <a:r>
              <a:rPr lang="en-US" b="1" dirty="0">
                <a:latin typeface="Baskerville Old Face" pitchFamily="18" charset="0"/>
              </a:rPr>
              <a:t> </a:t>
            </a:r>
            <a:r>
              <a:rPr lang="en-US" b="1" dirty="0" err="1">
                <a:latin typeface="Baskerville Old Face" pitchFamily="18" charset="0"/>
              </a:rPr>
              <a:t>Rp</a:t>
            </a:r>
            <a:r>
              <a:rPr lang="en-US" b="1" dirty="0">
                <a:latin typeface="Baskerville Old Face" pitchFamily="18" charset="0"/>
              </a:rPr>
              <a:t>  1.930.M (55,70%) </a:t>
            </a:r>
            <a:r>
              <a:rPr lang="en-US" b="1" dirty="0" err="1">
                <a:solidFill>
                  <a:srgbClr val="C00000"/>
                </a:solidFill>
                <a:latin typeface="Baskerville Old Face" pitchFamily="18" charset="0"/>
              </a:rPr>
              <a:t>tidak</a:t>
            </a:r>
            <a:r>
              <a:rPr lang="en-US" b="1" dirty="0">
                <a:solidFill>
                  <a:srgbClr val="C00000"/>
                </a:solidFill>
                <a:latin typeface="Baskerville Old Face" pitchFamily="18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Baskerville Old Face" pitchFamily="18" charset="0"/>
              </a:rPr>
              <a:t>mencapai</a:t>
            </a:r>
            <a:r>
              <a:rPr lang="en-US" b="1" dirty="0">
                <a:solidFill>
                  <a:srgbClr val="C00000"/>
                </a:solidFill>
                <a:latin typeface="Baskerville Old Face" pitchFamily="18" charset="0"/>
              </a:rPr>
              <a:t> target AKP</a:t>
            </a:r>
            <a:r>
              <a:rPr lang="en-US" b="1" dirty="0">
                <a:latin typeface="Baskerville Old Face" pitchFamily="18" charset="0"/>
              </a:rPr>
              <a:t>  </a:t>
            </a:r>
            <a:r>
              <a:rPr lang="en-US" b="1" dirty="0" err="1">
                <a:latin typeface="Baskerville Old Face" pitchFamily="18" charset="0"/>
              </a:rPr>
              <a:t>s.d</a:t>
            </a:r>
            <a:r>
              <a:rPr lang="en-US" b="1" dirty="0">
                <a:latin typeface="Baskerville Old Face" pitchFamily="18" charset="0"/>
              </a:rPr>
              <a:t> 31 </a:t>
            </a:r>
            <a:r>
              <a:rPr lang="en-US" b="1" dirty="0" err="1">
                <a:latin typeface="Baskerville Old Face" pitchFamily="18" charset="0"/>
              </a:rPr>
              <a:t>Agustus</a:t>
            </a:r>
            <a:r>
              <a:rPr lang="en-US" b="1" dirty="0">
                <a:latin typeface="Baskerville Old Face" pitchFamily="18" charset="0"/>
              </a:rPr>
              <a:t> 2022  </a:t>
            </a:r>
            <a:r>
              <a:rPr lang="en-US" b="1" dirty="0" err="1">
                <a:latin typeface="Baskerville Old Face" pitchFamily="18" charset="0"/>
              </a:rPr>
              <a:t>sebesar</a:t>
            </a:r>
            <a:r>
              <a:rPr lang="en-US" b="1" dirty="0">
                <a:latin typeface="Baskerville Old Face" pitchFamily="18" charset="0"/>
              </a:rPr>
              <a:t> Rp2,102M  (60,67%)</a:t>
            </a:r>
          </a:p>
        </p:txBody>
      </p:sp>
    </p:spTree>
    <p:extLst>
      <p:ext uri="{BB962C8B-B14F-4D97-AF65-F5344CB8AC3E}">
        <p14:creationId xmlns:p14="http://schemas.microsoft.com/office/powerpoint/2010/main" val="2040854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1828800" y="119743"/>
            <a:ext cx="5029200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CAPAIAN PENERIMAAN BBNKB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155974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779998"/>
              </p:ext>
            </p:extLst>
          </p:nvPr>
        </p:nvGraphicFramePr>
        <p:xfrm>
          <a:off x="695325" y="1990130"/>
          <a:ext cx="7848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Worksheet" r:id="rId5" imgW="5248260" imgH="390615" progId="Excel.Sheet.12">
                  <p:embed/>
                </p:oleObj>
              </mc:Choice>
              <mc:Fallback>
                <p:oleObj name="Worksheet" r:id="rId5" imgW="5248260" imgH="3906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325" y="1990130"/>
                        <a:ext cx="78486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" y="2514600"/>
            <a:ext cx="7848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2581275" y="1419225"/>
            <a:ext cx="4276725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REALISASI BBNKB </a:t>
            </a:r>
            <a:r>
              <a:rPr lang="en-US" sz="1400" b="1" dirty="0" err="1">
                <a:latin typeface="Baskerville Old Face" pitchFamily="18" charset="0"/>
              </a:rPr>
              <a:t>s.d.</a:t>
            </a:r>
            <a:r>
              <a:rPr lang="en-US" sz="1400" b="1" dirty="0">
                <a:latin typeface="Baskerville Old Face" pitchFamily="18" charset="0"/>
              </a:rPr>
              <a:t> 31 AGUSTUS</a:t>
            </a:r>
          </a:p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PADA PERIODE YANG SAMA</a:t>
            </a:r>
          </a:p>
          <a:p>
            <a:pPr marL="139700" indent="0" algn="just"/>
            <a:endParaRPr lang="en-US" b="1" dirty="0">
              <a:latin typeface="Baskerville Old Fac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141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1828800" y="119743"/>
            <a:ext cx="5029200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PROGRES PIUTANG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155974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0975" y="914400"/>
            <a:ext cx="861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Progress  </a:t>
            </a:r>
            <a:r>
              <a:rPr lang="en-US" sz="1400" b="1" dirty="0" err="1">
                <a:latin typeface="Baskerville Old Face" pitchFamily="18" charset="0"/>
              </a:rPr>
              <a:t>Pembayaran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Piutang</a:t>
            </a:r>
            <a:r>
              <a:rPr lang="en-US" sz="1400" b="1" dirty="0">
                <a:latin typeface="Baskerville Old Face" pitchFamily="18" charset="0"/>
              </a:rPr>
              <a:t> PKB (Audited 2021)</a:t>
            </a:r>
          </a:p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Per </a:t>
            </a:r>
            <a:r>
              <a:rPr lang="en-US" sz="1400" b="1" dirty="0" err="1">
                <a:latin typeface="Baskerville Old Face" pitchFamily="18" charset="0"/>
              </a:rPr>
              <a:t>Tanggal</a:t>
            </a:r>
            <a:r>
              <a:rPr lang="en-US" sz="1400" b="1" dirty="0">
                <a:latin typeface="Baskerville Old Face" pitchFamily="18" charset="0"/>
              </a:rPr>
              <a:t> 31Agustus 2022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84274"/>
              </p:ext>
            </p:extLst>
          </p:nvPr>
        </p:nvGraphicFramePr>
        <p:xfrm>
          <a:off x="495300" y="1600200"/>
          <a:ext cx="8191499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Worksheet" r:id="rId5" imgW="7524630" imgH="7800975" progId="Excel.Sheet.12">
                  <p:embed/>
                </p:oleObj>
              </mc:Choice>
              <mc:Fallback>
                <p:oleObj name="Worksheet" r:id="rId5" imgW="7524630" imgH="78009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5300" y="1600200"/>
                        <a:ext cx="8191499" cy="510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138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1828800" y="119743"/>
            <a:ext cx="5029200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PROGRES PIUTANG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155974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38100" y="4343400"/>
            <a:ext cx="92964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just"/>
            <a:r>
              <a:rPr lang="en-US" sz="1400" b="1" dirty="0" err="1">
                <a:latin typeface="Baskerville Old Face" pitchFamily="18" charset="0"/>
              </a:rPr>
              <a:t>Diinformasikan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pembayaran</a:t>
            </a:r>
            <a:r>
              <a:rPr lang="en-US" sz="1400" b="1" dirty="0">
                <a:latin typeface="Baskerville Old Face" pitchFamily="18" charset="0"/>
              </a:rPr>
              <a:t> per 15 </a:t>
            </a:r>
            <a:r>
              <a:rPr lang="en-US" sz="1400" b="1" dirty="0" err="1">
                <a:latin typeface="Baskerville Old Face" pitchFamily="18" charset="0"/>
              </a:rPr>
              <a:t>september</a:t>
            </a:r>
            <a:r>
              <a:rPr lang="en-US" sz="1400" b="1" dirty="0">
                <a:latin typeface="Baskerville Old Face" pitchFamily="18" charset="0"/>
              </a:rPr>
              <a:t> 2022 </a:t>
            </a:r>
            <a:r>
              <a:rPr lang="en-US" sz="1400" b="1" dirty="0" err="1">
                <a:latin typeface="Baskerville Old Face" pitchFamily="18" charset="0"/>
              </a:rPr>
              <a:t>sudah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mencapai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sebesar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Rp</a:t>
            </a:r>
            <a:r>
              <a:rPr lang="en-US" sz="1400" b="1" dirty="0">
                <a:latin typeface="Baskerville Old Face" pitchFamily="18" charset="0"/>
              </a:rPr>
              <a:t>. 345M (16,32 %) </a:t>
            </a:r>
            <a:r>
              <a:rPr lang="en-US" sz="1400" b="1" dirty="0" err="1">
                <a:latin typeface="Baskerville Old Face" pitchFamily="18" charset="0"/>
              </a:rPr>
              <a:t>dari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Tanggal</a:t>
            </a:r>
            <a:r>
              <a:rPr lang="en-US" sz="1400" b="1" dirty="0">
                <a:latin typeface="Baskerville Old Face" pitchFamily="18" charset="0"/>
              </a:rPr>
              <a:t> 1 </a:t>
            </a:r>
            <a:r>
              <a:rPr lang="en-US" sz="1400" b="1" dirty="0" err="1">
                <a:latin typeface="Baskerville Old Face" pitchFamily="18" charset="0"/>
              </a:rPr>
              <a:t>s.d</a:t>
            </a:r>
            <a:r>
              <a:rPr lang="en-US" sz="1400" b="1" dirty="0">
                <a:latin typeface="Baskerville Old Face" pitchFamily="18" charset="0"/>
              </a:rPr>
              <a:t> 15 </a:t>
            </a:r>
            <a:r>
              <a:rPr lang="en-US" sz="1400" b="1" dirty="0" err="1">
                <a:latin typeface="Baskerville Old Face" pitchFamily="18" charset="0"/>
              </a:rPr>
              <a:t>september</a:t>
            </a:r>
            <a:r>
              <a:rPr lang="en-US" sz="1400" b="1" dirty="0">
                <a:latin typeface="Baskerville Old Face" pitchFamily="18" charset="0"/>
              </a:rPr>
              <a:t> 2022 </a:t>
            </a:r>
            <a:r>
              <a:rPr lang="en-US" sz="1400" b="1" dirty="0" err="1">
                <a:latin typeface="Baskerville Old Face" pitchFamily="18" charset="0"/>
              </a:rPr>
              <a:t>sebesar</a:t>
            </a:r>
            <a:r>
              <a:rPr lang="en-US" sz="1400" b="1" dirty="0">
                <a:latin typeface="Baskerville Old Face" pitchFamily="18" charset="0"/>
              </a:rPr>
              <a:t> 25M 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(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efek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dari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pasal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 74 )</a:t>
            </a:r>
          </a:p>
          <a:p>
            <a:pPr marL="139700" indent="0" algn="just"/>
            <a:r>
              <a:rPr lang="en-US" sz="1400" b="1" dirty="0" err="1">
                <a:latin typeface="Baskerville Old Face" pitchFamily="18" charset="0"/>
              </a:rPr>
              <a:t>Pembayaran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Piutang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s.d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Bulan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Agustus</a:t>
            </a:r>
            <a:r>
              <a:rPr lang="en-US" sz="1400" b="1" dirty="0">
                <a:latin typeface="Baskerville Old Face" pitchFamily="18" charset="0"/>
              </a:rPr>
              <a:t> 2022 </a:t>
            </a:r>
            <a:r>
              <a:rPr lang="en-US" sz="1400" b="1" dirty="0" err="1">
                <a:latin typeface="Baskerville Old Face" pitchFamily="18" charset="0"/>
              </a:rPr>
              <a:t>sebesar</a:t>
            </a:r>
            <a:r>
              <a:rPr lang="en-US" sz="1400" b="1" dirty="0">
                <a:latin typeface="Baskerville Old Face" pitchFamily="18" charset="0"/>
              </a:rPr>
              <a:t> 15,14% </a:t>
            </a:r>
            <a:r>
              <a:rPr lang="en-US" sz="1400" b="1" dirty="0" err="1">
                <a:latin typeface="Baskerville Old Face" pitchFamily="18" charset="0"/>
              </a:rPr>
              <a:t>meskipun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demikian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telah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mengalami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pertumbuhan</a:t>
            </a:r>
            <a:r>
              <a:rPr lang="en-US" sz="1400" b="1" dirty="0">
                <a:latin typeface="Baskerville Old Face" pitchFamily="18" charset="0"/>
              </a:rPr>
              <a:t> 7,71% </a:t>
            </a:r>
            <a:r>
              <a:rPr lang="en-US" sz="1400" b="1" dirty="0" err="1">
                <a:latin typeface="Baskerville Old Face" pitchFamily="18" charset="0"/>
              </a:rPr>
              <a:t>dibandingkan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tahun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lalu</a:t>
            </a:r>
            <a:r>
              <a:rPr lang="en-US" sz="1400" b="1" dirty="0">
                <a:latin typeface="Baskerville Old Face" pitchFamily="18" charset="0"/>
              </a:rPr>
              <a:t>, </a:t>
            </a:r>
            <a:r>
              <a:rPr lang="en-US" sz="1400" b="1" dirty="0" err="1">
                <a:latin typeface="Baskerville Old Face" pitchFamily="18" charset="0"/>
              </a:rPr>
              <a:t>akan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tetapi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untuk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mencapai</a:t>
            </a:r>
            <a:r>
              <a:rPr lang="en-US" sz="1400" b="1" dirty="0">
                <a:latin typeface="Baskerville Old Face" pitchFamily="18" charset="0"/>
              </a:rPr>
              <a:t> target 34 %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masih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kurang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 18,86%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atau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 (4,7%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perbulan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)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atau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 99M </a:t>
            </a:r>
            <a:r>
              <a:rPr lang="en-US" sz="1400" b="1" dirty="0" err="1">
                <a:solidFill>
                  <a:srgbClr val="FF0000"/>
                </a:solidFill>
                <a:latin typeface="Baskerville Old Face" pitchFamily="18" charset="0"/>
              </a:rPr>
              <a:t>perbulannya</a:t>
            </a:r>
            <a:r>
              <a:rPr lang="en-US" sz="1400" b="1" dirty="0">
                <a:solidFill>
                  <a:srgbClr val="FF0000"/>
                </a:solidFill>
                <a:latin typeface="Baskerville Old Face" pitchFamily="18" charset="0"/>
              </a:rPr>
              <a:t>.</a:t>
            </a:r>
          </a:p>
          <a:p>
            <a:pPr marL="139700" indent="0" algn="just"/>
            <a:r>
              <a:rPr lang="en-US" sz="1400" b="1" dirty="0" err="1">
                <a:latin typeface="Baskerville Old Face" pitchFamily="18" charset="0"/>
              </a:rPr>
              <a:t>Untuk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mencapai</a:t>
            </a:r>
            <a:r>
              <a:rPr lang="en-US" sz="1400" b="1" dirty="0">
                <a:latin typeface="Baskerville Old Face" pitchFamily="18" charset="0"/>
              </a:rPr>
              <a:t> target 34% </a:t>
            </a:r>
            <a:r>
              <a:rPr lang="en-US" sz="1400" b="1" dirty="0" err="1">
                <a:latin typeface="Baskerville Old Face" pitchFamily="18" charset="0"/>
              </a:rPr>
              <a:t>anggaran</a:t>
            </a:r>
            <a:r>
              <a:rPr lang="en-US" sz="1400" b="1" dirty="0">
                <a:latin typeface="Baskerville Old Face" pitchFamily="18" charset="0"/>
              </a:rPr>
              <a:t> D2D </a:t>
            </a:r>
            <a:r>
              <a:rPr lang="en-US" sz="1400" b="1" dirty="0" err="1">
                <a:latin typeface="Baskerville Old Face" pitchFamily="18" charset="0"/>
              </a:rPr>
              <a:t>akan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ditambah</a:t>
            </a:r>
            <a:r>
              <a:rPr lang="en-US" sz="1400" b="1" dirty="0">
                <a:latin typeface="Baskerville Old Face" pitchFamily="18" charset="0"/>
              </a:rPr>
              <a:t> di </a:t>
            </a:r>
            <a:r>
              <a:rPr lang="en-US" sz="1400" b="1" dirty="0" err="1">
                <a:latin typeface="Baskerville Old Face" pitchFamily="18" charset="0"/>
              </a:rPr>
              <a:t>perubahan</a:t>
            </a:r>
            <a:r>
              <a:rPr lang="en-US" sz="1400" b="1" dirty="0">
                <a:latin typeface="Baskerville Old Face" pitchFamily="18" charset="0"/>
              </a:rPr>
              <a:t>, </a:t>
            </a:r>
            <a:r>
              <a:rPr lang="en-US" sz="1400" b="1" dirty="0" err="1">
                <a:latin typeface="Baskerville Old Face" pitchFamily="18" charset="0"/>
              </a:rPr>
              <a:t>memprioritaskan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penagihan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kepada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wajib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pajak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dengan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kriteria</a:t>
            </a:r>
            <a:r>
              <a:rPr lang="en-US" sz="1400" b="1" dirty="0">
                <a:latin typeface="Baskerville Old Face" pitchFamily="18" charset="0"/>
              </a:rPr>
              <a:t> ( </a:t>
            </a:r>
            <a:r>
              <a:rPr lang="en-US" sz="1400" b="1" dirty="0" err="1">
                <a:latin typeface="Baskerville Old Face" pitchFamily="18" charset="0"/>
              </a:rPr>
              <a:t>Nama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sama</a:t>
            </a:r>
            <a:r>
              <a:rPr lang="en-US" sz="1400" b="1" dirty="0">
                <a:latin typeface="Baskerville Old Face" pitchFamily="18" charset="0"/>
              </a:rPr>
              <a:t>, Perusahaan yang </a:t>
            </a:r>
            <a:r>
              <a:rPr lang="en-US" sz="1400" b="1" dirty="0" err="1">
                <a:latin typeface="Baskerville Old Face" pitchFamily="18" charset="0"/>
              </a:rPr>
              <a:t>mempunyai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banyak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dan</a:t>
            </a:r>
            <a:r>
              <a:rPr lang="en-US" sz="1400" b="1" dirty="0">
                <a:latin typeface="Baskerville Old Face" pitchFamily="18" charset="0"/>
              </a:rPr>
              <a:t> Nominal PKB yang </a:t>
            </a:r>
            <a:r>
              <a:rPr lang="en-US" sz="1400" b="1" dirty="0" err="1">
                <a:latin typeface="Baskerville Old Face" pitchFamily="18" charset="0"/>
              </a:rPr>
              <a:t>besar</a:t>
            </a:r>
            <a:r>
              <a:rPr lang="en-US" sz="1400" b="1" dirty="0">
                <a:latin typeface="Baskerville Old Face" pitchFamily="18" charset="0"/>
              </a:rPr>
              <a:t> ) </a:t>
            </a:r>
          </a:p>
          <a:p>
            <a:pPr marL="139700" indent="0" algn="just"/>
            <a:r>
              <a:rPr lang="en-US" sz="1400" b="1" dirty="0">
                <a:latin typeface="Baskerville Old Face" pitchFamily="18" charset="0"/>
              </a:rPr>
              <a:t>NB. </a:t>
            </a:r>
            <a:r>
              <a:rPr lang="en-US" sz="1400" b="1" dirty="0" err="1">
                <a:latin typeface="Baskerville Old Face" pitchFamily="18" charset="0"/>
              </a:rPr>
              <a:t>Diharapkan</a:t>
            </a:r>
            <a:r>
              <a:rPr lang="en-US" sz="1400" b="1" dirty="0">
                <a:latin typeface="Baskerville Old Face" pitchFamily="18" charset="0"/>
              </a:rPr>
              <a:t> agar UPPD ( </a:t>
            </a:r>
            <a:r>
              <a:rPr lang="en-US" sz="1400" b="1" dirty="0" err="1">
                <a:latin typeface="Baskerville Old Face" pitchFamily="18" charset="0"/>
              </a:rPr>
              <a:t>Kasi</a:t>
            </a:r>
            <a:r>
              <a:rPr lang="en-US" sz="1400" b="1" dirty="0">
                <a:latin typeface="Baskerville Old Face" pitchFamily="18" charset="0"/>
              </a:rPr>
              <a:t> RPP ) agar </a:t>
            </a:r>
            <a:r>
              <a:rPr lang="en-US" sz="1400" b="1" dirty="0" err="1">
                <a:latin typeface="Baskerville Old Face" pitchFamily="18" charset="0"/>
              </a:rPr>
              <a:t>melaporkan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progres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piutang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secara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harian</a:t>
            </a:r>
            <a:r>
              <a:rPr lang="en-US" sz="1400" b="1" dirty="0">
                <a:latin typeface="Baskerville Old Face" pitchFamily="18" charset="0"/>
              </a:rPr>
              <a:t> 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990600"/>
            <a:ext cx="42672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4979528"/>
              </p:ext>
            </p:extLst>
          </p:nvPr>
        </p:nvGraphicFramePr>
        <p:xfrm>
          <a:off x="123825" y="990600"/>
          <a:ext cx="47244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0" name="Worksheet" r:id="rId6" imgW="4981500" imgH="4152810" progId="Excel.Sheet.12">
                  <p:embed/>
                </p:oleObj>
              </mc:Choice>
              <mc:Fallback>
                <p:oleObj name="Worksheet" r:id="rId6" imgW="4981500" imgH="415281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23825" y="990600"/>
                        <a:ext cx="4724400" cy="335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2612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1828800" y="119743"/>
            <a:ext cx="5029200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PROGRES PIUTANG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155974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5060374"/>
              </p:ext>
            </p:extLst>
          </p:nvPr>
        </p:nvGraphicFramePr>
        <p:xfrm>
          <a:off x="685801" y="1219200"/>
          <a:ext cx="7848600" cy="553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Worksheet" r:id="rId5" imgW="6477030" imgH="9324885" progId="Excel.Sheet.12">
                  <p:embed/>
                </p:oleObj>
              </mc:Choice>
              <mc:Fallback>
                <p:oleObj name="Worksheet" r:id="rId5" imgW="6477030" imgH="93248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5801" y="1219200"/>
                        <a:ext cx="7848600" cy="553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2"/>
          <p:cNvSpPr/>
          <p:nvPr/>
        </p:nvSpPr>
        <p:spPr>
          <a:xfrm>
            <a:off x="152400" y="768874"/>
            <a:ext cx="861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 err="1">
                <a:latin typeface="Baskerville Old Face" pitchFamily="18" charset="0"/>
              </a:rPr>
              <a:t>Rekap</a:t>
            </a:r>
            <a:r>
              <a:rPr lang="en-US" sz="1400" b="1" dirty="0">
                <a:latin typeface="Baskerville Old Face" pitchFamily="18" charset="0"/>
              </a:rPr>
              <a:t> Door to Door </a:t>
            </a:r>
          </a:p>
          <a:p>
            <a:pPr marL="139700" indent="0" algn="ctr"/>
            <a:r>
              <a:rPr lang="en-US" sz="1400" b="1" dirty="0" err="1">
                <a:latin typeface="Baskerville Old Face" pitchFamily="18" charset="0"/>
              </a:rPr>
              <a:t>Bulan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Januari</a:t>
            </a:r>
            <a:r>
              <a:rPr lang="en-US" sz="1400" b="1" dirty="0">
                <a:latin typeface="Baskerville Old Face" pitchFamily="18" charset="0"/>
              </a:rPr>
              <a:t> – </a:t>
            </a:r>
            <a:r>
              <a:rPr lang="en-US" sz="1400" b="1" dirty="0" err="1">
                <a:latin typeface="Baskerville Old Face" pitchFamily="18" charset="0"/>
              </a:rPr>
              <a:t>Agustus</a:t>
            </a:r>
            <a:r>
              <a:rPr lang="en-US" sz="1400" b="1" dirty="0">
                <a:latin typeface="Baskerville Old Face" pitchFamily="18" charset="0"/>
              </a:rPr>
              <a:t> 2022</a:t>
            </a:r>
            <a:endParaRPr lang="en-US" b="1" dirty="0">
              <a:latin typeface="Baskerville Old Face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458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1828800" y="152400"/>
            <a:ext cx="50292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18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PROGRAM PEMBERIAN INSENTIF  KEPADA WAJIB PAJAK JAWA TENGAH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4495798" y="838199"/>
            <a:ext cx="2362201" cy="26478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Periode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7 </a:t>
            </a:r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s,d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13 September 2022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8125" y="4878288"/>
            <a:ext cx="8610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PEMBEBASAN POKOK PKB TUNGGAKAN TAHUN KE LIMA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955444"/>
              </p:ext>
            </p:extLst>
          </p:nvPr>
        </p:nvGraphicFramePr>
        <p:xfrm>
          <a:off x="152400" y="3505199"/>
          <a:ext cx="8855075" cy="1228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1" name="Worksheet" r:id="rId5" imgW="16068780" imgH="1419315" progId="Excel.Sheet.12">
                  <p:embed/>
                </p:oleObj>
              </mc:Choice>
              <mc:Fallback>
                <p:oleObj name="Worksheet" r:id="rId5" imgW="16068780" imgH="14193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" y="3505199"/>
                        <a:ext cx="8855075" cy="1228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/>
          <p:cNvSpPr/>
          <p:nvPr/>
        </p:nvSpPr>
        <p:spPr>
          <a:xfrm>
            <a:off x="304800" y="3124200"/>
            <a:ext cx="8610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PEMBEBASAN BBNKB II DALAM </a:t>
            </a:r>
            <a:r>
              <a:rPr lang="en-US" sz="1400" b="1" dirty="0" err="1">
                <a:latin typeface="Baskerville Old Face" pitchFamily="18" charset="0"/>
              </a:rPr>
              <a:t>dan</a:t>
            </a:r>
            <a:r>
              <a:rPr lang="en-US" sz="1400" b="1" dirty="0">
                <a:latin typeface="Baskerville Old Face" pitchFamily="18" charset="0"/>
              </a:rPr>
              <a:t> LUAR PROVINSI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2089248"/>
              </p:ext>
            </p:extLst>
          </p:nvPr>
        </p:nvGraphicFramePr>
        <p:xfrm>
          <a:off x="152400" y="5181600"/>
          <a:ext cx="88550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Worksheet" r:id="rId7" imgW="11439630" imgH="2085975" progId="Excel.Sheet.12">
                  <p:embed/>
                </p:oleObj>
              </mc:Choice>
              <mc:Fallback>
                <p:oleObj name="Worksheet" r:id="rId7" imgW="11439630" imgH="208597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2400" y="5181600"/>
                        <a:ext cx="8855075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848891"/>
              </p:ext>
            </p:extLst>
          </p:nvPr>
        </p:nvGraphicFramePr>
        <p:xfrm>
          <a:off x="152399" y="1752600"/>
          <a:ext cx="885507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Worksheet" r:id="rId9" imgW="15763950" imgH="1438185" progId="Excel.Sheet.12">
                  <p:embed/>
                </p:oleObj>
              </mc:Choice>
              <mc:Fallback>
                <p:oleObj name="Worksheet" r:id="rId9" imgW="15763950" imgH="143818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2399" y="1752600"/>
                        <a:ext cx="8855075" cy="1295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276225" y="1295400"/>
            <a:ext cx="86106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PEMBEBASAN SANKSI ADMINISTRASI PKB</a:t>
            </a:r>
          </a:p>
        </p:txBody>
      </p:sp>
    </p:spTree>
    <p:extLst>
      <p:ext uri="{BB962C8B-B14F-4D97-AF65-F5344CB8AC3E}">
        <p14:creationId xmlns:p14="http://schemas.microsoft.com/office/powerpoint/2010/main" val="212294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52400" y="1060249"/>
            <a:ext cx="861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 err="1">
                <a:latin typeface="Baskerville Old Face" pitchFamily="18" charset="0"/>
              </a:rPr>
              <a:t>Pembebasan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Pokok</a:t>
            </a:r>
            <a:r>
              <a:rPr lang="en-US" sz="1400" b="1" dirty="0">
                <a:latin typeface="Baskerville Old Face" pitchFamily="18" charset="0"/>
              </a:rPr>
              <a:t> PKB </a:t>
            </a:r>
            <a:r>
              <a:rPr lang="en-US" sz="1400" b="1" dirty="0" err="1">
                <a:latin typeface="Baskerville Old Face" pitchFamily="18" charset="0"/>
              </a:rPr>
              <a:t>Tunggakan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Tahun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ke</a:t>
            </a:r>
            <a:r>
              <a:rPr lang="en-US" sz="1400" b="1" dirty="0">
                <a:latin typeface="Baskerville Old Face" pitchFamily="18" charset="0"/>
              </a:rPr>
              <a:t> 5</a:t>
            </a:r>
          </a:p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7 </a:t>
            </a:r>
            <a:r>
              <a:rPr lang="en-US" sz="1400" b="1" dirty="0" err="1">
                <a:latin typeface="Baskerville Old Face" pitchFamily="18" charset="0"/>
              </a:rPr>
              <a:t>s.d</a:t>
            </a:r>
            <a:r>
              <a:rPr lang="en-US" sz="1400" b="1" dirty="0">
                <a:latin typeface="Baskerville Old Face" pitchFamily="18" charset="0"/>
              </a:rPr>
              <a:t> 13 September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1581592"/>
              </p:ext>
            </p:extLst>
          </p:nvPr>
        </p:nvGraphicFramePr>
        <p:xfrm>
          <a:off x="304799" y="1562932"/>
          <a:ext cx="8486775" cy="5142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Worksheet" r:id="rId5" imgW="11439630" imgH="9791790" progId="Excel.Sheet.12">
                  <p:embed/>
                </p:oleObj>
              </mc:Choice>
              <mc:Fallback>
                <p:oleObj name="Worksheet" r:id="rId5" imgW="11439630" imgH="979179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799" y="1562932"/>
                        <a:ext cx="8486775" cy="5142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Google Shape;521;p45"/>
          <p:cNvSpPr txBox="1">
            <a:spLocks/>
          </p:cNvSpPr>
          <p:nvPr/>
        </p:nvSpPr>
        <p:spPr>
          <a:xfrm>
            <a:off x="1847850" y="64024"/>
            <a:ext cx="50292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18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PROGRAM PEMBERIAN INSENTIF  KEPADA WAJIB PAJAK JAWA TENGAH</a:t>
            </a:r>
          </a:p>
        </p:txBody>
      </p:sp>
      <p:sp>
        <p:nvSpPr>
          <p:cNvPr id="12" name="Google Shape;521;p45"/>
          <p:cNvSpPr txBox="1">
            <a:spLocks/>
          </p:cNvSpPr>
          <p:nvPr/>
        </p:nvSpPr>
        <p:spPr>
          <a:xfrm>
            <a:off x="4514849" y="733424"/>
            <a:ext cx="2362201" cy="26478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Periode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7 </a:t>
            </a:r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s,d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13 September 2022</a:t>
            </a:r>
          </a:p>
        </p:txBody>
      </p:sp>
    </p:spTree>
    <p:extLst>
      <p:ext uri="{BB962C8B-B14F-4D97-AF65-F5344CB8AC3E}">
        <p14:creationId xmlns:p14="http://schemas.microsoft.com/office/powerpoint/2010/main" val="1993670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52400" y="1022653"/>
            <a:ext cx="861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 err="1">
                <a:latin typeface="Baskerville Old Face" pitchFamily="18" charset="0"/>
              </a:rPr>
              <a:t>Pembebasan</a:t>
            </a:r>
            <a:r>
              <a:rPr lang="en-US" sz="1400" b="1" dirty="0">
                <a:latin typeface="Baskerville Old Face" pitchFamily="18" charset="0"/>
              </a:rPr>
              <a:t> BBNKB II </a:t>
            </a:r>
            <a:r>
              <a:rPr lang="en-US" sz="1400" b="1" dirty="0" err="1">
                <a:latin typeface="Baskerville Old Face" pitchFamily="18" charset="0"/>
              </a:rPr>
              <a:t>Dalam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dan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Luar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Provinsi</a:t>
            </a:r>
            <a:endParaRPr lang="en-US" sz="1400" b="1" dirty="0">
              <a:latin typeface="Baskerville Old Face" pitchFamily="18" charset="0"/>
            </a:endParaRPr>
          </a:p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7 </a:t>
            </a:r>
            <a:r>
              <a:rPr lang="en-US" sz="1400" b="1" dirty="0" err="1">
                <a:latin typeface="Baskerville Old Face" pitchFamily="18" charset="0"/>
              </a:rPr>
              <a:t>s.d</a:t>
            </a:r>
            <a:r>
              <a:rPr lang="en-US" sz="1400" b="1" dirty="0">
                <a:latin typeface="Baskerville Old Face" pitchFamily="18" charset="0"/>
              </a:rPr>
              <a:t> 13 September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7857483"/>
              </p:ext>
            </p:extLst>
          </p:nvPr>
        </p:nvGraphicFramePr>
        <p:xfrm>
          <a:off x="381000" y="1524000"/>
          <a:ext cx="83820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Worksheet" r:id="rId5" imgW="16068780" imgH="10039260" progId="Excel.Sheet.12">
                  <p:embed/>
                </p:oleObj>
              </mc:Choice>
              <mc:Fallback>
                <p:oleObj name="Worksheet" r:id="rId5" imgW="16068780" imgH="1003926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1524000"/>
                        <a:ext cx="8382000" cy="518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521;p45"/>
          <p:cNvSpPr txBox="1">
            <a:spLocks/>
          </p:cNvSpPr>
          <p:nvPr/>
        </p:nvSpPr>
        <p:spPr>
          <a:xfrm>
            <a:off x="1847850" y="64024"/>
            <a:ext cx="50292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18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PROGRAM PEMBERIAN INSENTIF  KEPADA WAJIB PAJAK JAWA TENGAH</a:t>
            </a:r>
          </a:p>
        </p:txBody>
      </p:sp>
      <p:sp>
        <p:nvSpPr>
          <p:cNvPr id="12" name="Google Shape;521;p45"/>
          <p:cNvSpPr txBox="1">
            <a:spLocks/>
          </p:cNvSpPr>
          <p:nvPr/>
        </p:nvSpPr>
        <p:spPr>
          <a:xfrm>
            <a:off x="4514849" y="733424"/>
            <a:ext cx="2362201" cy="26478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Periode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7 </a:t>
            </a:r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s,d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13 September 2022</a:t>
            </a:r>
          </a:p>
        </p:txBody>
      </p:sp>
    </p:spTree>
    <p:extLst>
      <p:ext uri="{BB962C8B-B14F-4D97-AF65-F5344CB8AC3E}">
        <p14:creationId xmlns:p14="http://schemas.microsoft.com/office/powerpoint/2010/main" val="160625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152400" y="990600"/>
            <a:ext cx="8610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en-US" sz="1400" b="1" dirty="0" err="1">
                <a:latin typeface="Baskerville Old Face" pitchFamily="18" charset="0"/>
              </a:rPr>
              <a:t>Pembebasan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Sanksi</a:t>
            </a:r>
            <a:r>
              <a:rPr lang="en-US" sz="1400" b="1" dirty="0">
                <a:latin typeface="Baskerville Old Face" pitchFamily="18" charset="0"/>
              </a:rPr>
              <a:t> </a:t>
            </a:r>
            <a:r>
              <a:rPr lang="en-US" sz="1400" b="1" dirty="0" err="1">
                <a:latin typeface="Baskerville Old Face" pitchFamily="18" charset="0"/>
              </a:rPr>
              <a:t>Administrasi</a:t>
            </a:r>
            <a:r>
              <a:rPr lang="en-US" sz="1400" b="1" dirty="0">
                <a:latin typeface="Baskerville Old Face" pitchFamily="18" charset="0"/>
              </a:rPr>
              <a:t> PKB</a:t>
            </a:r>
          </a:p>
          <a:p>
            <a:pPr marL="139700" indent="0" algn="ctr"/>
            <a:r>
              <a:rPr lang="en-US" sz="1400" b="1" dirty="0">
                <a:latin typeface="Baskerville Old Face" pitchFamily="18" charset="0"/>
              </a:rPr>
              <a:t>7 </a:t>
            </a:r>
            <a:r>
              <a:rPr lang="en-US" sz="1400" b="1" dirty="0" err="1">
                <a:latin typeface="Baskerville Old Face" pitchFamily="18" charset="0"/>
              </a:rPr>
              <a:t>s.d</a:t>
            </a:r>
            <a:r>
              <a:rPr lang="en-US" sz="1400" b="1" dirty="0">
                <a:latin typeface="Baskerville Old Face" pitchFamily="18" charset="0"/>
              </a:rPr>
              <a:t> 13 September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836124"/>
              </p:ext>
            </p:extLst>
          </p:nvPr>
        </p:nvGraphicFramePr>
        <p:xfrm>
          <a:off x="304801" y="1447800"/>
          <a:ext cx="8458200" cy="518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4" name="Worksheet" r:id="rId5" imgW="13754070" imgH="10067835" progId="Excel.Sheet.12">
                  <p:embed/>
                </p:oleObj>
              </mc:Choice>
              <mc:Fallback>
                <p:oleObj name="Worksheet" r:id="rId5" imgW="13754070" imgH="1006783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4801" y="1447800"/>
                        <a:ext cx="8458200" cy="518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Google Shape;521;p45"/>
          <p:cNvSpPr txBox="1">
            <a:spLocks/>
          </p:cNvSpPr>
          <p:nvPr/>
        </p:nvSpPr>
        <p:spPr>
          <a:xfrm>
            <a:off x="1847850" y="64024"/>
            <a:ext cx="5029200" cy="6858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/>
            <a:r>
              <a:rPr lang="en-US" sz="18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PROGRAM PEMBERIAN INSENTIF  KEPADA WAJIB PAJAK JAWA TENGAH</a:t>
            </a:r>
          </a:p>
        </p:txBody>
      </p:sp>
      <p:sp>
        <p:nvSpPr>
          <p:cNvPr id="12" name="Google Shape;521;p45"/>
          <p:cNvSpPr txBox="1">
            <a:spLocks/>
          </p:cNvSpPr>
          <p:nvPr/>
        </p:nvSpPr>
        <p:spPr>
          <a:xfrm>
            <a:off x="4514849" y="733424"/>
            <a:ext cx="2362201" cy="26478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tx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2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Periode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7 </a:t>
            </a:r>
            <a:r>
              <a:rPr lang="en-US" sz="1200" b="1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s,d</a:t>
            </a:r>
            <a:r>
              <a:rPr lang="en-US" sz="1200" b="1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13 September 2022</a:t>
            </a:r>
          </a:p>
        </p:txBody>
      </p:sp>
    </p:spTree>
    <p:extLst>
      <p:ext uri="{BB962C8B-B14F-4D97-AF65-F5344CB8AC3E}">
        <p14:creationId xmlns:p14="http://schemas.microsoft.com/office/powerpoint/2010/main" val="47436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90;p40"/>
          <p:cNvSpPr txBox="1">
            <a:spLocks noGrp="1"/>
          </p:cNvSpPr>
          <p:nvPr>
            <p:ph type="ctrTitle"/>
          </p:nvPr>
        </p:nvSpPr>
        <p:spPr>
          <a:xfrm>
            <a:off x="1295400" y="1894752"/>
            <a:ext cx="6593400" cy="162901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 dirty="0">
                <a:latin typeface="Baskerville Old Face" pitchFamily="18" charset="0"/>
              </a:rPr>
              <a:t>MATUR NUWUN</a:t>
            </a:r>
            <a:endParaRPr sz="3200" dirty="0">
              <a:solidFill>
                <a:schemeClr val="dk1"/>
              </a:solidFill>
              <a:latin typeface="Baskerville Old Face" pitchFamily="18" charset="0"/>
            </a:endParaRPr>
          </a:p>
        </p:txBody>
      </p:sp>
      <p:sp>
        <p:nvSpPr>
          <p:cNvPr id="7" name="Google Shape;290;p40"/>
          <p:cNvSpPr txBox="1">
            <a:spLocks/>
          </p:cNvSpPr>
          <p:nvPr/>
        </p:nvSpPr>
        <p:spPr>
          <a:xfrm>
            <a:off x="2514600" y="3534655"/>
            <a:ext cx="4155000" cy="40725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chemeClr val="bg1"/>
                </a:solidFill>
                <a:latin typeface="Baskerville Old Face" pitchFamily="18" charset="0"/>
              </a:rPr>
              <a:t>JEPARA, 16 SEPTEMBER 2022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2652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5800" cy="5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19743"/>
            <a:ext cx="1311275" cy="56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521;p45"/>
          <p:cNvSpPr txBox="1">
            <a:spLocks/>
          </p:cNvSpPr>
          <p:nvPr/>
        </p:nvSpPr>
        <p:spPr>
          <a:xfrm>
            <a:off x="2108654" y="119743"/>
            <a:ext cx="4622572" cy="453668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r>
              <a:rPr lang="en-US" sz="24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CAPAIAN PENERIMAAN PKB</a:t>
            </a:r>
          </a:p>
        </p:txBody>
      </p:sp>
      <p:sp>
        <p:nvSpPr>
          <p:cNvPr id="11" name="Google Shape;521;p45"/>
          <p:cNvSpPr txBox="1">
            <a:spLocks/>
          </p:cNvSpPr>
          <p:nvPr/>
        </p:nvSpPr>
        <p:spPr>
          <a:xfrm>
            <a:off x="5029200" y="573411"/>
            <a:ext cx="1702026" cy="264789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spcFirstLastPara="1" vert="horz" wrap="square" lIns="91425" tIns="91425" rIns="91425" bIns="91425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endParaRPr lang="en-US" sz="1600" dirty="0">
              <a:solidFill>
                <a:schemeClr val="bg1"/>
              </a:solidFill>
              <a:latin typeface="Baskerville Old Face" pitchFamily="18" charset="0"/>
              <a:cs typeface="Aharoni" pitchFamily="2" charset="-79"/>
            </a:endParaRPr>
          </a:p>
          <a:p>
            <a:pPr marL="139700" algn="l"/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Per 31 </a:t>
            </a:r>
            <a:r>
              <a:rPr lang="en-US" sz="1200" dirty="0" err="1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Agustus</a:t>
            </a:r>
            <a:r>
              <a:rPr lang="en-US" sz="1200" dirty="0">
                <a:solidFill>
                  <a:schemeClr val="bg1"/>
                </a:solidFill>
                <a:latin typeface="Baskerville Old Face" pitchFamily="18" charset="0"/>
                <a:cs typeface="Aharoni" pitchFamily="2" charset="-79"/>
              </a:rPr>
              <a:t> 2022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617484"/>
              </p:ext>
            </p:extLst>
          </p:nvPr>
        </p:nvGraphicFramePr>
        <p:xfrm>
          <a:off x="152400" y="1437620"/>
          <a:ext cx="4648200" cy="5191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Worksheet" r:id="rId5" imgW="6505650" imgH="8963115" progId="Excel.Sheet.12">
                  <p:embed/>
                </p:oleObj>
              </mc:Choice>
              <mc:Fallback>
                <p:oleObj name="Worksheet" r:id="rId5" imgW="6505650" imgH="896311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2400" y="1437620"/>
                        <a:ext cx="4648200" cy="51917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057400"/>
            <a:ext cx="4206874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6482952" y="5288318"/>
            <a:ext cx="496546" cy="2802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cap="none" spc="0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2021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95045" y="5278793"/>
            <a:ext cx="498856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cap="none" spc="0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2022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76854" y="3720295"/>
            <a:ext cx="1362681" cy="2802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cap="none" spc="0" dirty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2.965.064.573.025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72657" y="2412597"/>
            <a:ext cx="1362682" cy="28020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cap="none" spc="0">
                <a:ln w="1905"/>
                <a:solidFill>
                  <a:schemeClr val="tx1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3.312.709.638.675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2400" y="847725"/>
            <a:ext cx="86106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9700" indent="0" algn="ctr"/>
            <a:r>
              <a:rPr lang="nl-NL" sz="1400" b="1" dirty="0">
                <a:latin typeface="Baskerville Old Face" pitchFamily="18" charset="0"/>
              </a:rPr>
              <a:t>PERBANDINGAN PENERIMAAN PKB BASIS POTENSI</a:t>
            </a:r>
          </a:p>
          <a:p>
            <a:pPr marL="139700" indent="0" algn="ctr"/>
            <a:r>
              <a:rPr lang="fi-FI" sz="1200" b="1" dirty="0">
                <a:latin typeface="Baskerville Old Face" pitchFamily="18" charset="0"/>
              </a:rPr>
              <a:t>S.D. AGUSTUS TAHUN 2021 DAN TAHUN 2022</a:t>
            </a:r>
            <a:endParaRPr lang="en-US" sz="1200" b="1" dirty="0">
              <a:latin typeface="Baskerville Old Face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75075" y="5430024"/>
            <a:ext cx="912302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 err="1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s.d</a:t>
            </a:r>
            <a:r>
              <a:rPr lang="en-US" sz="1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n-US" sz="1200" b="1" dirty="0" err="1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Agustus</a:t>
            </a:r>
            <a:endParaRPr lang="en-US" sz="1200" b="1" cap="none" spc="0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439535" y="5404165"/>
            <a:ext cx="912302" cy="2769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 dirty="0" err="1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s.d</a:t>
            </a:r>
            <a:r>
              <a:rPr lang="en-US" sz="1200" b="1" dirty="0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</a:t>
            </a:r>
            <a:r>
              <a:rPr lang="en-US" sz="1200" b="1" dirty="0" err="1">
                <a:ln w="1905"/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Agustus</a:t>
            </a:r>
            <a:endParaRPr lang="en-US" sz="1200" b="1" cap="none" spc="0" dirty="0">
              <a:ln w="1905"/>
              <a:solidFill>
                <a:schemeClr val="tx1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655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467</Words>
  <Application>Microsoft Office PowerPoint</Application>
  <PresentationFormat>On-screen Show (4:3)</PresentationFormat>
  <Paragraphs>154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Baskerville Old Face</vt:lpstr>
      <vt:lpstr>Calibri</vt:lpstr>
      <vt:lpstr>Office Theme</vt:lpstr>
      <vt:lpstr>Worksheet</vt:lpstr>
      <vt:lpstr>EVALUASI PENERIMAAN PKB DAN BBNKB BULAN SEPTEMBER 2022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MATUR NUWUN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</dc:creator>
  <cp:lastModifiedBy>PAJAK</cp:lastModifiedBy>
  <cp:revision>25</cp:revision>
  <dcterms:created xsi:type="dcterms:W3CDTF">2022-09-14T05:52:29Z</dcterms:created>
  <dcterms:modified xsi:type="dcterms:W3CDTF">2022-09-16T00:57:35Z</dcterms:modified>
</cp:coreProperties>
</file>