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8.jpg" ContentType="image/jpeg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notesMasterIdLst>
    <p:notesMasterId r:id="rId28"/>
  </p:notesMasterIdLst>
  <p:sldIdLst>
    <p:sldId id="3754" r:id="rId2"/>
    <p:sldId id="3755" r:id="rId3"/>
    <p:sldId id="3770" r:id="rId4"/>
    <p:sldId id="3757" r:id="rId5"/>
    <p:sldId id="3758" r:id="rId6"/>
    <p:sldId id="3759" r:id="rId7"/>
    <p:sldId id="3760" r:id="rId8"/>
    <p:sldId id="3771" r:id="rId9"/>
    <p:sldId id="3761" r:id="rId10"/>
    <p:sldId id="3762" r:id="rId11"/>
    <p:sldId id="3763" r:id="rId12"/>
    <p:sldId id="3784" r:id="rId13"/>
    <p:sldId id="3772" r:id="rId14"/>
    <p:sldId id="3773" r:id="rId15"/>
    <p:sldId id="3774" r:id="rId16"/>
    <p:sldId id="3775" r:id="rId17"/>
    <p:sldId id="3765" r:id="rId18"/>
    <p:sldId id="3768" r:id="rId19"/>
    <p:sldId id="3779" r:id="rId20"/>
    <p:sldId id="3780" r:id="rId21"/>
    <p:sldId id="3781" r:id="rId22"/>
    <p:sldId id="3782" r:id="rId23"/>
    <p:sldId id="3783" r:id="rId24"/>
    <p:sldId id="3767" r:id="rId25"/>
    <p:sldId id="3766" r:id="rId26"/>
    <p:sldId id="3769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9900"/>
    <a:srgbClr val="FF3300"/>
    <a:srgbClr val="FF9933"/>
    <a:srgbClr val="006600"/>
    <a:srgbClr val="9933FF"/>
    <a:srgbClr val="CC00CC"/>
    <a:srgbClr val="CC9900"/>
    <a:srgbClr val="CC3300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425" autoAdjust="0"/>
  </p:normalViewPr>
  <p:slideViewPr>
    <p:cSldViewPr snapToGrid="0">
      <p:cViewPr varScale="1">
        <p:scale>
          <a:sx n="50" d="100"/>
          <a:sy n="50" d="100"/>
        </p:scale>
        <p:origin x="13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1.xml"/><Relationship Id="rId2" Type="http://schemas.openxmlformats.org/officeDocument/2006/relationships/slide" Target="../slides/slide20.xml"/><Relationship Id="rId1" Type="http://schemas.openxmlformats.org/officeDocument/2006/relationships/slide" Target="../slides/slide19.xml"/><Relationship Id="rId5" Type="http://schemas.openxmlformats.org/officeDocument/2006/relationships/slide" Target="../slides/slide23.xml"/><Relationship Id="rId4" Type="http://schemas.openxmlformats.org/officeDocument/2006/relationships/slide" Target="../slides/slide2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C7DF7F-6021-44A3-A10A-5224E73D461B}" type="doc">
      <dgm:prSet loTypeId="urn:microsoft.com/office/officeart/2005/8/layout/hList6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ID"/>
        </a:p>
      </dgm:t>
    </dgm:pt>
    <dgm:pt modelId="{16856891-3D4E-46B8-BE41-DADC0FCD5B11}">
      <dgm:prSet phldrT="[Text]" custT="1"/>
      <dgm:spPr>
        <a:solidFill>
          <a:srgbClr val="FF9933"/>
        </a:solidFill>
      </dgm:spPr>
      <dgm:t>
        <a:bodyPr/>
        <a:lstStyle/>
        <a:p>
          <a:pPr algn="just"/>
          <a:r>
            <a:rPr lang="en-US" sz="2000" dirty="0"/>
            <a:t>a. </a:t>
          </a:r>
          <a:r>
            <a:rPr lang="en-US" sz="1850" dirty="0" err="1"/>
            <a:t>Transaksi</a:t>
          </a:r>
          <a:r>
            <a:rPr lang="en-US" sz="1850" dirty="0"/>
            <a:t> </a:t>
          </a:r>
          <a:r>
            <a:rPr lang="en-US" sz="1850" dirty="0" err="1"/>
            <a:t>terkait</a:t>
          </a:r>
          <a:r>
            <a:rPr lang="en-US" sz="1850" dirty="0"/>
            <a:t>  </a:t>
          </a:r>
          <a:r>
            <a:rPr lang="en-US" sz="1850" dirty="0" err="1"/>
            <a:t>tabungan</a:t>
          </a:r>
          <a:r>
            <a:rPr lang="en-US" sz="1850" dirty="0"/>
            <a:t> </a:t>
          </a:r>
          <a:r>
            <a:rPr lang="en-US" sz="1850" dirty="0" err="1"/>
            <a:t>dengan</a:t>
          </a:r>
          <a:r>
            <a:rPr lang="en-US" sz="1850" dirty="0"/>
            <a:t> </a:t>
          </a:r>
          <a:r>
            <a:rPr lang="en-US" sz="1850" dirty="0" err="1"/>
            <a:t>karakteristik</a:t>
          </a:r>
          <a:r>
            <a:rPr lang="en-US" sz="1850" dirty="0"/>
            <a:t> BSA.</a:t>
          </a:r>
        </a:p>
        <a:p>
          <a:pPr algn="just"/>
          <a:r>
            <a:rPr lang="en-US" sz="1850" dirty="0" err="1"/>
            <a:t>Contoh</a:t>
          </a:r>
          <a:r>
            <a:rPr lang="en-US" sz="1850" dirty="0"/>
            <a:t>: </a:t>
          </a:r>
          <a:r>
            <a:rPr lang="en-US" sz="1850" dirty="0" err="1"/>
            <a:t>pembukaan</a:t>
          </a:r>
          <a:r>
            <a:rPr lang="en-US" sz="1850" dirty="0"/>
            <a:t> </a:t>
          </a:r>
          <a:r>
            <a:rPr lang="en-US" sz="1850" dirty="0" err="1"/>
            <a:t>rekening</a:t>
          </a:r>
          <a:r>
            <a:rPr lang="en-US" sz="1850" dirty="0"/>
            <a:t>, </a:t>
          </a:r>
          <a:r>
            <a:rPr lang="en-US" sz="1850" dirty="0" err="1"/>
            <a:t>setor</a:t>
          </a:r>
          <a:r>
            <a:rPr lang="en-US" sz="1850" dirty="0"/>
            <a:t> dan Tarik </a:t>
          </a:r>
          <a:r>
            <a:rPr lang="en-US" sz="1850" dirty="0" err="1"/>
            <a:t>tunai</a:t>
          </a:r>
          <a:r>
            <a:rPr lang="en-US" sz="1850" dirty="0"/>
            <a:t> </a:t>
          </a:r>
          <a:r>
            <a:rPr lang="en-US" sz="1850" dirty="0" err="1"/>
            <a:t>tab.BSA</a:t>
          </a:r>
          <a:r>
            <a:rPr lang="en-US" sz="1850" dirty="0"/>
            <a:t>, </a:t>
          </a:r>
          <a:r>
            <a:rPr lang="en-US" sz="1850" dirty="0" err="1"/>
            <a:t>pemindahbukuan</a:t>
          </a:r>
          <a:r>
            <a:rPr lang="en-US" sz="1850" dirty="0"/>
            <a:t>, transfer dana, </a:t>
          </a:r>
          <a:r>
            <a:rPr lang="en-US" sz="1850" dirty="0" err="1"/>
            <a:t>cek</a:t>
          </a:r>
          <a:r>
            <a:rPr lang="en-US" sz="1850" dirty="0"/>
            <a:t> </a:t>
          </a:r>
          <a:r>
            <a:rPr lang="en-US" sz="1850" dirty="0" err="1"/>
            <a:t>saldo</a:t>
          </a:r>
          <a:r>
            <a:rPr lang="en-US" sz="1850" dirty="0"/>
            <a:t> dan </a:t>
          </a:r>
          <a:r>
            <a:rPr lang="en-US" sz="1850" dirty="0" err="1"/>
            <a:t>penutupan</a:t>
          </a:r>
          <a:r>
            <a:rPr lang="en-US" sz="1850" dirty="0"/>
            <a:t> </a:t>
          </a:r>
          <a:r>
            <a:rPr lang="en-US" sz="1850" dirty="0" err="1"/>
            <a:t>rekening</a:t>
          </a:r>
          <a:r>
            <a:rPr lang="en-US" sz="1850" dirty="0"/>
            <a:t> BSA</a:t>
          </a:r>
          <a:endParaRPr lang="en-ID" sz="1850" dirty="0"/>
        </a:p>
      </dgm:t>
    </dgm:pt>
    <dgm:pt modelId="{486271CC-B4F8-423F-B4E1-3E4B32EE6D2A}" type="parTrans" cxnId="{88D3857F-E9F5-4E04-B713-F089AA626836}">
      <dgm:prSet/>
      <dgm:spPr/>
      <dgm:t>
        <a:bodyPr/>
        <a:lstStyle/>
        <a:p>
          <a:endParaRPr lang="en-ID"/>
        </a:p>
      </dgm:t>
    </dgm:pt>
    <dgm:pt modelId="{15125416-EC4C-4125-B016-ABE63C8DF2D8}" type="sibTrans" cxnId="{88D3857F-E9F5-4E04-B713-F089AA626836}">
      <dgm:prSet/>
      <dgm:spPr/>
      <dgm:t>
        <a:bodyPr/>
        <a:lstStyle/>
        <a:p>
          <a:endParaRPr lang="en-ID"/>
        </a:p>
      </dgm:t>
    </dgm:pt>
    <dgm:pt modelId="{BD745952-E9C3-430D-9F89-604729F04DB0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 algn="just"/>
          <a:r>
            <a:rPr lang="en-US" sz="2000" dirty="0"/>
            <a:t>b. </a:t>
          </a:r>
          <a:r>
            <a:rPr lang="en-US" sz="1800" dirty="0" err="1"/>
            <a:t>Transaksi</a:t>
          </a:r>
          <a:r>
            <a:rPr lang="en-US" sz="1800" dirty="0"/>
            <a:t> </a:t>
          </a:r>
          <a:r>
            <a:rPr lang="en-US" sz="1800" dirty="0" err="1"/>
            <a:t>terkait</a:t>
          </a:r>
          <a:r>
            <a:rPr lang="en-US" sz="1800" dirty="0"/>
            <a:t> Tabungan </a:t>
          </a:r>
          <a:r>
            <a:rPr lang="en-US" sz="1800" dirty="0" err="1"/>
            <a:t>selain</a:t>
          </a:r>
          <a:r>
            <a:rPr lang="en-US" sz="1800" dirty="0"/>
            <a:t> </a:t>
          </a:r>
          <a:r>
            <a:rPr lang="en-US" sz="1800" dirty="0" err="1"/>
            <a:t>BimaKu</a:t>
          </a:r>
          <a:r>
            <a:rPr lang="en-US" sz="1800" dirty="0"/>
            <a:t> </a:t>
          </a:r>
          <a:r>
            <a:rPr lang="en-US" sz="1800" dirty="0" err="1"/>
            <a:t>Pandai</a:t>
          </a:r>
          <a:r>
            <a:rPr lang="en-US" sz="1800" dirty="0"/>
            <a:t>, </a:t>
          </a:r>
          <a:r>
            <a:rPr lang="en-US" sz="1800" dirty="0" err="1"/>
            <a:t>diantaranya</a:t>
          </a:r>
          <a:r>
            <a:rPr lang="en-US" sz="1800" dirty="0"/>
            <a:t> </a:t>
          </a:r>
          <a:r>
            <a:rPr lang="en-US" sz="1800" dirty="0" err="1"/>
            <a:t>setor</a:t>
          </a:r>
          <a:r>
            <a:rPr lang="en-US" sz="1800" dirty="0"/>
            <a:t> dan Tarik </a:t>
          </a:r>
          <a:r>
            <a:rPr lang="en-US" sz="1800" dirty="0" err="1"/>
            <a:t>tunai</a:t>
          </a:r>
          <a:r>
            <a:rPr lang="en-US" sz="1800" dirty="0"/>
            <a:t>, </a:t>
          </a:r>
          <a:r>
            <a:rPr lang="en-US" sz="1800" dirty="0" err="1"/>
            <a:t>pemindahbukuan</a:t>
          </a:r>
          <a:r>
            <a:rPr lang="en-US" sz="1800" dirty="0"/>
            <a:t> </a:t>
          </a:r>
          <a:r>
            <a:rPr lang="en-US" sz="1800" dirty="0" err="1"/>
            <a:t>antar</a:t>
          </a:r>
          <a:r>
            <a:rPr lang="en-US" sz="1800" dirty="0"/>
            <a:t> bank dan lain bank, </a:t>
          </a:r>
          <a:r>
            <a:rPr lang="en-US" sz="1800" dirty="0" err="1"/>
            <a:t>pembayaran</a:t>
          </a:r>
          <a:r>
            <a:rPr lang="en-US" sz="1800" dirty="0"/>
            <a:t> </a:t>
          </a:r>
          <a:r>
            <a:rPr lang="en-US" sz="1800" dirty="0" err="1"/>
            <a:t>Tagihan</a:t>
          </a:r>
          <a:r>
            <a:rPr lang="en-US" sz="1800" dirty="0"/>
            <a:t>.</a:t>
          </a:r>
        </a:p>
        <a:p>
          <a:pPr algn="just"/>
          <a:r>
            <a:rPr lang="en-US" sz="1800" dirty="0" err="1"/>
            <a:t>Untuk</a:t>
          </a:r>
          <a:r>
            <a:rPr lang="en-US" sz="1800" dirty="0"/>
            <a:t> transfer dana </a:t>
          </a:r>
          <a:r>
            <a:rPr lang="en-US" sz="1800" dirty="0" err="1"/>
            <a:t>maks</a:t>
          </a:r>
          <a:r>
            <a:rPr lang="en-US" sz="1800" dirty="0"/>
            <a:t> Rp5 </a:t>
          </a:r>
          <a:r>
            <a:rPr lang="en-US" sz="1800" dirty="0" err="1"/>
            <a:t>jt</a:t>
          </a:r>
          <a:r>
            <a:rPr lang="en-US" sz="1800" dirty="0"/>
            <a:t> per </a:t>
          </a:r>
          <a:r>
            <a:rPr lang="en-US" sz="1800" dirty="0" err="1"/>
            <a:t>har</a:t>
          </a:r>
          <a:r>
            <a:rPr lang="en-US" sz="1600" dirty="0" err="1"/>
            <a:t>i</a:t>
          </a:r>
          <a:r>
            <a:rPr lang="en-US" sz="1600" dirty="0"/>
            <a:t> </a:t>
          </a:r>
          <a:r>
            <a:rPr lang="en-US" sz="2000" dirty="0"/>
            <a:t>per </a:t>
          </a:r>
          <a:r>
            <a:rPr lang="en-US" sz="2000" dirty="0" err="1"/>
            <a:t>nasabah</a:t>
          </a:r>
          <a:endParaRPr lang="en-ID" sz="2000" dirty="0"/>
        </a:p>
      </dgm:t>
    </dgm:pt>
    <dgm:pt modelId="{8223B4AA-78AA-4D6C-9AA6-BF7C9A619507}" type="parTrans" cxnId="{682D889F-9D84-481F-B411-FAE9522E3C1E}">
      <dgm:prSet/>
      <dgm:spPr/>
      <dgm:t>
        <a:bodyPr/>
        <a:lstStyle/>
        <a:p>
          <a:endParaRPr lang="en-ID"/>
        </a:p>
      </dgm:t>
    </dgm:pt>
    <dgm:pt modelId="{D3853151-45CE-45ED-880E-93CB54EEFCA9}" type="sibTrans" cxnId="{682D889F-9D84-481F-B411-FAE9522E3C1E}">
      <dgm:prSet/>
      <dgm:spPr/>
      <dgm:t>
        <a:bodyPr/>
        <a:lstStyle/>
        <a:p>
          <a:endParaRPr lang="en-ID"/>
        </a:p>
      </dgm:t>
    </dgm:pt>
    <dgm:pt modelId="{39BCD8C3-F7B4-4232-AFE0-8D3A193FE988}">
      <dgm:prSet phldrT="[Text]"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pPr algn="just"/>
          <a:r>
            <a:rPr lang="en-US" sz="1600" dirty="0"/>
            <a:t>c</a:t>
          </a:r>
          <a:r>
            <a:rPr lang="en-US" sz="1800" dirty="0"/>
            <a:t>. </a:t>
          </a:r>
          <a:r>
            <a:rPr lang="en-US" sz="2000" dirty="0" err="1"/>
            <a:t>Sebagai</a:t>
          </a:r>
          <a:r>
            <a:rPr lang="en-US" sz="2000" dirty="0"/>
            <a:t> referral </a:t>
          </a:r>
          <a:r>
            <a:rPr lang="en-US" sz="2000" dirty="0" err="1"/>
            <a:t>untuk</a:t>
          </a:r>
          <a:r>
            <a:rPr lang="en-US" sz="2000" dirty="0"/>
            <a:t> </a:t>
          </a:r>
          <a:r>
            <a:rPr lang="en-US" sz="2000" dirty="0" err="1"/>
            <a:t>memasarkan</a:t>
          </a:r>
          <a:r>
            <a:rPr lang="en-US" sz="2000" dirty="0"/>
            <a:t> </a:t>
          </a:r>
          <a:r>
            <a:rPr lang="en-US" sz="2000" dirty="0" err="1"/>
            <a:t>kredit</a:t>
          </a:r>
          <a:endParaRPr lang="en-US" sz="2000" dirty="0"/>
        </a:p>
        <a:p>
          <a:pPr algn="just"/>
          <a:endParaRPr lang="en-US" sz="1800" dirty="0"/>
        </a:p>
        <a:p>
          <a:pPr algn="just"/>
          <a:r>
            <a:rPr lang="en-ID" sz="1800" dirty="0"/>
            <a:t>d. </a:t>
          </a:r>
          <a:r>
            <a:rPr lang="en-US" sz="2000" b="0" spc="-5" dirty="0" err="1">
              <a:latin typeface="Tw Cen MT" pitchFamily="34" charset="0"/>
              <a:cs typeface="Calibri"/>
            </a:rPr>
            <a:t>transaksi</a:t>
          </a:r>
          <a:r>
            <a:rPr lang="en-US" sz="2000" b="0" spc="-5" dirty="0">
              <a:latin typeface="Tw Cen MT" pitchFamily="34" charset="0"/>
              <a:cs typeface="Calibri"/>
            </a:rPr>
            <a:t> </a:t>
          </a:r>
          <a:r>
            <a:rPr lang="en-US" sz="2000" b="0" spc="-5" dirty="0" err="1">
              <a:latin typeface="Tw Cen MT" pitchFamily="34" charset="0"/>
              <a:cs typeface="Calibri"/>
            </a:rPr>
            <a:t>terkait</a:t>
          </a:r>
          <a:r>
            <a:rPr lang="en-US" sz="2000" b="0" spc="-5" dirty="0">
              <a:latin typeface="Tw Cen MT" pitchFamily="34" charset="0"/>
              <a:cs typeface="Calibri"/>
            </a:rPr>
            <a:t> </a:t>
          </a:r>
          <a:r>
            <a:rPr lang="en-US" sz="2000" b="0" dirty="0">
              <a:latin typeface="Tw Cen MT" pitchFamily="34" charset="0"/>
              <a:cs typeface="Calibri"/>
            </a:rPr>
            <a:t> </a:t>
          </a:r>
          <a:r>
            <a:rPr lang="en-US" sz="2000" b="0" spc="-5" dirty="0" err="1">
              <a:latin typeface="Tw Cen MT" pitchFamily="34" charset="0"/>
              <a:cs typeface="Calibri"/>
            </a:rPr>
            <a:t>layanan</a:t>
          </a:r>
          <a:r>
            <a:rPr lang="en-US" sz="2000" b="0" spc="-35" dirty="0">
              <a:latin typeface="Tw Cen MT" pitchFamily="34" charset="0"/>
              <a:cs typeface="Calibri"/>
            </a:rPr>
            <a:t> </a:t>
          </a:r>
          <a:r>
            <a:rPr lang="en-US" sz="2000" b="0" spc="-5" dirty="0" err="1">
              <a:latin typeface="Tw Cen MT" pitchFamily="34" charset="0"/>
              <a:cs typeface="Calibri"/>
            </a:rPr>
            <a:t>atau</a:t>
          </a:r>
          <a:r>
            <a:rPr lang="en-US" sz="2000" b="0" spc="-30" dirty="0">
              <a:latin typeface="Tw Cen MT" pitchFamily="34" charset="0"/>
              <a:cs typeface="Calibri"/>
            </a:rPr>
            <a:t> </a:t>
          </a:r>
          <a:r>
            <a:rPr lang="en-US" sz="2000" b="0" spc="-5" dirty="0" err="1">
              <a:latin typeface="Tw Cen MT" pitchFamily="34" charset="0"/>
              <a:cs typeface="Calibri"/>
            </a:rPr>
            <a:t>jasa</a:t>
          </a:r>
          <a:r>
            <a:rPr lang="en-US" sz="2000" b="0" spc="-5" dirty="0">
              <a:latin typeface="Tw Cen MT" pitchFamily="34" charset="0"/>
              <a:cs typeface="Calibri"/>
            </a:rPr>
            <a:t> </a:t>
          </a:r>
          <a:r>
            <a:rPr lang="en-US" sz="2000" b="0" spc="-145" dirty="0">
              <a:latin typeface="Tw Cen MT" pitchFamily="34" charset="0"/>
              <a:cs typeface="Calibri"/>
            </a:rPr>
            <a:t> </a:t>
          </a:r>
          <a:r>
            <a:rPr lang="en-US" sz="2000" b="0" spc="-5" dirty="0" err="1">
              <a:latin typeface="Tw Cen MT" pitchFamily="34" charset="0"/>
              <a:cs typeface="Calibri"/>
            </a:rPr>
            <a:t>keuangan</a:t>
          </a:r>
          <a:r>
            <a:rPr lang="en-US" sz="2000" b="0" spc="-5" dirty="0">
              <a:latin typeface="Tw Cen MT" pitchFamily="34" charset="0"/>
              <a:cs typeface="Calibri"/>
            </a:rPr>
            <a:t> lain </a:t>
          </a:r>
          <a:r>
            <a:rPr lang="en-US" sz="2000" b="0" dirty="0">
              <a:latin typeface="Tw Cen MT" pitchFamily="34" charset="0"/>
              <a:cs typeface="Calibri"/>
            </a:rPr>
            <a:t> </a:t>
          </a:r>
          <a:r>
            <a:rPr lang="en-US" sz="2000" b="0" spc="-5" dirty="0" err="1">
              <a:latin typeface="Tw Cen MT" pitchFamily="34" charset="0"/>
              <a:cs typeface="Calibri"/>
            </a:rPr>
            <a:t>s</a:t>
          </a:r>
          <a:r>
            <a:rPr lang="en-US" sz="2000" b="0" spc="-10" dirty="0" err="1">
              <a:latin typeface="Tw Cen MT" pitchFamily="34" charset="0"/>
              <a:cs typeface="Calibri"/>
            </a:rPr>
            <a:t>e</a:t>
          </a:r>
          <a:r>
            <a:rPr lang="en-US" sz="2000" b="0" spc="-5" dirty="0" err="1">
              <a:latin typeface="Tw Cen MT" pitchFamily="34" charset="0"/>
              <a:cs typeface="Calibri"/>
            </a:rPr>
            <a:t>s</a:t>
          </a:r>
          <a:r>
            <a:rPr lang="en-US" sz="2000" b="0" spc="-10" dirty="0" err="1">
              <a:latin typeface="Tw Cen MT" pitchFamily="34" charset="0"/>
              <a:cs typeface="Calibri"/>
            </a:rPr>
            <a:t>u</a:t>
          </a:r>
          <a:r>
            <a:rPr lang="en-US" sz="2000" b="0" spc="-5" dirty="0" err="1">
              <a:latin typeface="Tw Cen MT" pitchFamily="34" charset="0"/>
              <a:cs typeface="Calibri"/>
            </a:rPr>
            <a:t>ai</a:t>
          </a:r>
          <a:r>
            <a:rPr lang="en-US" sz="2000" b="0" spc="-5" dirty="0">
              <a:latin typeface="Tw Cen MT" pitchFamily="34" charset="0"/>
              <a:cs typeface="Calibri"/>
            </a:rPr>
            <a:t> </a:t>
          </a:r>
          <a:r>
            <a:rPr lang="en-US" sz="2000" b="0" spc="-5" dirty="0" err="1">
              <a:latin typeface="Tw Cen MT" pitchFamily="34" charset="0"/>
              <a:cs typeface="Calibri"/>
            </a:rPr>
            <a:t>ke</a:t>
          </a:r>
          <a:r>
            <a:rPr lang="en-US" sz="2000" b="0" spc="-10" dirty="0" err="1">
              <a:latin typeface="Tw Cen MT" pitchFamily="34" charset="0"/>
              <a:cs typeface="Calibri"/>
            </a:rPr>
            <a:t>te</a:t>
          </a:r>
          <a:r>
            <a:rPr lang="en-US" sz="2000" b="0" spc="-5" dirty="0" err="1">
              <a:latin typeface="Tw Cen MT" pitchFamily="34" charset="0"/>
              <a:cs typeface="Calibri"/>
            </a:rPr>
            <a:t>n</a:t>
          </a:r>
          <a:r>
            <a:rPr lang="en-US" sz="2000" b="0" spc="-10" dirty="0" err="1">
              <a:latin typeface="Tw Cen MT" pitchFamily="34" charset="0"/>
              <a:cs typeface="Calibri"/>
            </a:rPr>
            <a:t>t</a:t>
          </a:r>
          <a:r>
            <a:rPr lang="en-US" sz="2000" b="0" spc="-5" dirty="0" err="1">
              <a:latin typeface="Tw Cen MT" pitchFamily="34" charset="0"/>
              <a:cs typeface="Calibri"/>
            </a:rPr>
            <a:t>uan</a:t>
          </a:r>
          <a:r>
            <a:rPr lang="en-US" sz="2000" b="0" spc="-5" dirty="0">
              <a:latin typeface="Tw Cen MT" pitchFamily="34" charset="0"/>
              <a:cs typeface="Calibri"/>
            </a:rPr>
            <a:t>  yang</a:t>
          </a:r>
          <a:r>
            <a:rPr lang="en-US" sz="2000" b="0" spc="-10" dirty="0">
              <a:latin typeface="Tw Cen MT" pitchFamily="34" charset="0"/>
              <a:cs typeface="Calibri"/>
            </a:rPr>
            <a:t> </a:t>
          </a:r>
          <a:r>
            <a:rPr lang="en-US" sz="2000" b="0" spc="-5" dirty="0" err="1">
              <a:latin typeface="Tw Cen MT" pitchFamily="34" charset="0"/>
              <a:cs typeface="Calibri"/>
            </a:rPr>
            <a:t>berlaku</a:t>
          </a:r>
          <a:endParaRPr lang="en-ID" sz="2000" b="0" dirty="0">
            <a:latin typeface="Tw Cen MT" pitchFamily="34" charset="0"/>
          </a:endParaRPr>
        </a:p>
      </dgm:t>
    </dgm:pt>
    <dgm:pt modelId="{3DC5F59A-6D71-4980-A3A8-EDBD3BA32A31}" type="parTrans" cxnId="{5E0E074B-E48B-40C4-B171-6672B2BEF33B}">
      <dgm:prSet/>
      <dgm:spPr/>
      <dgm:t>
        <a:bodyPr/>
        <a:lstStyle/>
        <a:p>
          <a:endParaRPr lang="en-ID"/>
        </a:p>
      </dgm:t>
    </dgm:pt>
    <dgm:pt modelId="{5D5FFB2C-5065-4A2C-8915-218D04919C2E}" type="sibTrans" cxnId="{5E0E074B-E48B-40C4-B171-6672B2BEF33B}">
      <dgm:prSet/>
      <dgm:spPr/>
      <dgm:t>
        <a:bodyPr/>
        <a:lstStyle/>
        <a:p>
          <a:endParaRPr lang="en-ID"/>
        </a:p>
      </dgm:t>
    </dgm:pt>
    <dgm:pt modelId="{6BE9D7F6-3455-4B9A-9A06-836FFB335DE5}" type="pres">
      <dgm:prSet presAssocID="{C0C7DF7F-6021-44A3-A10A-5224E73D461B}" presName="Name0" presStyleCnt="0">
        <dgm:presLayoutVars>
          <dgm:dir/>
          <dgm:resizeHandles val="exact"/>
        </dgm:presLayoutVars>
      </dgm:prSet>
      <dgm:spPr/>
    </dgm:pt>
    <dgm:pt modelId="{582E1FEA-3896-451E-89D4-523930F1484C}" type="pres">
      <dgm:prSet presAssocID="{16856891-3D4E-46B8-BE41-DADC0FCD5B11}" presName="node" presStyleLbl="node1" presStyleIdx="0" presStyleCnt="3" custLinFactNeighborY="284">
        <dgm:presLayoutVars>
          <dgm:bulletEnabled val="1"/>
        </dgm:presLayoutVars>
      </dgm:prSet>
      <dgm:spPr/>
    </dgm:pt>
    <dgm:pt modelId="{DB375710-A424-4666-94FC-79B432E93381}" type="pres">
      <dgm:prSet presAssocID="{15125416-EC4C-4125-B016-ABE63C8DF2D8}" presName="sibTrans" presStyleCnt="0"/>
      <dgm:spPr/>
    </dgm:pt>
    <dgm:pt modelId="{CCB45925-92B9-4AAF-A117-2810394E44BD}" type="pres">
      <dgm:prSet presAssocID="{BD745952-E9C3-430D-9F89-604729F04DB0}" presName="node" presStyleLbl="node1" presStyleIdx="1" presStyleCnt="3">
        <dgm:presLayoutVars>
          <dgm:bulletEnabled val="1"/>
        </dgm:presLayoutVars>
      </dgm:prSet>
      <dgm:spPr/>
    </dgm:pt>
    <dgm:pt modelId="{B7988D24-A22F-4D5A-AA90-726AC3383A6F}" type="pres">
      <dgm:prSet presAssocID="{D3853151-45CE-45ED-880E-93CB54EEFCA9}" presName="sibTrans" presStyleCnt="0"/>
      <dgm:spPr/>
    </dgm:pt>
    <dgm:pt modelId="{0FE4B6E8-00F8-489C-A13F-7A5BA2846CD1}" type="pres">
      <dgm:prSet presAssocID="{39BCD8C3-F7B4-4232-AFE0-8D3A193FE988}" presName="node" presStyleLbl="node1" presStyleIdx="2" presStyleCnt="3" custLinFactNeighborX="10856" custLinFactNeighborY="-20">
        <dgm:presLayoutVars>
          <dgm:bulletEnabled val="1"/>
        </dgm:presLayoutVars>
      </dgm:prSet>
      <dgm:spPr/>
    </dgm:pt>
  </dgm:ptLst>
  <dgm:cxnLst>
    <dgm:cxn modelId="{5E0E074B-E48B-40C4-B171-6672B2BEF33B}" srcId="{C0C7DF7F-6021-44A3-A10A-5224E73D461B}" destId="{39BCD8C3-F7B4-4232-AFE0-8D3A193FE988}" srcOrd="2" destOrd="0" parTransId="{3DC5F59A-6D71-4980-A3A8-EDBD3BA32A31}" sibTransId="{5D5FFB2C-5065-4A2C-8915-218D04919C2E}"/>
    <dgm:cxn modelId="{88D3857F-E9F5-4E04-B713-F089AA626836}" srcId="{C0C7DF7F-6021-44A3-A10A-5224E73D461B}" destId="{16856891-3D4E-46B8-BE41-DADC0FCD5B11}" srcOrd="0" destOrd="0" parTransId="{486271CC-B4F8-423F-B4E1-3E4B32EE6D2A}" sibTransId="{15125416-EC4C-4125-B016-ABE63C8DF2D8}"/>
    <dgm:cxn modelId="{682D889F-9D84-481F-B411-FAE9522E3C1E}" srcId="{C0C7DF7F-6021-44A3-A10A-5224E73D461B}" destId="{BD745952-E9C3-430D-9F89-604729F04DB0}" srcOrd="1" destOrd="0" parTransId="{8223B4AA-78AA-4D6C-9AA6-BF7C9A619507}" sibTransId="{D3853151-45CE-45ED-880E-93CB54EEFCA9}"/>
    <dgm:cxn modelId="{882439A1-389A-4A7E-89EC-0D377A749A9B}" type="presOf" srcId="{39BCD8C3-F7B4-4232-AFE0-8D3A193FE988}" destId="{0FE4B6E8-00F8-489C-A13F-7A5BA2846CD1}" srcOrd="0" destOrd="0" presId="urn:microsoft.com/office/officeart/2005/8/layout/hList6"/>
    <dgm:cxn modelId="{60FC74B0-E4C3-4D8F-AF4B-7500D1123CCF}" type="presOf" srcId="{BD745952-E9C3-430D-9F89-604729F04DB0}" destId="{CCB45925-92B9-4AAF-A117-2810394E44BD}" srcOrd="0" destOrd="0" presId="urn:microsoft.com/office/officeart/2005/8/layout/hList6"/>
    <dgm:cxn modelId="{24A9DBB8-6D3C-4342-8AB9-0BEFAA384EF7}" type="presOf" srcId="{C0C7DF7F-6021-44A3-A10A-5224E73D461B}" destId="{6BE9D7F6-3455-4B9A-9A06-836FFB335DE5}" srcOrd="0" destOrd="0" presId="urn:microsoft.com/office/officeart/2005/8/layout/hList6"/>
    <dgm:cxn modelId="{8787E4C0-9003-4230-A9F6-1C7332FB6A5A}" type="presOf" srcId="{16856891-3D4E-46B8-BE41-DADC0FCD5B11}" destId="{582E1FEA-3896-451E-89D4-523930F1484C}" srcOrd="0" destOrd="0" presId="urn:microsoft.com/office/officeart/2005/8/layout/hList6"/>
    <dgm:cxn modelId="{3B49736C-B93E-462B-8498-6DDD904DE685}" type="presParOf" srcId="{6BE9D7F6-3455-4B9A-9A06-836FFB335DE5}" destId="{582E1FEA-3896-451E-89D4-523930F1484C}" srcOrd="0" destOrd="0" presId="urn:microsoft.com/office/officeart/2005/8/layout/hList6"/>
    <dgm:cxn modelId="{98061679-1538-47AA-B607-43B53B4FD969}" type="presParOf" srcId="{6BE9D7F6-3455-4B9A-9A06-836FFB335DE5}" destId="{DB375710-A424-4666-94FC-79B432E93381}" srcOrd="1" destOrd="0" presId="urn:microsoft.com/office/officeart/2005/8/layout/hList6"/>
    <dgm:cxn modelId="{EB53478D-82F4-4A4B-9B69-642C9CAE879B}" type="presParOf" srcId="{6BE9D7F6-3455-4B9A-9A06-836FFB335DE5}" destId="{CCB45925-92B9-4AAF-A117-2810394E44BD}" srcOrd="2" destOrd="0" presId="urn:microsoft.com/office/officeart/2005/8/layout/hList6"/>
    <dgm:cxn modelId="{B254B932-C764-4EF0-A473-EF62AF857898}" type="presParOf" srcId="{6BE9D7F6-3455-4B9A-9A06-836FFB335DE5}" destId="{B7988D24-A22F-4D5A-AA90-726AC3383A6F}" srcOrd="3" destOrd="0" presId="urn:microsoft.com/office/officeart/2005/8/layout/hList6"/>
    <dgm:cxn modelId="{13C03455-B1D8-4F41-BB3A-CE327BD1BB80}" type="presParOf" srcId="{6BE9D7F6-3455-4B9A-9A06-836FFB335DE5}" destId="{0FE4B6E8-00F8-489C-A13F-7A5BA2846CD1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5CED48-C656-4FF1-A174-DC394523B8A7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D"/>
        </a:p>
      </dgm:t>
    </dgm:pt>
    <dgm:pt modelId="{79FA4AEB-2DC5-4B7C-AE81-F3F3D8A1C911}">
      <dgm:prSet custT="1"/>
      <dgm:spPr/>
      <dgm:t>
        <a:bodyPr/>
        <a:lstStyle/>
        <a:p>
          <a:pPr>
            <a:buFont typeface="+mj-lt"/>
            <a:buNone/>
          </a:pPr>
          <a:r>
            <a:rPr lang="en-US" sz="2400" dirty="0"/>
            <a:t>a. </a:t>
          </a:r>
          <a:r>
            <a:rPr lang="id-ID" sz="2400" dirty="0"/>
            <a:t>Tata cara pemberian layanan BimaKu Pandai</a:t>
          </a:r>
          <a:r>
            <a:rPr lang="en-ID" sz="2400" dirty="0"/>
            <a:t>;</a:t>
          </a:r>
        </a:p>
      </dgm:t>
    </dgm:pt>
    <dgm:pt modelId="{991245F4-8EFE-40F0-810E-01CC94510A3C}" type="parTrans" cxnId="{289C6A18-507C-4FED-B267-9C6FB4ED9884}">
      <dgm:prSet/>
      <dgm:spPr/>
      <dgm:t>
        <a:bodyPr/>
        <a:lstStyle/>
        <a:p>
          <a:endParaRPr lang="en-ID"/>
        </a:p>
      </dgm:t>
    </dgm:pt>
    <dgm:pt modelId="{8708BE89-2239-4535-A858-D0F324E32BA2}" type="sibTrans" cxnId="{289C6A18-507C-4FED-B267-9C6FB4ED9884}">
      <dgm:prSet/>
      <dgm:spPr/>
      <dgm:t>
        <a:bodyPr/>
        <a:lstStyle/>
        <a:p>
          <a:endParaRPr lang="en-ID"/>
        </a:p>
      </dgm:t>
    </dgm:pt>
    <dgm:pt modelId="{BA1A0DD2-148A-40F5-8C6D-4DEAB1944881}">
      <dgm:prSet custT="1"/>
      <dgm:spPr/>
      <dgm:t>
        <a:bodyPr/>
        <a:lstStyle/>
        <a:p>
          <a:r>
            <a:rPr lang="en-US" sz="2100" dirty="0"/>
            <a:t>b.</a:t>
          </a:r>
          <a:r>
            <a:rPr lang="id-ID" sz="2100" dirty="0"/>
            <a:t>Tata cara penggunaan </a:t>
          </a:r>
          <a:r>
            <a:rPr lang="id-ID" sz="2100" i="1" dirty="0"/>
            <a:t>electronic device</a:t>
          </a:r>
          <a:r>
            <a:rPr lang="id-ID" sz="2100" dirty="0"/>
            <a:t> </a:t>
          </a:r>
          <a:r>
            <a:rPr lang="en-US" sz="2100" dirty="0" err="1"/>
            <a:t>untuk</a:t>
          </a:r>
          <a:r>
            <a:rPr lang="en-US" sz="2100" dirty="0"/>
            <a:t> </a:t>
          </a:r>
          <a:r>
            <a:rPr lang="id-ID" sz="2100" dirty="0"/>
            <a:t>layanan nasabah BimaKu Pandai</a:t>
          </a:r>
          <a:endParaRPr lang="en-ID" sz="2100" dirty="0"/>
        </a:p>
      </dgm:t>
    </dgm:pt>
    <dgm:pt modelId="{5D76C9A3-B0D8-4A41-BD19-7EE446B24A05}" type="parTrans" cxnId="{385334EB-85F8-4CDC-8D2C-0C01E124A715}">
      <dgm:prSet/>
      <dgm:spPr/>
      <dgm:t>
        <a:bodyPr/>
        <a:lstStyle/>
        <a:p>
          <a:endParaRPr lang="en-ID"/>
        </a:p>
      </dgm:t>
    </dgm:pt>
    <dgm:pt modelId="{09577C07-2314-4CDE-B83A-2FCA4E184207}" type="sibTrans" cxnId="{385334EB-85F8-4CDC-8D2C-0C01E124A715}">
      <dgm:prSet/>
      <dgm:spPr/>
      <dgm:t>
        <a:bodyPr/>
        <a:lstStyle/>
        <a:p>
          <a:endParaRPr lang="en-ID"/>
        </a:p>
      </dgm:t>
    </dgm:pt>
    <dgm:pt modelId="{2078961E-685F-45EF-8E1E-1268CD84246A}">
      <dgm:prSet custT="1"/>
      <dgm:spPr/>
      <dgm:t>
        <a:bodyPr/>
        <a:lstStyle/>
        <a:p>
          <a:pPr>
            <a:buFont typeface="+mj-lt"/>
            <a:buNone/>
          </a:pPr>
          <a:r>
            <a: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c. </a:t>
          </a:r>
          <a:r>
            <a: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Tata cara penggunaan </a:t>
          </a:r>
          <a:r>
            <a:rPr lang="id-ID" sz="18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electronic device</a:t>
          </a:r>
          <a:r>
            <a: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dan/atau </a:t>
          </a:r>
          <a:r>
            <a:rPr lang="id-ID" sz="18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instrument</a:t>
          </a:r>
          <a:r>
            <a:rPr lang="id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yang akan digunakan nasabah untuk melakukan transaksi keuangan</a:t>
          </a:r>
          <a:r>
            <a:rPr lang="en-ID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</a:p>
      </dgm:t>
    </dgm:pt>
    <dgm:pt modelId="{30F4B38A-25A9-43FE-9BF5-1F76AC11D6EE}" type="parTrans" cxnId="{97B67437-4BFF-42F7-9D8C-446A1E9DD4FF}">
      <dgm:prSet/>
      <dgm:spPr/>
      <dgm:t>
        <a:bodyPr/>
        <a:lstStyle/>
        <a:p>
          <a:endParaRPr lang="en-ID"/>
        </a:p>
      </dgm:t>
    </dgm:pt>
    <dgm:pt modelId="{37F42260-ABDB-4533-9E36-DA1FF22809DA}" type="sibTrans" cxnId="{97B67437-4BFF-42F7-9D8C-446A1E9DD4FF}">
      <dgm:prSet/>
      <dgm:spPr/>
      <dgm:t>
        <a:bodyPr/>
        <a:lstStyle/>
        <a:p>
          <a:endParaRPr lang="en-ID"/>
        </a:p>
      </dgm:t>
    </dgm:pt>
    <dgm:pt modelId="{DFE7CC85-44FC-4F10-B954-6C9EEA506E74}">
      <dgm:prSet custT="1"/>
      <dgm:spPr/>
      <dgm:t>
        <a:bodyPr/>
        <a:lstStyle/>
        <a:p>
          <a:pPr>
            <a:buFont typeface="+mj-lt"/>
            <a:buNone/>
          </a:pPr>
          <a:r>
            <a: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d.</a:t>
          </a:r>
          <a:r>
            <a:rPr lang="id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Pengamanan dan kerahasiaan data nasabah</a:t>
          </a:r>
          <a:r>
            <a:rPr lang="en-ID" sz="17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</a:p>
      </dgm:t>
    </dgm:pt>
    <dgm:pt modelId="{B946A83D-1D69-4E1F-897E-A6B8C19CFCB6}" type="parTrans" cxnId="{9B6B6544-EF6E-4FFB-878F-559E8188ECBC}">
      <dgm:prSet/>
      <dgm:spPr/>
      <dgm:t>
        <a:bodyPr/>
        <a:lstStyle/>
        <a:p>
          <a:endParaRPr lang="en-ID"/>
        </a:p>
      </dgm:t>
    </dgm:pt>
    <dgm:pt modelId="{F7E8030A-F022-45D2-A9CF-0A4A4BFEC3E7}" type="sibTrans" cxnId="{9B6B6544-EF6E-4FFB-878F-559E8188ECBC}">
      <dgm:prSet/>
      <dgm:spPr/>
      <dgm:t>
        <a:bodyPr/>
        <a:lstStyle/>
        <a:p>
          <a:endParaRPr lang="en-ID"/>
        </a:p>
      </dgm:t>
    </dgm:pt>
    <dgm:pt modelId="{A4EEF1E3-8380-43C6-845B-E9B8DB2C3424}">
      <dgm:prSet custT="1"/>
      <dgm:spPr/>
      <dgm:t>
        <a:bodyPr/>
        <a:lstStyle/>
        <a:p>
          <a:pPr>
            <a:buFont typeface="+mj-lt"/>
            <a:buNone/>
          </a:pPr>
          <a:r>
            <a: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e. </a:t>
          </a:r>
          <a:r>
            <a:rPr lang="id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Penanganan permasalahan terkait penggunaan </a:t>
          </a:r>
          <a:r>
            <a:rPr lang="id-ID" sz="24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electronic</a:t>
          </a:r>
          <a:r>
            <a:rPr lang="id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id-ID" sz="24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device</a:t>
          </a:r>
          <a:r>
            <a:rPr lang="en-ID" sz="2400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  <a:endParaRPr lang="en-ID" sz="24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2255E4C7-B106-45B1-BFEC-8F56814AEF0F}" type="parTrans" cxnId="{EAB582B9-0FA3-4B32-9323-2C040A9C5082}">
      <dgm:prSet/>
      <dgm:spPr/>
      <dgm:t>
        <a:bodyPr/>
        <a:lstStyle/>
        <a:p>
          <a:endParaRPr lang="en-ID"/>
        </a:p>
      </dgm:t>
    </dgm:pt>
    <dgm:pt modelId="{8BCA5784-2558-491B-80A0-2BA321B2E255}" type="sibTrans" cxnId="{EAB582B9-0FA3-4B32-9323-2C040A9C5082}">
      <dgm:prSet/>
      <dgm:spPr/>
      <dgm:t>
        <a:bodyPr/>
        <a:lstStyle/>
        <a:p>
          <a:endParaRPr lang="en-ID"/>
        </a:p>
      </dgm:t>
    </dgm:pt>
    <dgm:pt modelId="{8EEE3398-DA4D-48C5-A214-1FAA44A4F390}">
      <dgm:prSet custT="1"/>
      <dgm:spPr/>
      <dgm:t>
        <a:bodyPr/>
        <a:lstStyle/>
        <a:p>
          <a:pPr>
            <a:buFont typeface="+mj-lt"/>
            <a:buNone/>
          </a:pPr>
          <a:r>
            <a: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f. </a:t>
          </a:r>
          <a:r>
            <a:rPr lang="id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Penanganan pengaduan layanan BimaKu Pandai</a:t>
          </a:r>
          <a:r>
            <a:rPr lang="en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</a:p>
      </dgm:t>
    </dgm:pt>
    <dgm:pt modelId="{D76734DC-F223-4330-A0BA-14C702C5F085}" type="parTrans" cxnId="{0D769D3C-E3C9-45EE-B8E6-20A7656E9267}">
      <dgm:prSet/>
      <dgm:spPr/>
      <dgm:t>
        <a:bodyPr/>
        <a:lstStyle/>
        <a:p>
          <a:endParaRPr lang="en-ID"/>
        </a:p>
      </dgm:t>
    </dgm:pt>
    <dgm:pt modelId="{F9B93D0C-422C-4DEE-865B-A34FD45971ED}" type="sibTrans" cxnId="{0D769D3C-E3C9-45EE-B8E6-20A7656E9267}">
      <dgm:prSet/>
      <dgm:spPr/>
      <dgm:t>
        <a:bodyPr/>
        <a:lstStyle/>
        <a:p>
          <a:endParaRPr lang="en-ID"/>
        </a:p>
      </dgm:t>
    </dgm:pt>
    <dgm:pt modelId="{D44C46F8-98D1-4864-8DCA-F9E7565535D2}">
      <dgm:prSet custT="1"/>
      <dgm:spPr/>
      <dgm:t>
        <a:bodyPr/>
        <a:lstStyle/>
        <a:p>
          <a:pPr>
            <a:buFont typeface="+mj-lt"/>
            <a:buNone/>
          </a:pPr>
          <a:r>
            <a: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g. </a:t>
          </a:r>
          <a:r>
            <a:rPr lang="id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Pengelolaan likuiditas Agen Duta</a:t>
          </a:r>
          <a:r>
            <a:rPr lang="en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</a:p>
      </dgm:t>
    </dgm:pt>
    <dgm:pt modelId="{7DD14498-5EE0-421C-954A-8BCB1C2DB4F9}" type="parTrans" cxnId="{DB58D781-3754-4250-9F54-AF9BDE4DBCF9}">
      <dgm:prSet/>
      <dgm:spPr/>
      <dgm:t>
        <a:bodyPr/>
        <a:lstStyle/>
        <a:p>
          <a:endParaRPr lang="en-ID"/>
        </a:p>
      </dgm:t>
    </dgm:pt>
    <dgm:pt modelId="{CC09745E-2D63-497D-B502-454FC476B83D}" type="sibTrans" cxnId="{DB58D781-3754-4250-9F54-AF9BDE4DBCF9}">
      <dgm:prSet/>
      <dgm:spPr/>
      <dgm:t>
        <a:bodyPr/>
        <a:lstStyle/>
        <a:p>
          <a:endParaRPr lang="en-ID"/>
        </a:p>
      </dgm:t>
    </dgm:pt>
    <dgm:pt modelId="{55847FA2-E47A-4FD7-A630-88F185D87838}">
      <dgm:prSet custT="1"/>
      <dgm:spPr/>
      <dgm:t>
        <a:bodyPr/>
        <a:lstStyle/>
        <a:p>
          <a:pPr>
            <a:buFont typeface="+mj-lt"/>
            <a:buNone/>
          </a:pPr>
          <a:r>
            <a: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h. </a:t>
          </a:r>
          <a:r>
            <a:rPr lang="id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Pengenalan produk jasa keuangan</a:t>
          </a:r>
          <a:r>
            <a: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(dana &amp; </a:t>
          </a:r>
          <a:r>
            <a:rPr lang="en-US" sz="24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Kredit</a:t>
          </a:r>
          <a:r>
            <a: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)</a:t>
          </a:r>
          <a:endParaRPr lang="en-ID" sz="24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97F7BC41-2EAF-425F-98B8-B27ACC3B253D}" type="parTrans" cxnId="{326F2BA2-04CC-4C56-8510-D6081B454E0C}">
      <dgm:prSet/>
      <dgm:spPr/>
      <dgm:t>
        <a:bodyPr/>
        <a:lstStyle/>
        <a:p>
          <a:endParaRPr lang="en-ID"/>
        </a:p>
      </dgm:t>
    </dgm:pt>
    <dgm:pt modelId="{1FD35C33-2F00-4A90-9D8E-9B4C13C06FA6}" type="sibTrans" cxnId="{326F2BA2-04CC-4C56-8510-D6081B454E0C}">
      <dgm:prSet/>
      <dgm:spPr/>
      <dgm:t>
        <a:bodyPr/>
        <a:lstStyle/>
        <a:p>
          <a:endParaRPr lang="en-ID"/>
        </a:p>
      </dgm:t>
    </dgm:pt>
    <dgm:pt modelId="{EB9F4614-3C3E-4BB8-BCFC-E88E3838D3FD}">
      <dgm:prSet custT="1"/>
      <dgm:spPr/>
      <dgm:t>
        <a:bodyPr/>
        <a:lstStyle/>
        <a:p>
          <a:pPr>
            <a:buFont typeface="+mj-lt"/>
            <a:buNone/>
          </a:pPr>
          <a:r>
            <a: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i. </a:t>
          </a:r>
          <a:r>
            <a:rPr lang="id-ID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Cara pengenalan keaslian uang;</a:t>
          </a:r>
          <a:endParaRPr lang="en-ID" sz="24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C22CADFE-D9BB-4CB4-A7E4-F8570D7D093B}" type="parTrans" cxnId="{954C4EFB-E3A7-48EC-976E-411982E84848}">
      <dgm:prSet/>
      <dgm:spPr/>
      <dgm:t>
        <a:bodyPr/>
        <a:lstStyle/>
        <a:p>
          <a:endParaRPr lang="en-ID"/>
        </a:p>
      </dgm:t>
    </dgm:pt>
    <dgm:pt modelId="{18E4515A-07B8-4F90-ADD6-5718839BFEF1}" type="sibTrans" cxnId="{954C4EFB-E3A7-48EC-976E-411982E84848}">
      <dgm:prSet/>
      <dgm:spPr/>
      <dgm:t>
        <a:bodyPr/>
        <a:lstStyle/>
        <a:p>
          <a:endParaRPr lang="en-ID"/>
        </a:p>
      </dgm:t>
    </dgm:pt>
    <dgm:pt modelId="{568D285E-4E86-4D4D-8A11-67E7CDF65183}">
      <dgm:prSet custT="1"/>
      <dgm:spPr/>
      <dgm:t>
        <a:bodyPr/>
        <a:lstStyle/>
        <a:p>
          <a:pPr>
            <a:buFont typeface="+mj-lt"/>
            <a:buNone/>
          </a:pP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j. Cara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untuk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memasarkan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produk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Bank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Jateng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baik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dana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ataupun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kredit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  <a:endParaRPr lang="en-ID" sz="22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1976DB02-0EEF-4890-A11E-20884196B3EB}" type="parTrans" cxnId="{7E1C06D3-113E-48C1-958C-5532B3D16916}">
      <dgm:prSet/>
      <dgm:spPr/>
      <dgm:t>
        <a:bodyPr/>
        <a:lstStyle/>
        <a:p>
          <a:endParaRPr lang="en-ID"/>
        </a:p>
      </dgm:t>
    </dgm:pt>
    <dgm:pt modelId="{F9CF72B5-557E-4979-954C-442BD10F69D5}" type="sibTrans" cxnId="{7E1C06D3-113E-48C1-958C-5532B3D16916}">
      <dgm:prSet/>
      <dgm:spPr/>
      <dgm:t>
        <a:bodyPr/>
        <a:lstStyle/>
        <a:p>
          <a:endParaRPr lang="en-ID"/>
        </a:p>
      </dgm:t>
    </dgm:pt>
    <dgm:pt modelId="{C3349905-5AC2-441D-AC99-8E073CAC5030}">
      <dgm:prSet custT="1"/>
      <dgm:spPr/>
      <dgm:t>
        <a:bodyPr/>
        <a:lstStyle/>
        <a:p>
          <a:pPr>
            <a:buFont typeface="+mj-lt"/>
            <a:buNone/>
          </a:pP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k.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Penerapan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program anti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pencucian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uang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dan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pencegahan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pendanaan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terorisme</a:t>
          </a:r>
          <a:r>
            <a: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  <a:r>
            <a:rPr lang="id-ID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endParaRPr lang="en-ID" sz="22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27F2CD09-D0D9-4CB0-985C-07FB8B5C00FA}" type="parTrans" cxnId="{9D195D73-7FCF-44DD-A2BA-3748FE17E5EE}">
      <dgm:prSet/>
      <dgm:spPr/>
      <dgm:t>
        <a:bodyPr/>
        <a:lstStyle/>
        <a:p>
          <a:endParaRPr lang="en-ID"/>
        </a:p>
      </dgm:t>
    </dgm:pt>
    <dgm:pt modelId="{716DB342-0C0D-45ED-A02A-2CF7DA3F67D5}" type="sibTrans" cxnId="{9D195D73-7FCF-44DD-A2BA-3748FE17E5EE}">
      <dgm:prSet/>
      <dgm:spPr/>
      <dgm:t>
        <a:bodyPr/>
        <a:lstStyle/>
        <a:p>
          <a:endParaRPr lang="en-ID"/>
        </a:p>
      </dgm:t>
    </dgm:pt>
    <dgm:pt modelId="{31DD3E5D-4FD7-4FF0-BE81-83A42C04A11E}">
      <dgm:prSet/>
      <dgm:spPr/>
      <dgm:t>
        <a:bodyPr/>
        <a:lstStyle/>
        <a:p>
          <a:pPr>
            <a:buFont typeface="+mj-lt"/>
            <a:buNone/>
          </a:pPr>
          <a:r>
            <a: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l. P</a:t>
          </a:r>
          <a:r>
            <a:rPr lang="id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enerapan prosedur </a:t>
          </a:r>
          <a:r>
            <a:rPr lang="id-ID" i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Customer Due Diligence</a:t>
          </a:r>
          <a:r>
            <a:rPr lang="id-ID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(CDD) </a:t>
          </a:r>
          <a:r>
            <a:rPr lang="en-US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Sederhana</a:t>
          </a:r>
          <a:endParaRPr lang="en-ID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FA93CE7F-5B7A-4915-BA83-A9429EAC62C3}" type="parTrans" cxnId="{697EEBA4-B83F-429C-81E5-5A38311E6B95}">
      <dgm:prSet/>
      <dgm:spPr/>
      <dgm:t>
        <a:bodyPr/>
        <a:lstStyle/>
        <a:p>
          <a:endParaRPr lang="en-ID"/>
        </a:p>
      </dgm:t>
    </dgm:pt>
    <dgm:pt modelId="{73E69B37-0C8C-4041-945C-57CFE1849657}" type="sibTrans" cxnId="{697EEBA4-B83F-429C-81E5-5A38311E6B95}">
      <dgm:prSet/>
      <dgm:spPr/>
      <dgm:t>
        <a:bodyPr/>
        <a:lstStyle/>
        <a:p>
          <a:endParaRPr lang="en-ID"/>
        </a:p>
      </dgm:t>
    </dgm:pt>
    <dgm:pt modelId="{2C019C8F-04C5-46DC-98A0-4D294D5147DF}" type="pres">
      <dgm:prSet presAssocID="{BE5CED48-C656-4FF1-A174-DC394523B8A7}" presName="diagram" presStyleCnt="0">
        <dgm:presLayoutVars>
          <dgm:dir/>
          <dgm:resizeHandles val="exact"/>
        </dgm:presLayoutVars>
      </dgm:prSet>
      <dgm:spPr/>
    </dgm:pt>
    <dgm:pt modelId="{1C5B69C7-DA6F-4D19-AD2B-7239D99D9BB5}" type="pres">
      <dgm:prSet presAssocID="{79FA4AEB-2DC5-4B7C-AE81-F3F3D8A1C911}" presName="node" presStyleLbl="node1" presStyleIdx="0" presStyleCnt="12" custLinFactNeighborX="-2538" custLinFactNeighborY="1041">
        <dgm:presLayoutVars>
          <dgm:bulletEnabled val="1"/>
        </dgm:presLayoutVars>
      </dgm:prSet>
      <dgm:spPr/>
    </dgm:pt>
    <dgm:pt modelId="{BEC10BC7-05C0-4372-A88B-7E00B57FC2AD}" type="pres">
      <dgm:prSet presAssocID="{8708BE89-2239-4535-A858-D0F324E32BA2}" presName="sibTrans" presStyleCnt="0"/>
      <dgm:spPr/>
    </dgm:pt>
    <dgm:pt modelId="{CFA5BD98-1575-408D-8089-40CBE6351657}" type="pres">
      <dgm:prSet presAssocID="{BA1A0DD2-148A-40F5-8C6D-4DEAB1944881}" presName="node" presStyleLbl="node1" presStyleIdx="1" presStyleCnt="12">
        <dgm:presLayoutVars>
          <dgm:bulletEnabled val="1"/>
        </dgm:presLayoutVars>
      </dgm:prSet>
      <dgm:spPr/>
    </dgm:pt>
    <dgm:pt modelId="{0ABBBE41-CD32-4B1D-94A7-D41E4ED99E3F}" type="pres">
      <dgm:prSet presAssocID="{09577C07-2314-4CDE-B83A-2FCA4E184207}" presName="sibTrans" presStyleCnt="0"/>
      <dgm:spPr/>
    </dgm:pt>
    <dgm:pt modelId="{E6800648-C2E5-4C8C-9410-D96E12A47A1C}" type="pres">
      <dgm:prSet presAssocID="{2078961E-685F-45EF-8E1E-1268CD84246A}" presName="node" presStyleLbl="node1" presStyleIdx="2" presStyleCnt="12">
        <dgm:presLayoutVars>
          <dgm:bulletEnabled val="1"/>
        </dgm:presLayoutVars>
      </dgm:prSet>
      <dgm:spPr/>
    </dgm:pt>
    <dgm:pt modelId="{FDC78E34-FB38-4B9A-9F4A-CCDA079859E4}" type="pres">
      <dgm:prSet presAssocID="{37F42260-ABDB-4533-9E36-DA1FF22809DA}" presName="sibTrans" presStyleCnt="0"/>
      <dgm:spPr/>
    </dgm:pt>
    <dgm:pt modelId="{2674A84A-1A22-47A2-B547-E70B2D12BAD4}" type="pres">
      <dgm:prSet presAssocID="{DFE7CC85-44FC-4F10-B954-6C9EEA506E74}" presName="node" presStyleLbl="node1" presStyleIdx="3" presStyleCnt="12">
        <dgm:presLayoutVars>
          <dgm:bulletEnabled val="1"/>
        </dgm:presLayoutVars>
      </dgm:prSet>
      <dgm:spPr/>
    </dgm:pt>
    <dgm:pt modelId="{79E4EF9D-D883-4F25-A769-04606555E28A}" type="pres">
      <dgm:prSet presAssocID="{F7E8030A-F022-45D2-A9CF-0A4A4BFEC3E7}" presName="sibTrans" presStyleCnt="0"/>
      <dgm:spPr/>
    </dgm:pt>
    <dgm:pt modelId="{5452DFCE-7ACF-4697-8036-7D1065C7DE55}" type="pres">
      <dgm:prSet presAssocID="{A4EEF1E3-8380-43C6-845B-E9B8DB2C3424}" presName="node" presStyleLbl="node1" presStyleIdx="4" presStyleCnt="12">
        <dgm:presLayoutVars>
          <dgm:bulletEnabled val="1"/>
        </dgm:presLayoutVars>
      </dgm:prSet>
      <dgm:spPr/>
    </dgm:pt>
    <dgm:pt modelId="{82C60E52-F25F-4A93-B4AE-7750037735FF}" type="pres">
      <dgm:prSet presAssocID="{8BCA5784-2558-491B-80A0-2BA321B2E255}" presName="sibTrans" presStyleCnt="0"/>
      <dgm:spPr/>
    </dgm:pt>
    <dgm:pt modelId="{86F1CD36-0C21-462D-925B-856E16942537}" type="pres">
      <dgm:prSet presAssocID="{8EEE3398-DA4D-48C5-A214-1FAA44A4F390}" presName="node" presStyleLbl="node1" presStyleIdx="5" presStyleCnt="12">
        <dgm:presLayoutVars>
          <dgm:bulletEnabled val="1"/>
        </dgm:presLayoutVars>
      </dgm:prSet>
      <dgm:spPr/>
    </dgm:pt>
    <dgm:pt modelId="{CA2DA76F-CC40-479A-B716-11E3E529245E}" type="pres">
      <dgm:prSet presAssocID="{F9B93D0C-422C-4DEE-865B-A34FD45971ED}" presName="sibTrans" presStyleCnt="0"/>
      <dgm:spPr/>
    </dgm:pt>
    <dgm:pt modelId="{CF531509-0B25-4778-AE87-FD4CCECB2C9E}" type="pres">
      <dgm:prSet presAssocID="{D44C46F8-98D1-4864-8DCA-F9E7565535D2}" presName="node" presStyleLbl="node1" presStyleIdx="6" presStyleCnt="12">
        <dgm:presLayoutVars>
          <dgm:bulletEnabled val="1"/>
        </dgm:presLayoutVars>
      </dgm:prSet>
      <dgm:spPr/>
    </dgm:pt>
    <dgm:pt modelId="{7339A25A-E1EA-4639-A84F-9EC5F7EAE665}" type="pres">
      <dgm:prSet presAssocID="{CC09745E-2D63-497D-B502-454FC476B83D}" presName="sibTrans" presStyleCnt="0"/>
      <dgm:spPr/>
    </dgm:pt>
    <dgm:pt modelId="{B75BA6E8-184B-4D07-9A80-BF6FD57B436F}" type="pres">
      <dgm:prSet presAssocID="{55847FA2-E47A-4FD7-A630-88F185D87838}" presName="node" presStyleLbl="node1" presStyleIdx="7" presStyleCnt="12">
        <dgm:presLayoutVars>
          <dgm:bulletEnabled val="1"/>
        </dgm:presLayoutVars>
      </dgm:prSet>
      <dgm:spPr/>
    </dgm:pt>
    <dgm:pt modelId="{D17E73AE-02B9-4B54-AB03-1DCEC1BA7BC6}" type="pres">
      <dgm:prSet presAssocID="{1FD35C33-2F00-4A90-9D8E-9B4C13C06FA6}" presName="sibTrans" presStyleCnt="0"/>
      <dgm:spPr/>
    </dgm:pt>
    <dgm:pt modelId="{E427CE33-2672-4044-86A8-603F4A10B5B3}" type="pres">
      <dgm:prSet presAssocID="{EB9F4614-3C3E-4BB8-BCFC-E88E3838D3FD}" presName="node" presStyleLbl="node1" presStyleIdx="8" presStyleCnt="12">
        <dgm:presLayoutVars>
          <dgm:bulletEnabled val="1"/>
        </dgm:presLayoutVars>
      </dgm:prSet>
      <dgm:spPr/>
    </dgm:pt>
    <dgm:pt modelId="{5F85AD24-BEFF-44B4-8CCD-435346180EB6}" type="pres">
      <dgm:prSet presAssocID="{18E4515A-07B8-4F90-ADD6-5718839BFEF1}" presName="sibTrans" presStyleCnt="0"/>
      <dgm:spPr/>
    </dgm:pt>
    <dgm:pt modelId="{A48974DD-F39F-49B1-BB10-E83EB6118252}" type="pres">
      <dgm:prSet presAssocID="{568D285E-4E86-4D4D-8A11-67E7CDF65183}" presName="node" presStyleLbl="node1" presStyleIdx="9" presStyleCnt="12">
        <dgm:presLayoutVars>
          <dgm:bulletEnabled val="1"/>
        </dgm:presLayoutVars>
      </dgm:prSet>
      <dgm:spPr/>
    </dgm:pt>
    <dgm:pt modelId="{D10475E1-B9A8-42DF-A298-8901C0F94A67}" type="pres">
      <dgm:prSet presAssocID="{F9CF72B5-557E-4979-954C-442BD10F69D5}" presName="sibTrans" presStyleCnt="0"/>
      <dgm:spPr/>
    </dgm:pt>
    <dgm:pt modelId="{84BF8547-0F61-469A-9290-06AE9B951DD0}" type="pres">
      <dgm:prSet presAssocID="{C3349905-5AC2-441D-AC99-8E073CAC5030}" presName="node" presStyleLbl="node1" presStyleIdx="10" presStyleCnt="12">
        <dgm:presLayoutVars>
          <dgm:bulletEnabled val="1"/>
        </dgm:presLayoutVars>
      </dgm:prSet>
      <dgm:spPr/>
    </dgm:pt>
    <dgm:pt modelId="{12796C8D-F2F1-45F9-A758-DD3CC8CBF3A2}" type="pres">
      <dgm:prSet presAssocID="{716DB342-0C0D-45ED-A02A-2CF7DA3F67D5}" presName="sibTrans" presStyleCnt="0"/>
      <dgm:spPr/>
    </dgm:pt>
    <dgm:pt modelId="{E3F8868D-80D2-4536-9A75-FBCAD0CECD87}" type="pres">
      <dgm:prSet presAssocID="{31DD3E5D-4FD7-4FF0-BE81-83A42C04A11E}" presName="node" presStyleLbl="node1" presStyleIdx="11" presStyleCnt="12">
        <dgm:presLayoutVars>
          <dgm:bulletEnabled val="1"/>
        </dgm:presLayoutVars>
      </dgm:prSet>
      <dgm:spPr/>
    </dgm:pt>
  </dgm:ptLst>
  <dgm:cxnLst>
    <dgm:cxn modelId="{830BE00A-22D9-44A5-86AF-0417A69F01E0}" type="presOf" srcId="{79FA4AEB-2DC5-4B7C-AE81-F3F3D8A1C911}" destId="{1C5B69C7-DA6F-4D19-AD2B-7239D99D9BB5}" srcOrd="0" destOrd="0" presId="urn:microsoft.com/office/officeart/2005/8/layout/default"/>
    <dgm:cxn modelId="{C9746A14-E2CF-4DB9-BCB7-5BDF6FECB24D}" type="presOf" srcId="{A4EEF1E3-8380-43C6-845B-E9B8DB2C3424}" destId="{5452DFCE-7ACF-4697-8036-7D1065C7DE55}" srcOrd="0" destOrd="0" presId="urn:microsoft.com/office/officeart/2005/8/layout/default"/>
    <dgm:cxn modelId="{289C6A18-507C-4FED-B267-9C6FB4ED9884}" srcId="{BE5CED48-C656-4FF1-A174-DC394523B8A7}" destId="{79FA4AEB-2DC5-4B7C-AE81-F3F3D8A1C911}" srcOrd="0" destOrd="0" parTransId="{991245F4-8EFE-40F0-810E-01CC94510A3C}" sibTransId="{8708BE89-2239-4535-A858-D0F324E32BA2}"/>
    <dgm:cxn modelId="{70E2C326-EB41-47F8-8E08-DFC446501930}" type="presOf" srcId="{D44C46F8-98D1-4864-8DCA-F9E7565535D2}" destId="{CF531509-0B25-4778-AE87-FD4CCECB2C9E}" srcOrd="0" destOrd="0" presId="urn:microsoft.com/office/officeart/2005/8/layout/default"/>
    <dgm:cxn modelId="{5FFE1E2E-722F-41AC-AD6E-5B62F1F3B6FC}" type="presOf" srcId="{DFE7CC85-44FC-4F10-B954-6C9EEA506E74}" destId="{2674A84A-1A22-47A2-B547-E70B2D12BAD4}" srcOrd="0" destOrd="0" presId="urn:microsoft.com/office/officeart/2005/8/layout/default"/>
    <dgm:cxn modelId="{97B67437-4BFF-42F7-9D8C-446A1E9DD4FF}" srcId="{BE5CED48-C656-4FF1-A174-DC394523B8A7}" destId="{2078961E-685F-45EF-8E1E-1268CD84246A}" srcOrd="2" destOrd="0" parTransId="{30F4B38A-25A9-43FE-9BF5-1F76AC11D6EE}" sibTransId="{37F42260-ABDB-4533-9E36-DA1FF22809DA}"/>
    <dgm:cxn modelId="{0D769D3C-E3C9-45EE-B8E6-20A7656E9267}" srcId="{BE5CED48-C656-4FF1-A174-DC394523B8A7}" destId="{8EEE3398-DA4D-48C5-A214-1FAA44A4F390}" srcOrd="5" destOrd="0" parTransId="{D76734DC-F223-4330-A0BA-14C702C5F085}" sibTransId="{F9B93D0C-422C-4DEE-865B-A34FD45971ED}"/>
    <dgm:cxn modelId="{9B6B6544-EF6E-4FFB-878F-559E8188ECBC}" srcId="{BE5CED48-C656-4FF1-A174-DC394523B8A7}" destId="{DFE7CC85-44FC-4F10-B954-6C9EEA506E74}" srcOrd="3" destOrd="0" parTransId="{B946A83D-1D69-4E1F-897E-A6B8C19CFCB6}" sibTransId="{F7E8030A-F022-45D2-A9CF-0A4A4BFEC3E7}"/>
    <dgm:cxn modelId="{A68A0C66-5E2C-4FA3-9F64-C719ACB27B0E}" type="presOf" srcId="{2078961E-685F-45EF-8E1E-1268CD84246A}" destId="{E6800648-C2E5-4C8C-9410-D96E12A47A1C}" srcOrd="0" destOrd="0" presId="urn:microsoft.com/office/officeart/2005/8/layout/default"/>
    <dgm:cxn modelId="{D7B2146A-0299-4156-861C-3553EA2AFFA7}" type="presOf" srcId="{568D285E-4E86-4D4D-8A11-67E7CDF65183}" destId="{A48974DD-F39F-49B1-BB10-E83EB6118252}" srcOrd="0" destOrd="0" presId="urn:microsoft.com/office/officeart/2005/8/layout/default"/>
    <dgm:cxn modelId="{9D195D73-7FCF-44DD-A2BA-3748FE17E5EE}" srcId="{BE5CED48-C656-4FF1-A174-DC394523B8A7}" destId="{C3349905-5AC2-441D-AC99-8E073CAC5030}" srcOrd="10" destOrd="0" parTransId="{27F2CD09-D0D9-4CB0-985C-07FB8B5C00FA}" sibTransId="{716DB342-0C0D-45ED-A02A-2CF7DA3F67D5}"/>
    <dgm:cxn modelId="{43192680-B4AD-4B60-B139-9F45D36AC24E}" type="presOf" srcId="{BA1A0DD2-148A-40F5-8C6D-4DEAB1944881}" destId="{CFA5BD98-1575-408D-8089-40CBE6351657}" srcOrd="0" destOrd="0" presId="urn:microsoft.com/office/officeart/2005/8/layout/default"/>
    <dgm:cxn modelId="{35545481-0866-441F-BAA8-4841F8C8A2E7}" type="presOf" srcId="{8EEE3398-DA4D-48C5-A214-1FAA44A4F390}" destId="{86F1CD36-0C21-462D-925B-856E16942537}" srcOrd="0" destOrd="0" presId="urn:microsoft.com/office/officeart/2005/8/layout/default"/>
    <dgm:cxn modelId="{DB58D781-3754-4250-9F54-AF9BDE4DBCF9}" srcId="{BE5CED48-C656-4FF1-A174-DC394523B8A7}" destId="{D44C46F8-98D1-4864-8DCA-F9E7565535D2}" srcOrd="6" destOrd="0" parTransId="{7DD14498-5EE0-421C-954A-8BCB1C2DB4F9}" sibTransId="{CC09745E-2D63-497D-B502-454FC476B83D}"/>
    <dgm:cxn modelId="{15AFCB98-48A5-431C-8737-B2B7FF04A180}" type="presOf" srcId="{EB9F4614-3C3E-4BB8-BCFC-E88E3838D3FD}" destId="{E427CE33-2672-4044-86A8-603F4A10B5B3}" srcOrd="0" destOrd="0" presId="urn:microsoft.com/office/officeart/2005/8/layout/default"/>
    <dgm:cxn modelId="{B387779D-5C04-4767-A977-13245156CD4A}" type="presOf" srcId="{C3349905-5AC2-441D-AC99-8E073CAC5030}" destId="{84BF8547-0F61-469A-9290-06AE9B951DD0}" srcOrd="0" destOrd="0" presId="urn:microsoft.com/office/officeart/2005/8/layout/default"/>
    <dgm:cxn modelId="{326F2BA2-04CC-4C56-8510-D6081B454E0C}" srcId="{BE5CED48-C656-4FF1-A174-DC394523B8A7}" destId="{55847FA2-E47A-4FD7-A630-88F185D87838}" srcOrd="7" destOrd="0" parTransId="{97F7BC41-2EAF-425F-98B8-B27ACC3B253D}" sibTransId="{1FD35C33-2F00-4A90-9D8E-9B4C13C06FA6}"/>
    <dgm:cxn modelId="{697EEBA4-B83F-429C-81E5-5A38311E6B95}" srcId="{BE5CED48-C656-4FF1-A174-DC394523B8A7}" destId="{31DD3E5D-4FD7-4FF0-BE81-83A42C04A11E}" srcOrd="11" destOrd="0" parTransId="{FA93CE7F-5B7A-4915-BA83-A9429EAC62C3}" sibTransId="{73E69B37-0C8C-4041-945C-57CFE1849657}"/>
    <dgm:cxn modelId="{A8F441B0-C0B3-4F7D-A92F-A212D6903E09}" type="presOf" srcId="{31DD3E5D-4FD7-4FF0-BE81-83A42C04A11E}" destId="{E3F8868D-80D2-4536-9A75-FBCAD0CECD87}" srcOrd="0" destOrd="0" presId="urn:microsoft.com/office/officeart/2005/8/layout/default"/>
    <dgm:cxn modelId="{F16420B6-AC1D-4E54-A714-FA5D25E16423}" type="presOf" srcId="{55847FA2-E47A-4FD7-A630-88F185D87838}" destId="{B75BA6E8-184B-4D07-9A80-BF6FD57B436F}" srcOrd="0" destOrd="0" presId="urn:microsoft.com/office/officeart/2005/8/layout/default"/>
    <dgm:cxn modelId="{EAB582B9-0FA3-4B32-9323-2C040A9C5082}" srcId="{BE5CED48-C656-4FF1-A174-DC394523B8A7}" destId="{A4EEF1E3-8380-43C6-845B-E9B8DB2C3424}" srcOrd="4" destOrd="0" parTransId="{2255E4C7-B106-45B1-BFEC-8F56814AEF0F}" sibTransId="{8BCA5784-2558-491B-80A0-2BA321B2E255}"/>
    <dgm:cxn modelId="{54E293D1-3D41-451E-8344-8B8904008FB3}" type="presOf" srcId="{BE5CED48-C656-4FF1-A174-DC394523B8A7}" destId="{2C019C8F-04C5-46DC-98A0-4D294D5147DF}" srcOrd="0" destOrd="0" presId="urn:microsoft.com/office/officeart/2005/8/layout/default"/>
    <dgm:cxn modelId="{7E1C06D3-113E-48C1-958C-5532B3D16916}" srcId="{BE5CED48-C656-4FF1-A174-DC394523B8A7}" destId="{568D285E-4E86-4D4D-8A11-67E7CDF65183}" srcOrd="9" destOrd="0" parTransId="{1976DB02-0EEF-4890-A11E-20884196B3EB}" sibTransId="{F9CF72B5-557E-4979-954C-442BD10F69D5}"/>
    <dgm:cxn modelId="{385334EB-85F8-4CDC-8D2C-0C01E124A715}" srcId="{BE5CED48-C656-4FF1-A174-DC394523B8A7}" destId="{BA1A0DD2-148A-40F5-8C6D-4DEAB1944881}" srcOrd="1" destOrd="0" parTransId="{5D76C9A3-B0D8-4A41-BD19-7EE446B24A05}" sibTransId="{09577C07-2314-4CDE-B83A-2FCA4E184207}"/>
    <dgm:cxn modelId="{954C4EFB-E3A7-48EC-976E-411982E84848}" srcId="{BE5CED48-C656-4FF1-A174-DC394523B8A7}" destId="{EB9F4614-3C3E-4BB8-BCFC-E88E3838D3FD}" srcOrd="8" destOrd="0" parTransId="{C22CADFE-D9BB-4CB4-A7E4-F8570D7D093B}" sibTransId="{18E4515A-07B8-4F90-ADD6-5718839BFEF1}"/>
    <dgm:cxn modelId="{13530EEA-C58B-4EF0-B919-FA1A8E4E7A30}" type="presParOf" srcId="{2C019C8F-04C5-46DC-98A0-4D294D5147DF}" destId="{1C5B69C7-DA6F-4D19-AD2B-7239D99D9BB5}" srcOrd="0" destOrd="0" presId="urn:microsoft.com/office/officeart/2005/8/layout/default"/>
    <dgm:cxn modelId="{28FF58B4-7AA7-4BB2-AB2C-CBCD37C9D95F}" type="presParOf" srcId="{2C019C8F-04C5-46DC-98A0-4D294D5147DF}" destId="{BEC10BC7-05C0-4372-A88B-7E00B57FC2AD}" srcOrd="1" destOrd="0" presId="urn:microsoft.com/office/officeart/2005/8/layout/default"/>
    <dgm:cxn modelId="{08A87677-A229-4AC2-A144-F87EA826CC8C}" type="presParOf" srcId="{2C019C8F-04C5-46DC-98A0-4D294D5147DF}" destId="{CFA5BD98-1575-408D-8089-40CBE6351657}" srcOrd="2" destOrd="0" presId="urn:microsoft.com/office/officeart/2005/8/layout/default"/>
    <dgm:cxn modelId="{DF4EC2D4-D07A-44F4-9FFC-AC3BFF6F074F}" type="presParOf" srcId="{2C019C8F-04C5-46DC-98A0-4D294D5147DF}" destId="{0ABBBE41-CD32-4B1D-94A7-D41E4ED99E3F}" srcOrd="3" destOrd="0" presId="urn:microsoft.com/office/officeart/2005/8/layout/default"/>
    <dgm:cxn modelId="{11F24607-FCB8-4574-A997-34DE23DB4E67}" type="presParOf" srcId="{2C019C8F-04C5-46DC-98A0-4D294D5147DF}" destId="{E6800648-C2E5-4C8C-9410-D96E12A47A1C}" srcOrd="4" destOrd="0" presId="urn:microsoft.com/office/officeart/2005/8/layout/default"/>
    <dgm:cxn modelId="{72111AD1-46F5-455D-9AC5-75369EA3D188}" type="presParOf" srcId="{2C019C8F-04C5-46DC-98A0-4D294D5147DF}" destId="{FDC78E34-FB38-4B9A-9F4A-CCDA079859E4}" srcOrd="5" destOrd="0" presId="urn:microsoft.com/office/officeart/2005/8/layout/default"/>
    <dgm:cxn modelId="{725F352C-D8E5-4BE0-852A-BFAFD886A31A}" type="presParOf" srcId="{2C019C8F-04C5-46DC-98A0-4D294D5147DF}" destId="{2674A84A-1A22-47A2-B547-E70B2D12BAD4}" srcOrd="6" destOrd="0" presId="urn:microsoft.com/office/officeart/2005/8/layout/default"/>
    <dgm:cxn modelId="{BCFE365B-8186-467C-8AE1-80DD31C3C4B2}" type="presParOf" srcId="{2C019C8F-04C5-46DC-98A0-4D294D5147DF}" destId="{79E4EF9D-D883-4F25-A769-04606555E28A}" srcOrd="7" destOrd="0" presId="urn:microsoft.com/office/officeart/2005/8/layout/default"/>
    <dgm:cxn modelId="{D7ADBA7F-E308-44C1-88D6-85B35D0ACB41}" type="presParOf" srcId="{2C019C8F-04C5-46DC-98A0-4D294D5147DF}" destId="{5452DFCE-7ACF-4697-8036-7D1065C7DE55}" srcOrd="8" destOrd="0" presId="urn:microsoft.com/office/officeart/2005/8/layout/default"/>
    <dgm:cxn modelId="{A7F68CF1-DCF0-422A-9E54-F6EE88D52339}" type="presParOf" srcId="{2C019C8F-04C5-46DC-98A0-4D294D5147DF}" destId="{82C60E52-F25F-4A93-B4AE-7750037735FF}" srcOrd="9" destOrd="0" presId="urn:microsoft.com/office/officeart/2005/8/layout/default"/>
    <dgm:cxn modelId="{71426788-C2E8-4DA5-9CD2-9530325060C1}" type="presParOf" srcId="{2C019C8F-04C5-46DC-98A0-4D294D5147DF}" destId="{86F1CD36-0C21-462D-925B-856E16942537}" srcOrd="10" destOrd="0" presId="urn:microsoft.com/office/officeart/2005/8/layout/default"/>
    <dgm:cxn modelId="{BE2FFB95-6580-4463-9877-B6999D05361E}" type="presParOf" srcId="{2C019C8F-04C5-46DC-98A0-4D294D5147DF}" destId="{CA2DA76F-CC40-479A-B716-11E3E529245E}" srcOrd="11" destOrd="0" presId="urn:microsoft.com/office/officeart/2005/8/layout/default"/>
    <dgm:cxn modelId="{63832CE9-F532-4C5B-B7EA-AB4F07D262B9}" type="presParOf" srcId="{2C019C8F-04C5-46DC-98A0-4D294D5147DF}" destId="{CF531509-0B25-4778-AE87-FD4CCECB2C9E}" srcOrd="12" destOrd="0" presId="urn:microsoft.com/office/officeart/2005/8/layout/default"/>
    <dgm:cxn modelId="{B3320D80-CDD0-4712-A105-B7FB36ECB950}" type="presParOf" srcId="{2C019C8F-04C5-46DC-98A0-4D294D5147DF}" destId="{7339A25A-E1EA-4639-A84F-9EC5F7EAE665}" srcOrd="13" destOrd="0" presId="urn:microsoft.com/office/officeart/2005/8/layout/default"/>
    <dgm:cxn modelId="{F04A7F6C-20CA-4C70-9FD0-7272C33CDB3A}" type="presParOf" srcId="{2C019C8F-04C5-46DC-98A0-4D294D5147DF}" destId="{B75BA6E8-184B-4D07-9A80-BF6FD57B436F}" srcOrd="14" destOrd="0" presId="urn:microsoft.com/office/officeart/2005/8/layout/default"/>
    <dgm:cxn modelId="{AB35D904-7036-489C-AA31-5B6CD80E7792}" type="presParOf" srcId="{2C019C8F-04C5-46DC-98A0-4D294D5147DF}" destId="{D17E73AE-02B9-4B54-AB03-1DCEC1BA7BC6}" srcOrd="15" destOrd="0" presId="urn:microsoft.com/office/officeart/2005/8/layout/default"/>
    <dgm:cxn modelId="{96DAC35C-692A-4D40-A890-261F33DBAD1E}" type="presParOf" srcId="{2C019C8F-04C5-46DC-98A0-4D294D5147DF}" destId="{E427CE33-2672-4044-86A8-603F4A10B5B3}" srcOrd="16" destOrd="0" presId="urn:microsoft.com/office/officeart/2005/8/layout/default"/>
    <dgm:cxn modelId="{8EC68428-B68D-4EB0-8EF6-2376DDA6DF1B}" type="presParOf" srcId="{2C019C8F-04C5-46DC-98A0-4D294D5147DF}" destId="{5F85AD24-BEFF-44B4-8CCD-435346180EB6}" srcOrd="17" destOrd="0" presId="urn:microsoft.com/office/officeart/2005/8/layout/default"/>
    <dgm:cxn modelId="{12A024B0-4069-4B6A-AE3E-808B72727BEA}" type="presParOf" srcId="{2C019C8F-04C5-46DC-98A0-4D294D5147DF}" destId="{A48974DD-F39F-49B1-BB10-E83EB6118252}" srcOrd="18" destOrd="0" presId="urn:microsoft.com/office/officeart/2005/8/layout/default"/>
    <dgm:cxn modelId="{A15F6426-59DB-4466-908D-B40297BD3589}" type="presParOf" srcId="{2C019C8F-04C5-46DC-98A0-4D294D5147DF}" destId="{D10475E1-B9A8-42DF-A298-8901C0F94A67}" srcOrd="19" destOrd="0" presId="urn:microsoft.com/office/officeart/2005/8/layout/default"/>
    <dgm:cxn modelId="{A38A9529-9519-47E0-8A58-28EB849C6ABF}" type="presParOf" srcId="{2C019C8F-04C5-46DC-98A0-4D294D5147DF}" destId="{84BF8547-0F61-469A-9290-06AE9B951DD0}" srcOrd="20" destOrd="0" presId="urn:microsoft.com/office/officeart/2005/8/layout/default"/>
    <dgm:cxn modelId="{9EFDC693-1509-4216-9418-E09F7E36A720}" type="presParOf" srcId="{2C019C8F-04C5-46DC-98A0-4D294D5147DF}" destId="{12796C8D-F2F1-45F9-A758-DD3CC8CBF3A2}" srcOrd="21" destOrd="0" presId="urn:microsoft.com/office/officeart/2005/8/layout/default"/>
    <dgm:cxn modelId="{7C96EBD2-5F94-4FAA-83A5-A1A7357E09EE}" type="presParOf" srcId="{2C019C8F-04C5-46DC-98A0-4D294D5147DF}" destId="{E3F8868D-80D2-4536-9A75-FBCAD0CECD87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2320CD-0BFF-426D-B257-7619B1D0EAF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908E3A7-0F8C-4FDF-B54C-8DEF3A018AEE}">
      <dgm:prSet phldrT="[Text]"/>
      <dgm:spPr/>
      <dgm:t>
        <a:bodyPr/>
        <a:lstStyle/>
        <a:p>
          <a:r>
            <a:rPr lang="en-US" dirty="0" err="1"/>
            <a:t>Informasi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25D8909E-FDF3-470D-8213-0F707DB4CFD4}" type="parTrans" cxnId="{F9E76AD2-91A0-40FE-89B7-B8CBF7829A91}">
      <dgm:prSet/>
      <dgm:spPr/>
      <dgm:t>
        <a:bodyPr/>
        <a:lstStyle/>
        <a:p>
          <a:endParaRPr lang="en-US"/>
        </a:p>
      </dgm:t>
    </dgm:pt>
    <dgm:pt modelId="{D4508FD3-FF61-4F3C-8F72-252B07FC6993}" type="sibTrans" cxnId="{F9E76AD2-91A0-40FE-89B7-B8CBF7829A91}">
      <dgm:prSet/>
      <dgm:spPr/>
      <dgm:t>
        <a:bodyPr/>
        <a:lstStyle/>
        <a:p>
          <a:endParaRPr lang="en-US"/>
        </a:p>
      </dgm:t>
    </dgm:pt>
    <dgm:pt modelId="{6E0E0393-B7C6-4D26-BBA7-AEDB201485D0}">
      <dgm:prSet phldrT="[Text]" custT="1"/>
      <dgm:spPr/>
      <dgm:t>
        <a:bodyPr/>
        <a:lstStyle/>
        <a:p>
          <a:r>
            <a:rPr lang="en-US" sz="1200" dirty="0" err="1"/>
            <a:t>Informasi</a:t>
          </a:r>
          <a:r>
            <a:rPr lang="en-US" sz="1200" dirty="0"/>
            <a:t> </a:t>
          </a:r>
          <a:r>
            <a:rPr lang="en-US" sz="1200" dirty="0" err="1"/>
            <a:t>Saldo</a:t>
          </a:r>
          <a:endParaRPr lang="en-US" sz="1200" dirty="0"/>
        </a:p>
      </dgm:t>
    </dgm:pt>
    <dgm:pt modelId="{5E7B512D-FEC8-4D38-A843-0D25CDB07F0F}" type="parTrans" cxnId="{2DB8631F-10FA-40C2-B154-1F9D4C455B59}">
      <dgm:prSet/>
      <dgm:spPr/>
      <dgm:t>
        <a:bodyPr/>
        <a:lstStyle/>
        <a:p>
          <a:endParaRPr lang="en-US"/>
        </a:p>
      </dgm:t>
    </dgm:pt>
    <dgm:pt modelId="{D53A2DC9-7C0A-417B-89CE-5281A79579A9}" type="sibTrans" cxnId="{2DB8631F-10FA-40C2-B154-1F9D4C455B59}">
      <dgm:prSet/>
      <dgm:spPr/>
      <dgm:t>
        <a:bodyPr/>
        <a:lstStyle/>
        <a:p>
          <a:endParaRPr lang="en-US"/>
        </a:p>
      </dgm:t>
    </dgm:pt>
    <dgm:pt modelId="{EFD1D738-A99E-4694-8125-0D4D9176EEAB}">
      <dgm:prSet phldrT="[Text]" custT="1"/>
      <dgm:spPr/>
      <dgm:t>
        <a:bodyPr/>
        <a:lstStyle/>
        <a:p>
          <a:r>
            <a:rPr lang="en-US" sz="1200" dirty="0" err="1"/>
            <a:t>Informasi</a:t>
          </a:r>
          <a:r>
            <a:rPr lang="en-US" sz="1200" dirty="0"/>
            <a:t> </a:t>
          </a:r>
          <a:r>
            <a:rPr lang="en-US" sz="1200" dirty="0" err="1"/>
            <a:t>Mutasi</a:t>
          </a:r>
          <a:endParaRPr lang="en-US" sz="1200" dirty="0"/>
        </a:p>
      </dgm:t>
    </dgm:pt>
    <dgm:pt modelId="{C857C122-21EF-4934-91A4-38E3F3C30654}" type="parTrans" cxnId="{567CB72B-D7AB-4ADC-BD20-E5879F166431}">
      <dgm:prSet/>
      <dgm:spPr/>
      <dgm:t>
        <a:bodyPr/>
        <a:lstStyle/>
        <a:p>
          <a:endParaRPr lang="en-US"/>
        </a:p>
      </dgm:t>
    </dgm:pt>
    <dgm:pt modelId="{CB157C84-A722-4844-92CE-7B6917801F86}" type="sibTrans" cxnId="{567CB72B-D7AB-4ADC-BD20-E5879F166431}">
      <dgm:prSet/>
      <dgm:spPr/>
      <dgm:t>
        <a:bodyPr/>
        <a:lstStyle/>
        <a:p>
          <a:endParaRPr lang="en-US"/>
        </a:p>
      </dgm:t>
    </dgm:pt>
    <dgm:pt modelId="{7EF18B21-6299-47C7-87B7-2A19A4C972FC}">
      <dgm:prSet phldrT="[Text]"/>
      <dgm:spPr/>
      <dgm:t>
        <a:bodyPr/>
        <a:lstStyle/>
        <a:p>
          <a:r>
            <a:rPr lang="en-US" dirty="0" err="1"/>
            <a:t>Pendaftaran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3C8DAE88-116E-4B55-9B7E-8136D3835616}" type="parTrans" cxnId="{3D845FA0-A888-4326-80F5-4D429A19F2F2}">
      <dgm:prSet/>
      <dgm:spPr/>
      <dgm:t>
        <a:bodyPr/>
        <a:lstStyle/>
        <a:p>
          <a:endParaRPr lang="en-US"/>
        </a:p>
      </dgm:t>
    </dgm:pt>
    <dgm:pt modelId="{6A0FDD51-F62E-4CBD-BC2A-105668EACDBA}" type="sibTrans" cxnId="{3D845FA0-A888-4326-80F5-4D429A19F2F2}">
      <dgm:prSet/>
      <dgm:spPr/>
      <dgm:t>
        <a:bodyPr/>
        <a:lstStyle/>
        <a:p>
          <a:endParaRPr lang="en-US"/>
        </a:p>
      </dgm:t>
    </dgm:pt>
    <dgm:pt modelId="{EE4A2638-075B-47BB-9BB0-D74CA36FF2E2}">
      <dgm:prSet phldrT="[Text]" custT="1"/>
      <dgm:spPr/>
      <dgm:t>
        <a:bodyPr/>
        <a:lstStyle/>
        <a:p>
          <a:r>
            <a:rPr lang="en-US" sz="1200" dirty="0" err="1"/>
            <a:t>Tambah</a:t>
          </a:r>
          <a:r>
            <a:rPr lang="en-US" sz="1200" dirty="0"/>
            <a:t> </a:t>
          </a:r>
          <a:r>
            <a:rPr lang="en-US" sz="1200" dirty="0" err="1"/>
            <a:t>Rek</a:t>
          </a:r>
          <a:r>
            <a:rPr lang="en-US" sz="1200" dirty="0"/>
            <a:t>. </a:t>
          </a:r>
          <a:r>
            <a:rPr lang="en-US" sz="1200" dirty="0" err="1"/>
            <a:t>Nasabah</a:t>
          </a:r>
          <a:endParaRPr lang="en-US" sz="1200" dirty="0"/>
        </a:p>
      </dgm:t>
    </dgm:pt>
    <dgm:pt modelId="{B21396C6-C490-449D-91D5-242B59D2B725}" type="parTrans" cxnId="{C604C526-3FD8-4473-8CF6-50ADEA2533CD}">
      <dgm:prSet/>
      <dgm:spPr/>
      <dgm:t>
        <a:bodyPr/>
        <a:lstStyle/>
        <a:p>
          <a:endParaRPr lang="en-US"/>
        </a:p>
      </dgm:t>
    </dgm:pt>
    <dgm:pt modelId="{02E9B8E7-2ADC-4F52-B60B-5BD1720CCD96}" type="sibTrans" cxnId="{C604C526-3FD8-4473-8CF6-50ADEA2533CD}">
      <dgm:prSet/>
      <dgm:spPr/>
      <dgm:t>
        <a:bodyPr/>
        <a:lstStyle/>
        <a:p>
          <a:endParaRPr lang="en-US"/>
        </a:p>
      </dgm:t>
    </dgm:pt>
    <dgm:pt modelId="{79E981C9-01E6-41F2-B8E8-A908968A83FF}">
      <dgm:prSet phldrT="[Text]" custT="1"/>
      <dgm:spPr/>
      <dgm:t>
        <a:bodyPr/>
        <a:lstStyle/>
        <a:p>
          <a:r>
            <a:rPr lang="en-US" sz="1200" dirty="0" err="1"/>
            <a:t>Hapus</a:t>
          </a:r>
          <a:r>
            <a:rPr lang="en-US" sz="1200" dirty="0"/>
            <a:t> </a:t>
          </a:r>
          <a:r>
            <a:rPr lang="en-US" sz="1200" dirty="0" err="1"/>
            <a:t>Rek</a:t>
          </a:r>
          <a:r>
            <a:rPr lang="en-US" sz="1200" dirty="0"/>
            <a:t>. </a:t>
          </a:r>
          <a:r>
            <a:rPr lang="en-US" sz="1200" dirty="0" err="1"/>
            <a:t>Nasabah</a:t>
          </a:r>
          <a:endParaRPr lang="en-US" sz="1200" dirty="0"/>
        </a:p>
      </dgm:t>
    </dgm:pt>
    <dgm:pt modelId="{7DBEA042-05A0-4A10-AEE9-0C08BC1AB233}" type="parTrans" cxnId="{6BFD4381-9B85-415C-8433-52A36AA3A73E}">
      <dgm:prSet/>
      <dgm:spPr/>
      <dgm:t>
        <a:bodyPr/>
        <a:lstStyle/>
        <a:p>
          <a:endParaRPr lang="en-US"/>
        </a:p>
      </dgm:t>
    </dgm:pt>
    <dgm:pt modelId="{0A1EB252-8EED-43A0-857E-3CD7A46030E5}" type="sibTrans" cxnId="{6BFD4381-9B85-415C-8433-52A36AA3A73E}">
      <dgm:prSet/>
      <dgm:spPr/>
      <dgm:t>
        <a:bodyPr/>
        <a:lstStyle/>
        <a:p>
          <a:endParaRPr lang="en-US"/>
        </a:p>
      </dgm:t>
    </dgm:pt>
    <dgm:pt modelId="{EA34308B-2394-4386-BDB3-050C08EBE147}">
      <dgm:prSet phldrT="[Text]"/>
      <dgm:spPr/>
      <dgm:t>
        <a:bodyPr/>
        <a:lstStyle/>
        <a:p>
          <a:r>
            <a:rPr lang="en-US" dirty="0" err="1"/>
            <a:t>Tunai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FB38EC6B-23E1-4E67-A94F-311E94A416F8}" type="parTrans" cxnId="{91C317ED-CD08-4DD7-946D-ECD1F81127D7}">
      <dgm:prSet/>
      <dgm:spPr/>
      <dgm:t>
        <a:bodyPr/>
        <a:lstStyle/>
        <a:p>
          <a:endParaRPr lang="en-US"/>
        </a:p>
      </dgm:t>
    </dgm:pt>
    <dgm:pt modelId="{556720F8-2843-400C-9122-5F3EA9748E68}" type="sibTrans" cxnId="{91C317ED-CD08-4DD7-946D-ECD1F81127D7}">
      <dgm:prSet/>
      <dgm:spPr/>
      <dgm:t>
        <a:bodyPr/>
        <a:lstStyle/>
        <a:p>
          <a:endParaRPr lang="en-US"/>
        </a:p>
      </dgm:t>
    </dgm:pt>
    <dgm:pt modelId="{7D82A10A-7851-432B-A024-BEB2F20AD471}">
      <dgm:prSet phldrT="[Text]" custT="1"/>
      <dgm:spPr/>
      <dgm:t>
        <a:bodyPr/>
        <a:lstStyle/>
        <a:p>
          <a:r>
            <a:rPr lang="en-US" sz="1200" dirty="0" err="1"/>
            <a:t>Setoran</a:t>
          </a:r>
          <a:r>
            <a:rPr lang="en-US" sz="1200" dirty="0"/>
            <a:t> </a:t>
          </a:r>
          <a:r>
            <a:rPr lang="en-US" sz="1200" dirty="0" err="1"/>
            <a:t>Tunai</a:t>
          </a:r>
          <a:r>
            <a:rPr lang="en-US" sz="1200" dirty="0"/>
            <a:t> </a:t>
          </a:r>
        </a:p>
      </dgm:t>
    </dgm:pt>
    <dgm:pt modelId="{57A62332-E540-418A-A41B-EE7D3F1426E2}" type="parTrans" cxnId="{94F8B17C-D131-4CDB-BE60-F8E60C62DD7E}">
      <dgm:prSet/>
      <dgm:spPr/>
      <dgm:t>
        <a:bodyPr/>
        <a:lstStyle/>
        <a:p>
          <a:endParaRPr lang="en-US"/>
        </a:p>
      </dgm:t>
    </dgm:pt>
    <dgm:pt modelId="{5B17061C-1CFC-4EF6-983E-37F2A4EEB5B4}" type="sibTrans" cxnId="{94F8B17C-D131-4CDB-BE60-F8E60C62DD7E}">
      <dgm:prSet/>
      <dgm:spPr/>
      <dgm:t>
        <a:bodyPr/>
        <a:lstStyle/>
        <a:p>
          <a:endParaRPr lang="en-US"/>
        </a:p>
      </dgm:t>
    </dgm:pt>
    <dgm:pt modelId="{2E7D4D3D-98F4-4403-B8AC-2BBD096EBE97}">
      <dgm:prSet phldrT="[Text]" custT="1"/>
      <dgm:spPr/>
      <dgm:t>
        <a:bodyPr/>
        <a:lstStyle/>
        <a:p>
          <a:r>
            <a:rPr lang="en-US" sz="1200" dirty="0" err="1"/>
            <a:t>Tarikan</a:t>
          </a:r>
          <a:r>
            <a:rPr lang="en-US" sz="1200" dirty="0"/>
            <a:t> </a:t>
          </a:r>
          <a:r>
            <a:rPr lang="en-US" sz="1200" dirty="0" err="1"/>
            <a:t>Tunai</a:t>
          </a:r>
          <a:endParaRPr lang="en-US" sz="1200" dirty="0"/>
        </a:p>
      </dgm:t>
    </dgm:pt>
    <dgm:pt modelId="{CBF96673-A691-460E-BEE9-9EBD56EE7A9D}" type="parTrans" cxnId="{2CE9AAF3-0A1A-4BD9-988D-B3E2D022A0AB}">
      <dgm:prSet/>
      <dgm:spPr/>
      <dgm:t>
        <a:bodyPr/>
        <a:lstStyle/>
        <a:p>
          <a:endParaRPr lang="en-US"/>
        </a:p>
      </dgm:t>
    </dgm:pt>
    <dgm:pt modelId="{506A158B-1B1A-437D-8F7F-2E1FB245BC22}" type="sibTrans" cxnId="{2CE9AAF3-0A1A-4BD9-988D-B3E2D022A0AB}">
      <dgm:prSet/>
      <dgm:spPr/>
      <dgm:t>
        <a:bodyPr/>
        <a:lstStyle/>
        <a:p>
          <a:endParaRPr lang="en-US"/>
        </a:p>
      </dgm:t>
    </dgm:pt>
    <dgm:pt modelId="{98A28757-9FAA-4A1A-AEC2-EB053F2FF095}">
      <dgm:prSet custT="1"/>
      <dgm:spPr/>
      <dgm:t>
        <a:bodyPr/>
        <a:lstStyle/>
        <a:p>
          <a:r>
            <a:rPr lang="en-US" sz="1200" dirty="0"/>
            <a:t>Transfer Bank </a:t>
          </a:r>
          <a:r>
            <a:rPr lang="en-US" sz="1200" dirty="0" err="1"/>
            <a:t>Jateng</a:t>
          </a:r>
          <a:endParaRPr lang="en-US" sz="1200" dirty="0"/>
        </a:p>
      </dgm:t>
    </dgm:pt>
    <dgm:pt modelId="{6705D30B-436E-4839-8B9D-D310EE7D25FB}" type="parTrans" cxnId="{6409410C-F989-4DDA-ADBD-53405CBE3D40}">
      <dgm:prSet/>
      <dgm:spPr/>
      <dgm:t>
        <a:bodyPr/>
        <a:lstStyle/>
        <a:p>
          <a:endParaRPr lang="en-US"/>
        </a:p>
      </dgm:t>
    </dgm:pt>
    <dgm:pt modelId="{37E9BA04-26D8-4E23-8AC9-4747B3D0D7EC}" type="sibTrans" cxnId="{6409410C-F989-4DDA-ADBD-53405CBE3D40}">
      <dgm:prSet/>
      <dgm:spPr/>
      <dgm:t>
        <a:bodyPr/>
        <a:lstStyle/>
        <a:p>
          <a:endParaRPr lang="en-US"/>
        </a:p>
      </dgm:t>
    </dgm:pt>
    <dgm:pt modelId="{4E75BF96-E9DB-497D-A809-AC331CF7287D}">
      <dgm:prSet/>
      <dgm:spPr/>
      <dgm:t>
        <a:bodyPr/>
        <a:lstStyle/>
        <a:p>
          <a:r>
            <a:rPr lang="en-US" dirty="0" err="1"/>
            <a:t>Pembelian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2491E14E-8F0D-4B86-B535-38AC2BCB39F2}" type="parTrans" cxnId="{8F900E10-1E67-4CDB-BF79-BC196BA403E7}">
      <dgm:prSet/>
      <dgm:spPr/>
      <dgm:t>
        <a:bodyPr/>
        <a:lstStyle/>
        <a:p>
          <a:endParaRPr lang="en-US"/>
        </a:p>
      </dgm:t>
    </dgm:pt>
    <dgm:pt modelId="{5019F5A5-00BB-45F0-B1BE-5B3F14F04F38}" type="sibTrans" cxnId="{8F900E10-1E67-4CDB-BF79-BC196BA403E7}">
      <dgm:prSet/>
      <dgm:spPr/>
      <dgm:t>
        <a:bodyPr/>
        <a:lstStyle/>
        <a:p>
          <a:endParaRPr lang="en-US"/>
        </a:p>
      </dgm:t>
    </dgm:pt>
    <dgm:pt modelId="{3B0AEB2B-C825-4386-B537-C3C01980AD89}">
      <dgm:prSet/>
      <dgm:spPr/>
      <dgm:t>
        <a:bodyPr/>
        <a:lstStyle/>
        <a:p>
          <a:r>
            <a:rPr lang="en-US" dirty="0" err="1"/>
            <a:t>Utilitas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686DCFB2-C744-4461-B2E8-B9B7BB8BD833}" type="parTrans" cxnId="{92E7E1C0-3973-490D-AF04-2F260FE90B12}">
      <dgm:prSet/>
      <dgm:spPr/>
      <dgm:t>
        <a:bodyPr/>
        <a:lstStyle/>
        <a:p>
          <a:endParaRPr lang="en-US"/>
        </a:p>
      </dgm:t>
    </dgm:pt>
    <dgm:pt modelId="{DC4A2CA3-7C17-4341-A8C8-E81748073C29}" type="sibTrans" cxnId="{92E7E1C0-3973-490D-AF04-2F260FE90B12}">
      <dgm:prSet/>
      <dgm:spPr/>
      <dgm:t>
        <a:bodyPr/>
        <a:lstStyle/>
        <a:p>
          <a:endParaRPr lang="en-US"/>
        </a:p>
      </dgm:t>
    </dgm:pt>
    <dgm:pt modelId="{8AA71FFD-033C-4BE7-930C-108503E8D35C}">
      <dgm:prSet/>
      <dgm:spPr/>
      <dgm:t>
        <a:bodyPr/>
        <a:lstStyle/>
        <a:p>
          <a:r>
            <a:rPr lang="en-US" dirty="0" err="1"/>
            <a:t>Pembayaran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E5025B48-2471-4EE9-BD05-AD5827E18E37}" type="parTrans" cxnId="{2B642C1A-C332-4C93-A57F-60494D8FBA94}">
      <dgm:prSet/>
      <dgm:spPr/>
      <dgm:t>
        <a:bodyPr/>
        <a:lstStyle/>
        <a:p>
          <a:endParaRPr lang="en-US"/>
        </a:p>
      </dgm:t>
    </dgm:pt>
    <dgm:pt modelId="{E40D6FBF-6732-4819-94AA-49B4463DD7DD}" type="sibTrans" cxnId="{2B642C1A-C332-4C93-A57F-60494D8FBA94}">
      <dgm:prSet/>
      <dgm:spPr/>
      <dgm:t>
        <a:bodyPr/>
        <a:lstStyle/>
        <a:p>
          <a:endParaRPr lang="en-US"/>
        </a:p>
      </dgm:t>
    </dgm:pt>
    <dgm:pt modelId="{EDD45B73-9710-4C94-A762-0C0F56CF6C98}">
      <dgm:prSet/>
      <dgm:spPr/>
      <dgm:t>
        <a:bodyPr/>
        <a:lstStyle/>
        <a:p>
          <a:r>
            <a:rPr lang="en-US" dirty="0"/>
            <a:t>BSA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A2499CE1-F432-4BC1-B14A-34BA548724E2}" type="parTrans" cxnId="{D7C49A7D-F19F-472E-8D3D-BA1421FA1D72}">
      <dgm:prSet/>
      <dgm:spPr/>
      <dgm:t>
        <a:bodyPr/>
        <a:lstStyle/>
        <a:p>
          <a:endParaRPr lang="en-US"/>
        </a:p>
      </dgm:t>
    </dgm:pt>
    <dgm:pt modelId="{5C9E082E-5173-4FDA-85ED-127C4A7B40AF}" type="sibTrans" cxnId="{D7C49A7D-F19F-472E-8D3D-BA1421FA1D72}">
      <dgm:prSet/>
      <dgm:spPr/>
      <dgm:t>
        <a:bodyPr/>
        <a:lstStyle/>
        <a:p>
          <a:endParaRPr lang="en-US"/>
        </a:p>
      </dgm:t>
    </dgm:pt>
    <dgm:pt modelId="{E9CC31D5-7852-4950-86B2-FE04313CAA6C}">
      <dgm:prSet/>
      <dgm:spPr/>
      <dgm:t>
        <a:bodyPr/>
        <a:lstStyle/>
        <a:p>
          <a:r>
            <a:rPr lang="en-US" dirty="0" err="1"/>
            <a:t>Riwayat</a:t>
          </a:r>
          <a:endParaRPr lang="en-US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" action="ppaction://noaction"/>
          </dgm14:cNvPr>
        </a:ext>
      </dgm:extLst>
    </dgm:pt>
    <dgm:pt modelId="{3BA9E768-897B-4F35-A832-F035DC8CE06F}" type="parTrans" cxnId="{E14708E0-23A4-4FDA-A198-EBAF05C21A5B}">
      <dgm:prSet/>
      <dgm:spPr/>
      <dgm:t>
        <a:bodyPr/>
        <a:lstStyle/>
        <a:p>
          <a:endParaRPr lang="en-US"/>
        </a:p>
      </dgm:t>
    </dgm:pt>
    <dgm:pt modelId="{FAB3A6B5-2D8E-4BBF-A118-E3E617CDF549}" type="sibTrans" cxnId="{E14708E0-23A4-4FDA-A198-EBAF05C21A5B}">
      <dgm:prSet/>
      <dgm:spPr/>
      <dgm:t>
        <a:bodyPr/>
        <a:lstStyle/>
        <a:p>
          <a:endParaRPr lang="en-US"/>
        </a:p>
      </dgm:t>
    </dgm:pt>
    <dgm:pt modelId="{4C213F6F-C637-44E4-B68E-911225780B32}">
      <dgm:prSet/>
      <dgm:spPr/>
      <dgm:t>
        <a:bodyPr/>
        <a:lstStyle/>
        <a:p>
          <a:r>
            <a:rPr lang="en-US" dirty="0"/>
            <a:t>Transfer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F0133FFC-A7FF-43A2-B7E6-60CFEBCAE156}" type="parTrans" cxnId="{C3E121FF-B567-4603-A9F6-7456D9EF13C3}">
      <dgm:prSet/>
      <dgm:spPr/>
      <dgm:t>
        <a:bodyPr/>
        <a:lstStyle/>
        <a:p>
          <a:endParaRPr lang="en-US"/>
        </a:p>
      </dgm:t>
    </dgm:pt>
    <dgm:pt modelId="{BBD7DBC7-9F5A-459F-9DB9-7CECE42D0C04}" type="sibTrans" cxnId="{C3E121FF-B567-4603-A9F6-7456D9EF13C3}">
      <dgm:prSet/>
      <dgm:spPr/>
      <dgm:t>
        <a:bodyPr/>
        <a:lstStyle/>
        <a:p>
          <a:endParaRPr lang="en-US"/>
        </a:p>
      </dgm:t>
    </dgm:pt>
    <dgm:pt modelId="{A32E3264-F6D8-4DC1-B0F1-9FE7AC65E920}">
      <dgm:prSet custT="1"/>
      <dgm:spPr/>
      <dgm:t>
        <a:bodyPr/>
        <a:lstStyle/>
        <a:p>
          <a:r>
            <a:rPr lang="en-US" sz="1200" dirty="0"/>
            <a:t>Voucher </a:t>
          </a:r>
          <a:r>
            <a:rPr lang="en-US" sz="1200" dirty="0" err="1"/>
            <a:t>Hp</a:t>
          </a:r>
          <a:endParaRPr lang="en-US" sz="1200" dirty="0"/>
        </a:p>
      </dgm:t>
    </dgm:pt>
    <dgm:pt modelId="{5C35DF8F-7741-4C71-991A-88034B8174DD}" type="parTrans" cxnId="{F2F07CE6-9B0F-4F97-B7B6-5F455978DFA7}">
      <dgm:prSet/>
      <dgm:spPr/>
      <dgm:t>
        <a:bodyPr/>
        <a:lstStyle/>
        <a:p>
          <a:endParaRPr lang="en-US"/>
        </a:p>
      </dgm:t>
    </dgm:pt>
    <dgm:pt modelId="{6B8E264E-091A-470D-97ED-C8225371613D}" type="sibTrans" cxnId="{F2F07CE6-9B0F-4F97-B7B6-5F455978DFA7}">
      <dgm:prSet/>
      <dgm:spPr/>
      <dgm:t>
        <a:bodyPr/>
        <a:lstStyle/>
        <a:p>
          <a:endParaRPr lang="en-US"/>
        </a:p>
      </dgm:t>
    </dgm:pt>
    <dgm:pt modelId="{EC1D7D4E-38FC-4983-8611-F5BBAC2436F0}">
      <dgm:prSet custT="1"/>
      <dgm:spPr/>
      <dgm:t>
        <a:bodyPr/>
        <a:lstStyle/>
        <a:p>
          <a:r>
            <a:rPr lang="en-US" sz="1200" dirty="0"/>
            <a:t>Pendidikan      PBB             Listrik PLN</a:t>
          </a:r>
        </a:p>
      </dgm:t>
    </dgm:pt>
    <dgm:pt modelId="{AE026F93-F943-4599-BFCF-C441D13CCE99}" type="parTrans" cxnId="{54AE3C63-98E6-4427-A2D2-BCAC7147BFD5}">
      <dgm:prSet/>
      <dgm:spPr/>
      <dgm:t>
        <a:bodyPr/>
        <a:lstStyle/>
        <a:p>
          <a:endParaRPr lang="en-US"/>
        </a:p>
      </dgm:t>
    </dgm:pt>
    <dgm:pt modelId="{91A896DC-A8A2-486A-9F95-439ECFF60E57}" type="sibTrans" cxnId="{54AE3C63-98E6-4427-A2D2-BCAC7147BFD5}">
      <dgm:prSet/>
      <dgm:spPr/>
      <dgm:t>
        <a:bodyPr/>
        <a:lstStyle/>
        <a:p>
          <a:endParaRPr lang="en-US"/>
        </a:p>
      </dgm:t>
    </dgm:pt>
    <dgm:pt modelId="{B7BBF5B5-348F-4C46-BABB-389947E82DCD}">
      <dgm:prSet custT="1"/>
      <dgm:spPr/>
      <dgm:t>
        <a:bodyPr/>
        <a:lstStyle/>
        <a:p>
          <a:r>
            <a:rPr lang="en-US" sz="1200" dirty="0" err="1"/>
            <a:t>Registrasi</a:t>
          </a:r>
          <a:endParaRPr lang="en-US" sz="1200" dirty="0"/>
        </a:p>
      </dgm:t>
    </dgm:pt>
    <dgm:pt modelId="{32B3237D-1ECD-4406-9A92-F2AEEFD8FBA2}" type="parTrans" cxnId="{0AD89F1F-829B-4164-B43A-5D5D25337C21}">
      <dgm:prSet/>
      <dgm:spPr/>
      <dgm:t>
        <a:bodyPr/>
        <a:lstStyle/>
        <a:p>
          <a:endParaRPr lang="en-US"/>
        </a:p>
      </dgm:t>
    </dgm:pt>
    <dgm:pt modelId="{5D24BF86-3624-4824-B070-BB2B6D7CD45D}" type="sibTrans" cxnId="{0AD89F1F-829B-4164-B43A-5D5D25337C21}">
      <dgm:prSet/>
      <dgm:spPr/>
      <dgm:t>
        <a:bodyPr/>
        <a:lstStyle/>
        <a:p>
          <a:endParaRPr lang="en-US"/>
        </a:p>
      </dgm:t>
    </dgm:pt>
    <dgm:pt modelId="{0F5B8F0D-73C0-411F-98B9-DDD52F7730D1}">
      <dgm:prSet custT="1"/>
      <dgm:spPr/>
      <dgm:t>
        <a:bodyPr/>
        <a:lstStyle/>
        <a:p>
          <a:r>
            <a:rPr lang="en-US" sz="1200" dirty="0" err="1"/>
            <a:t>Riwayat</a:t>
          </a:r>
          <a:r>
            <a:rPr lang="en-US" sz="1200" dirty="0"/>
            <a:t> </a:t>
          </a:r>
          <a:r>
            <a:rPr lang="en-US" sz="1200" dirty="0" err="1"/>
            <a:t>Transaksi</a:t>
          </a:r>
          <a:endParaRPr lang="en-US" sz="1200" dirty="0"/>
        </a:p>
      </dgm:t>
    </dgm:pt>
    <dgm:pt modelId="{8EFA44DD-35BC-4C32-A3E0-9C3EA27335B4}" type="parTrans" cxnId="{4169EA52-C734-49CE-8851-E54A8DDB62F5}">
      <dgm:prSet/>
      <dgm:spPr/>
      <dgm:t>
        <a:bodyPr/>
        <a:lstStyle/>
        <a:p>
          <a:endParaRPr lang="en-US"/>
        </a:p>
      </dgm:t>
    </dgm:pt>
    <dgm:pt modelId="{56A11469-36FE-47D5-9B8A-A83C756F516B}" type="sibTrans" cxnId="{4169EA52-C734-49CE-8851-E54A8DDB62F5}">
      <dgm:prSet/>
      <dgm:spPr/>
      <dgm:t>
        <a:bodyPr/>
        <a:lstStyle/>
        <a:p>
          <a:endParaRPr lang="en-US"/>
        </a:p>
      </dgm:t>
    </dgm:pt>
    <dgm:pt modelId="{9CA07DCC-4457-447C-A4F6-0C580BBEA384}">
      <dgm:prSet custT="1"/>
      <dgm:spPr/>
      <dgm:t>
        <a:bodyPr/>
        <a:lstStyle/>
        <a:p>
          <a:r>
            <a:rPr lang="en-US" sz="1200" dirty="0" err="1"/>
            <a:t>Ubah</a:t>
          </a:r>
          <a:r>
            <a:rPr lang="en-US" sz="1200" dirty="0"/>
            <a:t> Password</a:t>
          </a:r>
        </a:p>
      </dgm:t>
    </dgm:pt>
    <dgm:pt modelId="{373FFD7B-9C0E-4B30-A0F3-E3234C4C1CD6}" type="parTrans" cxnId="{6A04FB1D-3164-4C6C-A4BD-5E3DA545146A}">
      <dgm:prSet/>
      <dgm:spPr/>
      <dgm:t>
        <a:bodyPr/>
        <a:lstStyle/>
        <a:p>
          <a:endParaRPr lang="en-US"/>
        </a:p>
      </dgm:t>
    </dgm:pt>
    <dgm:pt modelId="{8D48F4D9-C548-4D20-8FFD-05AEE649F663}" type="sibTrans" cxnId="{6A04FB1D-3164-4C6C-A4BD-5E3DA545146A}">
      <dgm:prSet/>
      <dgm:spPr/>
      <dgm:t>
        <a:bodyPr/>
        <a:lstStyle/>
        <a:p>
          <a:endParaRPr lang="en-US"/>
        </a:p>
      </dgm:t>
    </dgm:pt>
    <dgm:pt modelId="{7AF89F97-EC4F-4361-8523-28D60DCE3217}">
      <dgm:prSet custT="1"/>
      <dgm:spPr/>
      <dgm:t>
        <a:bodyPr/>
        <a:lstStyle/>
        <a:p>
          <a:r>
            <a:rPr lang="en-US" sz="1200" dirty="0"/>
            <a:t>Transfer Bank lain</a:t>
          </a:r>
        </a:p>
      </dgm:t>
    </dgm:pt>
    <dgm:pt modelId="{BD850841-F46B-4D5E-9C04-C9B7D2EB5374}" type="parTrans" cxnId="{2203D1D8-6CAD-423C-8D13-7B7E55848F9B}">
      <dgm:prSet/>
      <dgm:spPr/>
      <dgm:t>
        <a:bodyPr/>
        <a:lstStyle/>
        <a:p>
          <a:endParaRPr lang="en-US"/>
        </a:p>
      </dgm:t>
    </dgm:pt>
    <dgm:pt modelId="{9FCE96E2-86BC-48B0-915B-6A9715439750}" type="sibTrans" cxnId="{2203D1D8-6CAD-423C-8D13-7B7E55848F9B}">
      <dgm:prSet/>
      <dgm:spPr/>
      <dgm:t>
        <a:bodyPr/>
        <a:lstStyle/>
        <a:p>
          <a:endParaRPr lang="en-US"/>
        </a:p>
      </dgm:t>
    </dgm:pt>
    <dgm:pt modelId="{4AAAC5B9-E1DB-47DC-9B58-005863CB4ED7}">
      <dgm:prSet custT="1"/>
      <dgm:spPr/>
      <dgm:t>
        <a:bodyPr/>
        <a:lstStyle/>
        <a:p>
          <a:r>
            <a:rPr lang="en-US" sz="1200" dirty="0"/>
            <a:t>PDAM	            </a:t>
          </a:r>
          <a:r>
            <a:rPr lang="en-US" sz="1200" dirty="0" err="1"/>
            <a:t>Pajak</a:t>
          </a:r>
          <a:r>
            <a:rPr lang="en-US" sz="1200" dirty="0"/>
            <a:t>          BPJS </a:t>
          </a:r>
          <a:r>
            <a:rPr lang="en-US" sz="1200" dirty="0" err="1"/>
            <a:t>Kesehatan</a:t>
          </a:r>
          <a:endParaRPr lang="en-US" sz="1200" dirty="0"/>
        </a:p>
      </dgm:t>
    </dgm:pt>
    <dgm:pt modelId="{4E4F6D20-B188-4DBF-9697-E12EF57AA696}" type="parTrans" cxnId="{91FEF988-8991-4F87-B407-FD8E62A00A7C}">
      <dgm:prSet/>
      <dgm:spPr/>
      <dgm:t>
        <a:bodyPr/>
        <a:lstStyle/>
        <a:p>
          <a:endParaRPr lang="en-US"/>
        </a:p>
      </dgm:t>
    </dgm:pt>
    <dgm:pt modelId="{834CC5F1-D593-417F-A384-00DDFA5A6650}" type="sibTrans" cxnId="{91FEF988-8991-4F87-B407-FD8E62A00A7C}">
      <dgm:prSet/>
      <dgm:spPr/>
      <dgm:t>
        <a:bodyPr/>
        <a:lstStyle/>
        <a:p>
          <a:endParaRPr lang="en-US"/>
        </a:p>
      </dgm:t>
    </dgm:pt>
    <dgm:pt modelId="{2A0ACBD5-AA2E-432D-9B47-CFEF45AED6C2}">
      <dgm:prSet custT="1"/>
      <dgm:spPr/>
      <dgm:t>
        <a:bodyPr/>
        <a:lstStyle/>
        <a:p>
          <a:r>
            <a:rPr lang="en-US" sz="1200" dirty="0" err="1"/>
            <a:t>Rumash</a:t>
          </a:r>
          <a:r>
            <a:rPr lang="en-US" sz="1200" dirty="0"/>
            <a:t> </a:t>
          </a:r>
          <a:r>
            <a:rPr lang="en-US" sz="1200" dirty="0" err="1"/>
            <a:t>Sakit</a:t>
          </a:r>
          <a:r>
            <a:rPr lang="en-US" sz="1200" dirty="0"/>
            <a:t>   Top Up VA   Multipayment</a:t>
          </a:r>
        </a:p>
      </dgm:t>
    </dgm:pt>
    <dgm:pt modelId="{98D06092-503F-4F20-BEBD-2CDA75E180F5}" type="sibTrans" cxnId="{633F03AE-8731-4AA9-8FA2-7DDB1228127A}">
      <dgm:prSet/>
      <dgm:spPr/>
      <dgm:t>
        <a:bodyPr/>
        <a:lstStyle/>
        <a:p>
          <a:endParaRPr lang="en-US"/>
        </a:p>
      </dgm:t>
    </dgm:pt>
    <dgm:pt modelId="{80DB8B8D-65CE-480C-AD38-634B0EA90986}" type="parTrans" cxnId="{633F03AE-8731-4AA9-8FA2-7DDB1228127A}">
      <dgm:prSet/>
      <dgm:spPr/>
      <dgm:t>
        <a:bodyPr/>
        <a:lstStyle/>
        <a:p>
          <a:endParaRPr lang="en-US"/>
        </a:p>
      </dgm:t>
    </dgm:pt>
    <dgm:pt modelId="{BECE5EC1-2F0A-46B6-85A7-10C97AC87A21}">
      <dgm:prSet custT="1"/>
      <dgm:spPr/>
      <dgm:t>
        <a:bodyPr/>
        <a:lstStyle/>
        <a:p>
          <a:r>
            <a:rPr lang="en-US" sz="1200" dirty="0" err="1"/>
            <a:t>Nasabah</a:t>
          </a:r>
          <a:r>
            <a:rPr lang="en-US" sz="1200" dirty="0"/>
            <a:t> </a:t>
          </a:r>
          <a:r>
            <a:rPr lang="en-US" sz="1200" dirty="0" err="1"/>
            <a:t>Agen</a:t>
          </a:r>
          <a:endParaRPr lang="en-US" sz="1200" dirty="0"/>
        </a:p>
      </dgm:t>
    </dgm:pt>
    <dgm:pt modelId="{554DFFBD-A25C-4873-83B0-EF1117A1C6C3}" type="parTrans" cxnId="{471B4564-7C55-44C8-98BD-64AE129ADE1C}">
      <dgm:prSet/>
      <dgm:spPr/>
      <dgm:t>
        <a:bodyPr/>
        <a:lstStyle/>
        <a:p>
          <a:endParaRPr lang="en-US"/>
        </a:p>
      </dgm:t>
    </dgm:pt>
    <dgm:pt modelId="{D0184602-D03C-4BEB-97AC-F4A3E06CA13C}" type="sibTrans" cxnId="{471B4564-7C55-44C8-98BD-64AE129ADE1C}">
      <dgm:prSet/>
      <dgm:spPr/>
      <dgm:t>
        <a:bodyPr/>
        <a:lstStyle/>
        <a:p>
          <a:endParaRPr lang="en-US"/>
        </a:p>
      </dgm:t>
    </dgm:pt>
    <dgm:pt modelId="{EE2D3F59-DD94-482C-BBCB-E710F5BED1CC}">
      <dgm:prSet custT="1"/>
      <dgm:spPr/>
      <dgm:t>
        <a:bodyPr/>
        <a:lstStyle/>
        <a:p>
          <a:r>
            <a:rPr lang="en-US" sz="1200" dirty="0" err="1"/>
            <a:t>Riwayat</a:t>
          </a:r>
          <a:r>
            <a:rPr lang="en-US" sz="1200" dirty="0"/>
            <a:t> </a:t>
          </a:r>
          <a:r>
            <a:rPr lang="en-US" sz="1200" dirty="0" err="1"/>
            <a:t>Transaksi</a:t>
          </a:r>
          <a:r>
            <a:rPr lang="en-US" sz="1200" dirty="0"/>
            <a:t> Hari </a:t>
          </a:r>
          <a:r>
            <a:rPr lang="en-US" sz="1200" dirty="0" err="1"/>
            <a:t>ini</a:t>
          </a:r>
          <a:endParaRPr lang="en-US" sz="1200" dirty="0"/>
        </a:p>
      </dgm:t>
    </dgm:pt>
    <dgm:pt modelId="{B5C18FB1-26A0-4679-8632-42AD80710A11}" type="parTrans" cxnId="{CBF55692-D7BE-4E59-A512-A0F9EEF6D7DA}">
      <dgm:prSet/>
      <dgm:spPr/>
      <dgm:t>
        <a:bodyPr/>
        <a:lstStyle/>
        <a:p>
          <a:endParaRPr lang="en-US"/>
        </a:p>
      </dgm:t>
    </dgm:pt>
    <dgm:pt modelId="{9F655E64-7D84-43FB-AA7B-131D58DC7644}" type="sibTrans" cxnId="{CBF55692-D7BE-4E59-A512-A0F9EEF6D7DA}">
      <dgm:prSet/>
      <dgm:spPr/>
      <dgm:t>
        <a:bodyPr/>
        <a:lstStyle/>
        <a:p>
          <a:endParaRPr lang="en-US"/>
        </a:p>
      </dgm:t>
    </dgm:pt>
    <dgm:pt modelId="{B8EDE18E-2A28-4020-94A1-9DCFAAFC66F7}">
      <dgm:prSet custT="1"/>
      <dgm:spPr/>
      <dgm:t>
        <a:bodyPr/>
        <a:lstStyle/>
        <a:p>
          <a:r>
            <a:rPr lang="en-US" sz="1200" dirty="0" err="1"/>
            <a:t>Ubah</a:t>
          </a:r>
          <a:r>
            <a:rPr lang="en-US" sz="1200" dirty="0"/>
            <a:t> PIN</a:t>
          </a:r>
        </a:p>
      </dgm:t>
    </dgm:pt>
    <dgm:pt modelId="{19ACF1E0-7623-4B58-9A49-201C5C61ED51}" type="parTrans" cxnId="{87263C78-54C6-4144-BEEA-5032AB6F673F}">
      <dgm:prSet/>
      <dgm:spPr/>
      <dgm:t>
        <a:bodyPr/>
        <a:lstStyle/>
        <a:p>
          <a:endParaRPr lang="en-US"/>
        </a:p>
      </dgm:t>
    </dgm:pt>
    <dgm:pt modelId="{972CDF8A-657A-431C-ADDF-0CC3A5252F5B}" type="sibTrans" cxnId="{87263C78-54C6-4144-BEEA-5032AB6F673F}">
      <dgm:prSet/>
      <dgm:spPr/>
      <dgm:t>
        <a:bodyPr/>
        <a:lstStyle/>
        <a:p>
          <a:endParaRPr lang="en-US"/>
        </a:p>
      </dgm:t>
    </dgm:pt>
    <dgm:pt modelId="{9003331F-0F45-4D23-B822-3812CF276D95}">
      <dgm:prSet custT="1"/>
      <dgm:spPr/>
      <dgm:t>
        <a:bodyPr/>
        <a:lstStyle/>
        <a:p>
          <a:r>
            <a:rPr lang="en-US" sz="1200" dirty="0"/>
            <a:t>Logout</a:t>
          </a:r>
        </a:p>
      </dgm:t>
    </dgm:pt>
    <dgm:pt modelId="{7F9B787F-335A-4DD7-BA96-90BE931916B0}" type="parTrans" cxnId="{930DA6AF-5A26-4468-B50F-4DB7DB2FD1E5}">
      <dgm:prSet/>
      <dgm:spPr/>
      <dgm:t>
        <a:bodyPr/>
        <a:lstStyle/>
        <a:p>
          <a:endParaRPr lang="en-US"/>
        </a:p>
      </dgm:t>
    </dgm:pt>
    <dgm:pt modelId="{6DD7E516-7054-46A6-B27E-248283ABB2C4}" type="sibTrans" cxnId="{930DA6AF-5A26-4468-B50F-4DB7DB2FD1E5}">
      <dgm:prSet/>
      <dgm:spPr/>
      <dgm:t>
        <a:bodyPr/>
        <a:lstStyle/>
        <a:p>
          <a:endParaRPr lang="en-US"/>
        </a:p>
      </dgm:t>
    </dgm:pt>
    <dgm:pt modelId="{429406C2-54F9-4A22-843C-495BEE2621EA}">
      <dgm:prSet custT="1"/>
      <dgm:spPr/>
      <dgm:t>
        <a:bodyPr/>
        <a:lstStyle/>
        <a:p>
          <a:r>
            <a:rPr lang="en-US" sz="1200" dirty="0"/>
            <a:t>Token </a:t>
          </a:r>
          <a:r>
            <a:rPr lang="en-US" sz="1200" dirty="0" err="1"/>
            <a:t>Listrik</a:t>
          </a:r>
          <a:endParaRPr lang="en-US" sz="1200" dirty="0"/>
        </a:p>
      </dgm:t>
    </dgm:pt>
    <dgm:pt modelId="{237D5D2D-CFE5-4E13-B690-135B7E323F1F}" type="parTrans" cxnId="{096DBAE5-BD90-41DF-9194-DF6B466B1E9C}">
      <dgm:prSet/>
      <dgm:spPr/>
      <dgm:t>
        <a:bodyPr/>
        <a:lstStyle/>
        <a:p>
          <a:endParaRPr lang="en-US"/>
        </a:p>
      </dgm:t>
    </dgm:pt>
    <dgm:pt modelId="{99681954-7EB8-40A4-8C0A-08AE2862D6CC}" type="sibTrans" cxnId="{096DBAE5-BD90-41DF-9194-DF6B466B1E9C}">
      <dgm:prSet/>
      <dgm:spPr/>
      <dgm:t>
        <a:bodyPr/>
        <a:lstStyle/>
        <a:p>
          <a:endParaRPr lang="en-US"/>
        </a:p>
      </dgm:t>
    </dgm:pt>
    <dgm:pt modelId="{C14FB4F2-FF1E-4488-95DB-BE3F19623B41}" type="pres">
      <dgm:prSet presAssocID="{EE2320CD-0BFF-426D-B257-7619B1D0EAF6}" presName="Name0" presStyleCnt="0">
        <dgm:presLayoutVars>
          <dgm:dir/>
          <dgm:animLvl val="lvl"/>
          <dgm:resizeHandles val="exact"/>
        </dgm:presLayoutVars>
      </dgm:prSet>
      <dgm:spPr/>
    </dgm:pt>
    <dgm:pt modelId="{AA7B45B0-A8D5-4C67-A901-8784A271D615}" type="pres">
      <dgm:prSet presAssocID="{1908E3A7-0F8C-4FDF-B54C-8DEF3A018AEE}" presName="linNode" presStyleCnt="0"/>
      <dgm:spPr/>
    </dgm:pt>
    <dgm:pt modelId="{6EF8813A-BB33-41F7-8B3A-F7B532E3DF4F}" type="pres">
      <dgm:prSet presAssocID="{1908E3A7-0F8C-4FDF-B54C-8DEF3A018AEE}" presName="parentText" presStyleLbl="node1" presStyleIdx="0" presStyleCnt="9" custLinFactNeighborX="-1953">
        <dgm:presLayoutVars>
          <dgm:chMax val="1"/>
          <dgm:bulletEnabled val="1"/>
        </dgm:presLayoutVars>
      </dgm:prSet>
      <dgm:spPr/>
    </dgm:pt>
    <dgm:pt modelId="{E52B2B20-7E58-4266-A40A-F493752208F1}" type="pres">
      <dgm:prSet presAssocID="{1908E3A7-0F8C-4FDF-B54C-8DEF3A018AEE}" presName="descendantText" presStyleLbl="alignAccFollowNode1" presStyleIdx="0" presStyleCnt="9">
        <dgm:presLayoutVars>
          <dgm:bulletEnabled val="1"/>
        </dgm:presLayoutVars>
      </dgm:prSet>
      <dgm:spPr/>
    </dgm:pt>
    <dgm:pt modelId="{54F15E9F-188A-4BF0-B902-6460EC21D217}" type="pres">
      <dgm:prSet presAssocID="{D4508FD3-FF61-4F3C-8F72-252B07FC6993}" presName="sp" presStyleCnt="0"/>
      <dgm:spPr/>
    </dgm:pt>
    <dgm:pt modelId="{C2E9D5E4-865E-4D70-AD9B-375A14CD6549}" type="pres">
      <dgm:prSet presAssocID="{7EF18B21-6299-47C7-87B7-2A19A4C972FC}" presName="linNode" presStyleCnt="0"/>
      <dgm:spPr/>
    </dgm:pt>
    <dgm:pt modelId="{2AED236C-9E36-408E-83FC-F0C9EB7A10D4}" type="pres">
      <dgm:prSet presAssocID="{7EF18B21-6299-47C7-87B7-2A19A4C972FC}" presName="parentText" presStyleLbl="node1" presStyleIdx="1" presStyleCnt="9">
        <dgm:presLayoutVars>
          <dgm:chMax val="1"/>
          <dgm:bulletEnabled val="1"/>
        </dgm:presLayoutVars>
      </dgm:prSet>
      <dgm:spPr/>
    </dgm:pt>
    <dgm:pt modelId="{911D5946-B7AD-4D33-AD49-C0C90F55D6FB}" type="pres">
      <dgm:prSet presAssocID="{7EF18B21-6299-47C7-87B7-2A19A4C972FC}" presName="descendantText" presStyleLbl="alignAccFollowNode1" presStyleIdx="1" presStyleCnt="9">
        <dgm:presLayoutVars>
          <dgm:bulletEnabled val="1"/>
        </dgm:presLayoutVars>
      </dgm:prSet>
      <dgm:spPr/>
    </dgm:pt>
    <dgm:pt modelId="{3783DECB-E3B2-4A18-9A2F-FBDE8D19E4EF}" type="pres">
      <dgm:prSet presAssocID="{6A0FDD51-F62E-4CBD-BC2A-105668EACDBA}" presName="sp" presStyleCnt="0"/>
      <dgm:spPr/>
    </dgm:pt>
    <dgm:pt modelId="{03CAFA18-09F6-41C0-B37F-95D34A1C457D}" type="pres">
      <dgm:prSet presAssocID="{EA34308B-2394-4386-BDB3-050C08EBE147}" presName="linNode" presStyleCnt="0"/>
      <dgm:spPr/>
    </dgm:pt>
    <dgm:pt modelId="{EE820946-AE96-4621-B9D4-9679601736DA}" type="pres">
      <dgm:prSet presAssocID="{EA34308B-2394-4386-BDB3-050C08EBE147}" presName="parentText" presStyleLbl="node1" presStyleIdx="2" presStyleCnt="9">
        <dgm:presLayoutVars>
          <dgm:chMax val="1"/>
          <dgm:bulletEnabled val="1"/>
        </dgm:presLayoutVars>
      </dgm:prSet>
      <dgm:spPr/>
    </dgm:pt>
    <dgm:pt modelId="{5EFF718B-46B4-410D-9C75-54681AB13473}" type="pres">
      <dgm:prSet presAssocID="{EA34308B-2394-4386-BDB3-050C08EBE147}" presName="descendantText" presStyleLbl="alignAccFollowNode1" presStyleIdx="2" presStyleCnt="9" custLinFactNeighborX="694" custLinFactNeighborY="-1143">
        <dgm:presLayoutVars>
          <dgm:bulletEnabled val="1"/>
        </dgm:presLayoutVars>
      </dgm:prSet>
      <dgm:spPr/>
    </dgm:pt>
    <dgm:pt modelId="{0729C622-F6C9-444A-ADA6-C0A2A48DF5C6}" type="pres">
      <dgm:prSet presAssocID="{556720F8-2843-400C-9122-5F3EA9748E68}" presName="sp" presStyleCnt="0"/>
      <dgm:spPr/>
    </dgm:pt>
    <dgm:pt modelId="{67EECE00-74A3-4DA8-A779-D134097165CA}" type="pres">
      <dgm:prSet presAssocID="{4C213F6F-C637-44E4-B68E-911225780B32}" presName="linNode" presStyleCnt="0"/>
      <dgm:spPr/>
    </dgm:pt>
    <dgm:pt modelId="{2CC49B46-A734-438B-AA01-EE19FBD0E8B5}" type="pres">
      <dgm:prSet presAssocID="{4C213F6F-C637-44E4-B68E-911225780B32}" presName="parentText" presStyleLbl="node1" presStyleIdx="3" presStyleCnt="9">
        <dgm:presLayoutVars>
          <dgm:chMax val="1"/>
          <dgm:bulletEnabled val="1"/>
        </dgm:presLayoutVars>
      </dgm:prSet>
      <dgm:spPr/>
    </dgm:pt>
    <dgm:pt modelId="{743178C9-046A-45C0-A44C-3C1E9A80ED08}" type="pres">
      <dgm:prSet presAssocID="{4C213F6F-C637-44E4-B68E-911225780B32}" presName="descendantText" presStyleLbl="alignAccFollowNode1" presStyleIdx="3" presStyleCnt="9">
        <dgm:presLayoutVars>
          <dgm:bulletEnabled val="1"/>
        </dgm:presLayoutVars>
      </dgm:prSet>
      <dgm:spPr/>
    </dgm:pt>
    <dgm:pt modelId="{9344328C-FCB3-4662-A05A-2AEA44C7962A}" type="pres">
      <dgm:prSet presAssocID="{BBD7DBC7-9F5A-459F-9DB9-7CECE42D0C04}" presName="sp" presStyleCnt="0"/>
      <dgm:spPr/>
    </dgm:pt>
    <dgm:pt modelId="{93126840-3708-4881-A6BB-1BD95C2F741B}" type="pres">
      <dgm:prSet presAssocID="{4E75BF96-E9DB-497D-A809-AC331CF7287D}" presName="linNode" presStyleCnt="0"/>
      <dgm:spPr/>
    </dgm:pt>
    <dgm:pt modelId="{91DDA115-CDA9-43DA-86F9-F81BB6E82B8B}" type="pres">
      <dgm:prSet presAssocID="{4E75BF96-E9DB-497D-A809-AC331CF7287D}" presName="parentText" presStyleLbl="node1" presStyleIdx="4" presStyleCnt="9">
        <dgm:presLayoutVars>
          <dgm:chMax val="1"/>
          <dgm:bulletEnabled val="1"/>
        </dgm:presLayoutVars>
      </dgm:prSet>
      <dgm:spPr/>
    </dgm:pt>
    <dgm:pt modelId="{B35096A7-417B-4A96-9D1C-4D8AFB68EFB7}" type="pres">
      <dgm:prSet presAssocID="{4E75BF96-E9DB-497D-A809-AC331CF7287D}" presName="descendantText" presStyleLbl="alignAccFollowNode1" presStyleIdx="4" presStyleCnt="9">
        <dgm:presLayoutVars>
          <dgm:bulletEnabled val="1"/>
        </dgm:presLayoutVars>
      </dgm:prSet>
      <dgm:spPr/>
    </dgm:pt>
    <dgm:pt modelId="{C8E66CB3-8B80-4921-B21C-60126B2BD7BA}" type="pres">
      <dgm:prSet presAssocID="{5019F5A5-00BB-45F0-B1BE-5B3F14F04F38}" presName="sp" presStyleCnt="0"/>
      <dgm:spPr/>
    </dgm:pt>
    <dgm:pt modelId="{DEDFCD2D-213C-4736-93C8-8FEE22B76C19}" type="pres">
      <dgm:prSet presAssocID="{8AA71FFD-033C-4BE7-930C-108503E8D35C}" presName="linNode" presStyleCnt="0"/>
      <dgm:spPr/>
    </dgm:pt>
    <dgm:pt modelId="{7D900009-5E25-4A7C-BB9A-E20E990BBEF2}" type="pres">
      <dgm:prSet presAssocID="{8AA71FFD-033C-4BE7-930C-108503E8D35C}" presName="parentText" presStyleLbl="node1" presStyleIdx="5" presStyleCnt="9">
        <dgm:presLayoutVars>
          <dgm:chMax val="1"/>
          <dgm:bulletEnabled val="1"/>
        </dgm:presLayoutVars>
      </dgm:prSet>
      <dgm:spPr/>
    </dgm:pt>
    <dgm:pt modelId="{2C826937-929E-4D48-A419-015876D8E7A5}" type="pres">
      <dgm:prSet presAssocID="{8AA71FFD-033C-4BE7-930C-108503E8D35C}" presName="descendantText" presStyleLbl="alignAccFollowNode1" presStyleIdx="5" presStyleCnt="9" custScaleX="99092" custScaleY="127961" custLinFactNeighborX="6444">
        <dgm:presLayoutVars>
          <dgm:bulletEnabled val="1"/>
        </dgm:presLayoutVars>
      </dgm:prSet>
      <dgm:spPr/>
    </dgm:pt>
    <dgm:pt modelId="{B84AA6E5-FA85-4FC7-9548-0285F6F2E832}" type="pres">
      <dgm:prSet presAssocID="{E40D6FBF-6732-4819-94AA-49B4463DD7DD}" presName="sp" presStyleCnt="0"/>
      <dgm:spPr/>
    </dgm:pt>
    <dgm:pt modelId="{1D3153C9-0A32-4660-9A48-838241861364}" type="pres">
      <dgm:prSet presAssocID="{EDD45B73-9710-4C94-A762-0C0F56CF6C98}" presName="linNode" presStyleCnt="0"/>
      <dgm:spPr/>
    </dgm:pt>
    <dgm:pt modelId="{DC2FEF3A-9034-4CA0-A47B-BA7B0FE4EFD4}" type="pres">
      <dgm:prSet presAssocID="{EDD45B73-9710-4C94-A762-0C0F56CF6C98}" presName="parentText" presStyleLbl="node1" presStyleIdx="6" presStyleCnt="9">
        <dgm:presLayoutVars>
          <dgm:chMax val="1"/>
          <dgm:bulletEnabled val="1"/>
        </dgm:presLayoutVars>
      </dgm:prSet>
      <dgm:spPr/>
    </dgm:pt>
    <dgm:pt modelId="{9FB46DE3-609D-466D-A1E1-C4EBB5737FA0}" type="pres">
      <dgm:prSet presAssocID="{EDD45B73-9710-4C94-A762-0C0F56CF6C98}" presName="descendantText" presStyleLbl="alignAccFollowNode1" presStyleIdx="6" presStyleCnt="9">
        <dgm:presLayoutVars>
          <dgm:bulletEnabled val="1"/>
        </dgm:presLayoutVars>
      </dgm:prSet>
      <dgm:spPr/>
    </dgm:pt>
    <dgm:pt modelId="{74579F9A-4840-4F41-BAFC-3522B1A709D1}" type="pres">
      <dgm:prSet presAssocID="{5C9E082E-5173-4FDA-85ED-127C4A7B40AF}" presName="sp" presStyleCnt="0"/>
      <dgm:spPr/>
    </dgm:pt>
    <dgm:pt modelId="{A65B0672-2ED2-4419-AD1F-A577B30D615B}" type="pres">
      <dgm:prSet presAssocID="{E9CC31D5-7852-4950-86B2-FE04313CAA6C}" presName="linNode" presStyleCnt="0"/>
      <dgm:spPr/>
    </dgm:pt>
    <dgm:pt modelId="{E03AE1DD-AAE7-4E63-A5C6-60D73C0E33EB}" type="pres">
      <dgm:prSet presAssocID="{E9CC31D5-7852-4950-86B2-FE04313CAA6C}" presName="parentText" presStyleLbl="node1" presStyleIdx="7" presStyleCnt="9">
        <dgm:presLayoutVars>
          <dgm:chMax val="1"/>
          <dgm:bulletEnabled val="1"/>
        </dgm:presLayoutVars>
      </dgm:prSet>
      <dgm:spPr/>
    </dgm:pt>
    <dgm:pt modelId="{A95124D9-7990-4E4B-A823-2AE504527F77}" type="pres">
      <dgm:prSet presAssocID="{E9CC31D5-7852-4950-86B2-FE04313CAA6C}" presName="descendantText" presStyleLbl="alignAccFollowNode1" presStyleIdx="7" presStyleCnt="9">
        <dgm:presLayoutVars>
          <dgm:bulletEnabled val="1"/>
        </dgm:presLayoutVars>
      </dgm:prSet>
      <dgm:spPr/>
    </dgm:pt>
    <dgm:pt modelId="{AB6005E1-CBFD-4D2D-9860-0AE65D31CAF6}" type="pres">
      <dgm:prSet presAssocID="{FAB3A6B5-2D8E-4BBF-A118-E3E617CDF549}" presName="sp" presStyleCnt="0"/>
      <dgm:spPr/>
    </dgm:pt>
    <dgm:pt modelId="{3232B360-7B51-4459-835A-C2B64F832A35}" type="pres">
      <dgm:prSet presAssocID="{3B0AEB2B-C825-4386-B537-C3C01980AD89}" presName="linNode" presStyleCnt="0"/>
      <dgm:spPr/>
    </dgm:pt>
    <dgm:pt modelId="{5BF04ED7-66C0-415A-B381-AC7555ADD86B}" type="pres">
      <dgm:prSet presAssocID="{3B0AEB2B-C825-4386-B537-C3C01980AD89}" presName="parentText" presStyleLbl="node1" presStyleIdx="8" presStyleCnt="9">
        <dgm:presLayoutVars>
          <dgm:chMax val="1"/>
          <dgm:bulletEnabled val="1"/>
        </dgm:presLayoutVars>
      </dgm:prSet>
      <dgm:spPr/>
    </dgm:pt>
    <dgm:pt modelId="{29E7DFCF-6C0B-4407-BCC6-72B174C49843}" type="pres">
      <dgm:prSet presAssocID="{3B0AEB2B-C825-4386-B537-C3C01980AD89}" presName="descendantText" presStyleLbl="alignAccFollowNode1" presStyleIdx="8" presStyleCnt="9">
        <dgm:presLayoutVars>
          <dgm:bulletEnabled val="1"/>
        </dgm:presLayoutVars>
      </dgm:prSet>
      <dgm:spPr/>
    </dgm:pt>
  </dgm:ptLst>
  <dgm:cxnLst>
    <dgm:cxn modelId="{E10C7207-CE64-4D3E-84D0-747D8218A7B8}" type="presOf" srcId="{1908E3A7-0F8C-4FDF-B54C-8DEF3A018AEE}" destId="{6EF8813A-BB33-41F7-8B3A-F7B532E3DF4F}" srcOrd="0" destOrd="0" presId="urn:microsoft.com/office/officeart/2005/8/layout/vList5"/>
    <dgm:cxn modelId="{1E6FF709-73FB-4E21-A76F-E05B9489E541}" type="presOf" srcId="{3B0AEB2B-C825-4386-B537-C3C01980AD89}" destId="{5BF04ED7-66C0-415A-B381-AC7555ADD86B}" srcOrd="0" destOrd="0" presId="urn:microsoft.com/office/officeart/2005/8/layout/vList5"/>
    <dgm:cxn modelId="{6409410C-F989-4DDA-ADBD-53405CBE3D40}" srcId="{4C213F6F-C637-44E4-B68E-911225780B32}" destId="{98A28757-9FAA-4A1A-AEC2-EB053F2FF095}" srcOrd="0" destOrd="0" parTransId="{6705D30B-436E-4839-8B9D-D310EE7D25FB}" sibTransId="{37E9BA04-26D8-4E23-8AC9-4747B3D0D7EC}"/>
    <dgm:cxn modelId="{8F900E10-1E67-4CDB-BF79-BC196BA403E7}" srcId="{EE2320CD-0BFF-426D-B257-7619B1D0EAF6}" destId="{4E75BF96-E9DB-497D-A809-AC331CF7287D}" srcOrd="4" destOrd="0" parTransId="{2491E14E-8F0D-4B86-B535-38AC2BCB39F2}" sibTransId="{5019F5A5-00BB-45F0-B1BE-5B3F14F04F38}"/>
    <dgm:cxn modelId="{E6F3D616-9B10-4DEE-8A6B-19158922CC59}" type="presOf" srcId="{B8EDE18E-2A28-4020-94A1-9DCFAAFC66F7}" destId="{29E7DFCF-6C0B-4407-BCC6-72B174C49843}" srcOrd="0" destOrd="1" presId="urn:microsoft.com/office/officeart/2005/8/layout/vList5"/>
    <dgm:cxn modelId="{2B642C1A-C332-4C93-A57F-60494D8FBA94}" srcId="{EE2320CD-0BFF-426D-B257-7619B1D0EAF6}" destId="{8AA71FFD-033C-4BE7-930C-108503E8D35C}" srcOrd="5" destOrd="0" parTransId="{E5025B48-2471-4EE9-BD05-AD5827E18E37}" sibTransId="{E40D6FBF-6732-4819-94AA-49B4463DD7DD}"/>
    <dgm:cxn modelId="{6A04FB1D-3164-4C6C-A4BD-5E3DA545146A}" srcId="{3B0AEB2B-C825-4386-B537-C3C01980AD89}" destId="{9CA07DCC-4457-447C-A4F6-0C580BBEA384}" srcOrd="0" destOrd="0" parTransId="{373FFD7B-9C0E-4B30-A0F3-E3234C4C1CD6}" sibTransId="{8D48F4D9-C548-4D20-8FFD-05AEE649F663}"/>
    <dgm:cxn modelId="{2DB8631F-10FA-40C2-B154-1F9D4C455B59}" srcId="{1908E3A7-0F8C-4FDF-B54C-8DEF3A018AEE}" destId="{6E0E0393-B7C6-4D26-BBA7-AEDB201485D0}" srcOrd="0" destOrd="0" parTransId="{5E7B512D-FEC8-4D38-A843-0D25CDB07F0F}" sibTransId="{D53A2DC9-7C0A-417B-89CE-5281A79579A9}"/>
    <dgm:cxn modelId="{0AD89F1F-829B-4164-B43A-5D5D25337C21}" srcId="{EDD45B73-9710-4C94-A762-0C0F56CF6C98}" destId="{B7BBF5B5-348F-4C46-BABB-389947E82DCD}" srcOrd="0" destOrd="0" parTransId="{32B3237D-1ECD-4406-9A92-F2AEEFD8FBA2}" sibTransId="{5D24BF86-3624-4824-B070-BB2B6D7CD45D}"/>
    <dgm:cxn modelId="{39BF6B23-3280-4414-A64B-284783192963}" type="presOf" srcId="{EFD1D738-A99E-4694-8125-0D4D9176EEAB}" destId="{E52B2B20-7E58-4266-A40A-F493752208F1}" srcOrd="0" destOrd="1" presId="urn:microsoft.com/office/officeart/2005/8/layout/vList5"/>
    <dgm:cxn modelId="{C604C526-3FD8-4473-8CF6-50ADEA2533CD}" srcId="{7EF18B21-6299-47C7-87B7-2A19A4C972FC}" destId="{EE4A2638-075B-47BB-9BB0-D74CA36FF2E2}" srcOrd="0" destOrd="0" parTransId="{B21396C6-C490-449D-91D5-242B59D2B725}" sibTransId="{02E9B8E7-2ADC-4F52-B60B-5BD1720CCD96}"/>
    <dgm:cxn modelId="{567CB72B-D7AB-4ADC-BD20-E5879F166431}" srcId="{1908E3A7-0F8C-4FDF-B54C-8DEF3A018AEE}" destId="{EFD1D738-A99E-4694-8125-0D4D9176EEAB}" srcOrd="1" destOrd="0" parTransId="{C857C122-21EF-4934-91A4-38E3F3C30654}" sibTransId="{CB157C84-A722-4844-92CE-7B6917801F86}"/>
    <dgm:cxn modelId="{B732F432-16E8-4693-9920-21AD849A3B48}" type="presOf" srcId="{79E981C9-01E6-41F2-B8E8-A908968A83FF}" destId="{911D5946-B7AD-4D33-AD49-C0C90F55D6FB}" srcOrd="0" destOrd="1" presId="urn:microsoft.com/office/officeart/2005/8/layout/vList5"/>
    <dgm:cxn modelId="{54AE3C63-98E6-4427-A2D2-BCAC7147BFD5}" srcId="{8AA71FFD-033C-4BE7-930C-108503E8D35C}" destId="{EC1D7D4E-38FC-4983-8611-F5BBAC2436F0}" srcOrd="0" destOrd="0" parTransId="{AE026F93-F943-4599-BFCF-C441D13CCE99}" sibTransId="{91A896DC-A8A2-486A-9F95-439ECFF60E57}"/>
    <dgm:cxn modelId="{471B4564-7C55-44C8-98BD-64AE129ADE1C}" srcId="{EDD45B73-9710-4C94-A762-0C0F56CF6C98}" destId="{BECE5EC1-2F0A-46B6-85A7-10C97AC87A21}" srcOrd="1" destOrd="0" parTransId="{554DFFBD-A25C-4873-83B0-EF1117A1C6C3}" sibTransId="{D0184602-D03C-4BEB-97AC-F4A3E06CA13C}"/>
    <dgm:cxn modelId="{725BE164-C417-45F6-8BF2-F707A01BDA35}" type="presOf" srcId="{6E0E0393-B7C6-4D26-BBA7-AEDB201485D0}" destId="{E52B2B20-7E58-4266-A40A-F493752208F1}" srcOrd="0" destOrd="0" presId="urn:microsoft.com/office/officeart/2005/8/layout/vList5"/>
    <dgm:cxn modelId="{1E139946-CC4E-4FF4-9EEC-4EA07AA773DC}" type="presOf" srcId="{98A28757-9FAA-4A1A-AEC2-EB053F2FF095}" destId="{743178C9-046A-45C0-A44C-3C1E9A80ED08}" srcOrd="0" destOrd="0" presId="urn:microsoft.com/office/officeart/2005/8/layout/vList5"/>
    <dgm:cxn modelId="{8655B54B-8299-4F8C-A2FC-77899886B29B}" type="presOf" srcId="{7EF18B21-6299-47C7-87B7-2A19A4C972FC}" destId="{2AED236C-9E36-408E-83FC-F0C9EB7A10D4}" srcOrd="0" destOrd="0" presId="urn:microsoft.com/office/officeart/2005/8/layout/vList5"/>
    <dgm:cxn modelId="{228F5E50-BC62-4BEB-94E3-3F00B9E8A390}" type="presOf" srcId="{7D82A10A-7851-432B-A024-BEB2F20AD471}" destId="{5EFF718B-46B4-410D-9C75-54681AB13473}" srcOrd="0" destOrd="0" presId="urn:microsoft.com/office/officeart/2005/8/layout/vList5"/>
    <dgm:cxn modelId="{5E799850-2F77-4B53-9237-D021C98B7EA4}" type="presOf" srcId="{EC1D7D4E-38FC-4983-8611-F5BBAC2436F0}" destId="{2C826937-929E-4D48-A419-015876D8E7A5}" srcOrd="0" destOrd="0" presId="urn:microsoft.com/office/officeart/2005/8/layout/vList5"/>
    <dgm:cxn modelId="{4169EA52-C734-49CE-8851-E54A8DDB62F5}" srcId="{E9CC31D5-7852-4950-86B2-FE04313CAA6C}" destId="{0F5B8F0D-73C0-411F-98B9-DDD52F7730D1}" srcOrd="0" destOrd="0" parTransId="{8EFA44DD-35BC-4C32-A3E0-9C3EA27335B4}" sibTransId="{56A11469-36FE-47D5-9B8A-A83C756F516B}"/>
    <dgm:cxn modelId="{87263C78-54C6-4144-BEEA-5032AB6F673F}" srcId="{3B0AEB2B-C825-4386-B537-C3C01980AD89}" destId="{B8EDE18E-2A28-4020-94A1-9DCFAAFC66F7}" srcOrd="1" destOrd="0" parTransId="{19ACF1E0-7623-4B58-9A49-201C5C61ED51}" sibTransId="{972CDF8A-657A-431C-ADDF-0CC3A5252F5B}"/>
    <dgm:cxn modelId="{C3DFFE58-CE50-4017-8A02-0D1CF038E9E0}" type="presOf" srcId="{2E7D4D3D-98F4-4403-B8AC-2BBD096EBE97}" destId="{5EFF718B-46B4-410D-9C75-54681AB13473}" srcOrd="0" destOrd="1" presId="urn:microsoft.com/office/officeart/2005/8/layout/vList5"/>
    <dgm:cxn modelId="{2AE2AF7A-311E-45D5-ABA1-FAAE6D905A94}" type="presOf" srcId="{0F5B8F0D-73C0-411F-98B9-DDD52F7730D1}" destId="{A95124D9-7990-4E4B-A823-2AE504527F77}" srcOrd="0" destOrd="0" presId="urn:microsoft.com/office/officeart/2005/8/layout/vList5"/>
    <dgm:cxn modelId="{94F8B17C-D131-4CDB-BE60-F8E60C62DD7E}" srcId="{EA34308B-2394-4386-BDB3-050C08EBE147}" destId="{7D82A10A-7851-432B-A024-BEB2F20AD471}" srcOrd="0" destOrd="0" parTransId="{57A62332-E540-418A-A41B-EE7D3F1426E2}" sibTransId="{5B17061C-1CFC-4EF6-983E-37F2A4EEB5B4}"/>
    <dgm:cxn modelId="{D7C49A7D-F19F-472E-8D3D-BA1421FA1D72}" srcId="{EE2320CD-0BFF-426D-B257-7619B1D0EAF6}" destId="{EDD45B73-9710-4C94-A762-0C0F56CF6C98}" srcOrd="6" destOrd="0" parTransId="{A2499CE1-F432-4BC1-B14A-34BA548724E2}" sibTransId="{5C9E082E-5173-4FDA-85ED-127C4A7B40AF}"/>
    <dgm:cxn modelId="{6BFD4381-9B85-415C-8433-52A36AA3A73E}" srcId="{7EF18B21-6299-47C7-87B7-2A19A4C972FC}" destId="{79E981C9-01E6-41F2-B8E8-A908968A83FF}" srcOrd="1" destOrd="0" parTransId="{7DBEA042-05A0-4A10-AEE9-0C08BC1AB233}" sibTransId="{0A1EB252-8EED-43A0-857E-3CD7A46030E5}"/>
    <dgm:cxn modelId="{B9E31A84-C5ED-4E5C-BAF0-615E9AA905B4}" type="presOf" srcId="{BECE5EC1-2F0A-46B6-85A7-10C97AC87A21}" destId="{9FB46DE3-609D-466D-A1E1-C4EBB5737FA0}" srcOrd="0" destOrd="1" presId="urn:microsoft.com/office/officeart/2005/8/layout/vList5"/>
    <dgm:cxn modelId="{C2C2D184-D883-445E-B9BD-C2BC404FA561}" type="presOf" srcId="{4AAAC5B9-E1DB-47DC-9B58-005863CB4ED7}" destId="{2C826937-929E-4D48-A419-015876D8E7A5}" srcOrd="0" destOrd="1" presId="urn:microsoft.com/office/officeart/2005/8/layout/vList5"/>
    <dgm:cxn modelId="{91FEF988-8991-4F87-B407-FD8E62A00A7C}" srcId="{8AA71FFD-033C-4BE7-930C-108503E8D35C}" destId="{4AAAC5B9-E1DB-47DC-9B58-005863CB4ED7}" srcOrd="1" destOrd="0" parTransId="{4E4F6D20-B188-4DBF-9697-E12EF57AA696}" sibTransId="{834CC5F1-D593-417F-A384-00DDFA5A6650}"/>
    <dgm:cxn modelId="{AD497192-6C8E-475F-BD32-BE1655569982}" type="presOf" srcId="{EE4A2638-075B-47BB-9BB0-D74CA36FF2E2}" destId="{911D5946-B7AD-4D33-AD49-C0C90F55D6FB}" srcOrd="0" destOrd="0" presId="urn:microsoft.com/office/officeart/2005/8/layout/vList5"/>
    <dgm:cxn modelId="{CBF55692-D7BE-4E59-A512-A0F9EEF6D7DA}" srcId="{E9CC31D5-7852-4950-86B2-FE04313CAA6C}" destId="{EE2D3F59-DD94-482C-BBCB-E710F5BED1CC}" srcOrd="1" destOrd="0" parTransId="{B5C18FB1-26A0-4679-8632-42AD80710A11}" sibTransId="{9F655E64-7D84-43FB-AA7B-131D58DC7644}"/>
    <dgm:cxn modelId="{FF8F1E9C-2507-4B4B-BD79-CD74637C0F5E}" type="presOf" srcId="{A32E3264-F6D8-4DC1-B0F1-9FE7AC65E920}" destId="{B35096A7-417B-4A96-9D1C-4D8AFB68EFB7}" srcOrd="0" destOrd="0" presId="urn:microsoft.com/office/officeart/2005/8/layout/vList5"/>
    <dgm:cxn modelId="{3D845FA0-A888-4326-80F5-4D429A19F2F2}" srcId="{EE2320CD-0BFF-426D-B257-7619B1D0EAF6}" destId="{7EF18B21-6299-47C7-87B7-2A19A4C972FC}" srcOrd="1" destOrd="0" parTransId="{3C8DAE88-116E-4B55-9B7E-8136D3835616}" sibTransId="{6A0FDD51-F62E-4CBD-BC2A-105668EACDBA}"/>
    <dgm:cxn modelId="{9BDD63A3-9B84-4753-AE3E-AE7A830FFC0F}" type="presOf" srcId="{4C213F6F-C637-44E4-B68E-911225780B32}" destId="{2CC49B46-A734-438B-AA01-EE19FBD0E8B5}" srcOrd="0" destOrd="0" presId="urn:microsoft.com/office/officeart/2005/8/layout/vList5"/>
    <dgm:cxn modelId="{B1EB39A5-5B93-4FF6-959B-88A42FACD6BE}" type="presOf" srcId="{9003331F-0F45-4D23-B822-3812CF276D95}" destId="{29E7DFCF-6C0B-4407-BCC6-72B174C49843}" srcOrd="0" destOrd="2" presId="urn:microsoft.com/office/officeart/2005/8/layout/vList5"/>
    <dgm:cxn modelId="{EBF1D6A9-8FAD-43B3-98B3-A03CACCD05C1}" type="presOf" srcId="{EE2D3F59-DD94-482C-BBCB-E710F5BED1CC}" destId="{A95124D9-7990-4E4B-A823-2AE504527F77}" srcOrd="0" destOrd="1" presId="urn:microsoft.com/office/officeart/2005/8/layout/vList5"/>
    <dgm:cxn modelId="{CED245AC-66B7-437B-9ABA-D4BEE68A9E0C}" type="presOf" srcId="{B7BBF5B5-348F-4C46-BABB-389947E82DCD}" destId="{9FB46DE3-609D-466D-A1E1-C4EBB5737FA0}" srcOrd="0" destOrd="0" presId="urn:microsoft.com/office/officeart/2005/8/layout/vList5"/>
    <dgm:cxn modelId="{633F03AE-8731-4AA9-8FA2-7DDB1228127A}" srcId="{8AA71FFD-033C-4BE7-930C-108503E8D35C}" destId="{2A0ACBD5-AA2E-432D-9B47-CFEF45AED6C2}" srcOrd="2" destOrd="0" parTransId="{80DB8B8D-65CE-480C-AD38-634B0EA90986}" sibTransId="{98D06092-503F-4F20-BEBD-2CDA75E180F5}"/>
    <dgm:cxn modelId="{930DA6AF-5A26-4468-B50F-4DB7DB2FD1E5}" srcId="{3B0AEB2B-C825-4386-B537-C3C01980AD89}" destId="{9003331F-0F45-4D23-B822-3812CF276D95}" srcOrd="2" destOrd="0" parTransId="{7F9B787F-335A-4DD7-BA96-90BE931916B0}" sibTransId="{6DD7E516-7054-46A6-B27E-248283ABB2C4}"/>
    <dgm:cxn modelId="{813DB9B0-973B-49B6-BA6D-FD2253ABF8BE}" type="presOf" srcId="{EE2320CD-0BFF-426D-B257-7619B1D0EAF6}" destId="{C14FB4F2-FF1E-4488-95DB-BE3F19623B41}" srcOrd="0" destOrd="0" presId="urn:microsoft.com/office/officeart/2005/8/layout/vList5"/>
    <dgm:cxn modelId="{92E7E1C0-3973-490D-AF04-2F260FE90B12}" srcId="{EE2320CD-0BFF-426D-B257-7619B1D0EAF6}" destId="{3B0AEB2B-C825-4386-B537-C3C01980AD89}" srcOrd="8" destOrd="0" parTransId="{686DCFB2-C744-4461-B2E8-B9B7BB8BD833}" sibTransId="{DC4A2CA3-7C17-4341-A8C8-E81748073C29}"/>
    <dgm:cxn modelId="{BD3B73C6-48C7-466A-91D3-AEFE0A1F2171}" type="presOf" srcId="{8AA71FFD-033C-4BE7-930C-108503E8D35C}" destId="{7D900009-5E25-4A7C-BB9A-E20E990BBEF2}" srcOrd="0" destOrd="0" presId="urn:microsoft.com/office/officeart/2005/8/layout/vList5"/>
    <dgm:cxn modelId="{2EE3E9CD-B84E-4E2B-B950-F466312F5A03}" type="presOf" srcId="{E9CC31D5-7852-4950-86B2-FE04313CAA6C}" destId="{E03AE1DD-AAE7-4E63-A5C6-60D73C0E33EB}" srcOrd="0" destOrd="0" presId="urn:microsoft.com/office/officeart/2005/8/layout/vList5"/>
    <dgm:cxn modelId="{F9E76AD2-91A0-40FE-89B7-B8CBF7829A91}" srcId="{EE2320CD-0BFF-426D-B257-7619B1D0EAF6}" destId="{1908E3A7-0F8C-4FDF-B54C-8DEF3A018AEE}" srcOrd="0" destOrd="0" parTransId="{25D8909E-FDF3-470D-8213-0F707DB4CFD4}" sibTransId="{D4508FD3-FF61-4F3C-8F72-252B07FC6993}"/>
    <dgm:cxn modelId="{41DBA0D6-4EA1-4BE3-85D3-9312152A7CD2}" type="presOf" srcId="{7AF89F97-EC4F-4361-8523-28D60DCE3217}" destId="{743178C9-046A-45C0-A44C-3C1E9A80ED08}" srcOrd="0" destOrd="1" presId="urn:microsoft.com/office/officeart/2005/8/layout/vList5"/>
    <dgm:cxn modelId="{2203D1D8-6CAD-423C-8D13-7B7E55848F9B}" srcId="{4C213F6F-C637-44E4-B68E-911225780B32}" destId="{7AF89F97-EC4F-4361-8523-28D60DCE3217}" srcOrd="1" destOrd="0" parTransId="{BD850841-F46B-4D5E-9C04-C9B7D2EB5374}" sibTransId="{9FCE96E2-86BC-48B0-915B-6A9715439750}"/>
    <dgm:cxn modelId="{E14708E0-23A4-4FDA-A198-EBAF05C21A5B}" srcId="{EE2320CD-0BFF-426D-B257-7619B1D0EAF6}" destId="{E9CC31D5-7852-4950-86B2-FE04313CAA6C}" srcOrd="7" destOrd="0" parTransId="{3BA9E768-897B-4F35-A832-F035DC8CE06F}" sibTransId="{FAB3A6B5-2D8E-4BBF-A118-E3E617CDF549}"/>
    <dgm:cxn modelId="{A1AC8AE3-C24C-455A-90F0-F5C31165BF68}" type="presOf" srcId="{429406C2-54F9-4A22-843C-495BEE2621EA}" destId="{B35096A7-417B-4A96-9D1C-4D8AFB68EFB7}" srcOrd="0" destOrd="1" presId="urn:microsoft.com/office/officeart/2005/8/layout/vList5"/>
    <dgm:cxn modelId="{096DBAE5-BD90-41DF-9194-DF6B466B1E9C}" srcId="{4E75BF96-E9DB-497D-A809-AC331CF7287D}" destId="{429406C2-54F9-4A22-843C-495BEE2621EA}" srcOrd="1" destOrd="0" parTransId="{237D5D2D-CFE5-4E13-B690-135B7E323F1F}" sibTransId="{99681954-7EB8-40A4-8C0A-08AE2862D6CC}"/>
    <dgm:cxn modelId="{CCCD20E6-9EAA-4194-8D34-182C3D9E1A21}" type="presOf" srcId="{EDD45B73-9710-4C94-A762-0C0F56CF6C98}" destId="{DC2FEF3A-9034-4CA0-A47B-BA7B0FE4EFD4}" srcOrd="0" destOrd="0" presId="urn:microsoft.com/office/officeart/2005/8/layout/vList5"/>
    <dgm:cxn modelId="{F2F07CE6-9B0F-4F97-B7B6-5F455978DFA7}" srcId="{4E75BF96-E9DB-497D-A809-AC331CF7287D}" destId="{A32E3264-F6D8-4DC1-B0F1-9FE7AC65E920}" srcOrd="0" destOrd="0" parTransId="{5C35DF8F-7741-4C71-991A-88034B8174DD}" sibTransId="{6B8E264E-091A-470D-97ED-C8225371613D}"/>
    <dgm:cxn modelId="{5C191FE9-07DB-49B8-A49A-3173BF56DB00}" type="presOf" srcId="{2A0ACBD5-AA2E-432D-9B47-CFEF45AED6C2}" destId="{2C826937-929E-4D48-A419-015876D8E7A5}" srcOrd="0" destOrd="2" presId="urn:microsoft.com/office/officeart/2005/8/layout/vList5"/>
    <dgm:cxn modelId="{91C317ED-CD08-4DD7-946D-ECD1F81127D7}" srcId="{EE2320CD-0BFF-426D-B257-7619B1D0EAF6}" destId="{EA34308B-2394-4386-BDB3-050C08EBE147}" srcOrd="2" destOrd="0" parTransId="{FB38EC6B-23E1-4E67-A94F-311E94A416F8}" sibTransId="{556720F8-2843-400C-9122-5F3EA9748E68}"/>
    <dgm:cxn modelId="{976142EE-7027-4015-9FA5-2E773E2985F4}" type="presOf" srcId="{EA34308B-2394-4386-BDB3-050C08EBE147}" destId="{EE820946-AE96-4621-B9D4-9679601736DA}" srcOrd="0" destOrd="0" presId="urn:microsoft.com/office/officeart/2005/8/layout/vList5"/>
    <dgm:cxn modelId="{2CE9AAF3-0A1A-4BD9-988D-B3E2D022A0AB}" srcId="{EA34308B-2394-4386-BDB3-050C08EBE147}" destId="{2E7D4D3D-98F4-4403-B8AC-2BBD096EBE97}" srcOrd="1" destOrd="0" parTransId="{CBF96673-A691-460E-BEE9-9EBD56EE7A9D}" sibTransId="{506A158B-1B1A-437D-8F7F-2E1FB245BC22}"/>
    <dgm:cxn modelId="{F22092F8-0F1A-4BC9-BF84-D1696EF28AEE}" type="presOf" srcId="{9CA07DCC-4457-447C-A4F6-0C580BBEA384}" destId="{29E7DFCF-6C0B-4407-BCC6-72B174C49843}" srcOrd="0" destOrd="0" presId="urn:microsoft.com/office/officeart/2005/8/layout/vList5"/>
    <dgm:cxn modelId="{F18ECAFC-422A-4A73-B7BB-44086487E17C}" type="presOf" srcId="{4E75BF96-E9DB-497D-A809-AC331CF7287D}" destId="{91DDA115-CDA9-43DA-86F9-F81BB6E82B8B}" srcOrd="0" destOrd="0" presId="urn:microsoft.com/office/officeart/2005/8/layout/vList5"/>
    <dgm:cxn modelId="{C3E121FF-B567-4603-A9F6-7456D9EF13C3}" srcId="{EE2320CD-0BFF-426D-B257-7619B1D0EAF6}" destId="{4C213F6F-C637-44E4-B68E-911225780B32}" srcOrd="3" destOrd="0" parTransId="{F0133FFC-A7FF-43A2-B7E6-60CFEBCAE156}" sibTransId="{BBD7DBC7-9F5A-459F-9DB9-7CECE42D0C04}"/>
    <dgm:cxn modelId="{9FFC2C9D-51EB-489B-9ED5-35C884D3DBD5}" type="presParOf" srcId="{C14FB4F2-FF1E-4488-95DB-BE3F19623B41}" destId="{AA7B45B0-A8D5-4C67-A901-8784A271D615}" srcOrd="0" destOrd="0" presId="urn:microsoft.com/office/officeart/2005/8/layout/vList5"/>
    <dgm:cxn modelId="{9B1F8364-2294-41C8-8C2A-65D29E2AA62D}" type="presParOf" srcId="{AA7B45B0-A8D5-4C67-A901-8784A271D615}" destId="{6EF8813A-BB33-41F7-8B3A-F7B532E3DF4F}" srcOrd="0" destOrd="0" presId="urn:microsoft.com/office/officeart/2005/8/layout/vList5"/>
    <dgm:cxn modelId="{DF72CF18-2319-4E44-BA18-7AE41BE30D9E}" type="presParOf" srcId="{AA7B45B0-A8D5-4C67-A901-8784A271D615}" destId="{E52B2B20-7E58-4266-A40A-F493752208F1}" srcOrd="1" destOrd="0" presId="urn:microsoft.com/office/officeart/2005/8/layout/vList5"/>
    <dgm:cxn modelId="{BC2BB38B-BAD1-4C73-AD6B-CBF2BED64B49}" type="presParOf" srcId="{C14FB4F2-FF1E-4488-95DB-BE3F19623B41}" destId="{54F15E9F-188A-4BF0-B902-6460EC21D217}" srcOrd="1" destOrd="0" presId="urn:microsoft.com/office/officeart/2005/8/layout/vList5"/>
    <dgm:cxn modelId="{72EAF70A-1C80-481C-A8EB-20EDD0474CF4}" type="presParOf" srcId="{C14FB4F2-FF1E-4488-95DB-BE3F19623B41}" destId="{C2E9D5E4-865E-4D70-AD9B-375A14CD6549}" srcOrd="2" destOrd="0" presId="urn:microsoft.com/office/officeart/2005/8/layout/vList5"/>
    <dgm:cxn modelId="{E071BA7E-E6F5-42C3-87F5-E4A3471C1380}" type="presParOf" srcId="{C2E9D5E4-865E-4D70-AD9B-375A14CD6549}" destId="{2AED236C-9E36-408E-83FC-F0C9EB7A10D4}" srcOrd="0" destOrd="0" presId="urn:microsoft.com/office/officeart/2005/8/layout/vList5"/>
    <dgm:cxn modelId="{8F0F8C4B-4CE1-4682-AD63-7C6AFDE83D4C}" type="presParOf" srcId="{C2E9D5E4-865E-4D70-AD9B-375A14CD6549}" destId="{911D5946-B7AD-4D33-AD49-C0C90F55D6FB}" srcOrd="1" destOrd="0" presId="urn:microsoft.com/office/officeart/2005/8/layout/vList5"/>
    <dgm:cxn modelId="{86DA3DA1-7E0D-454B-862C-958ADFBFB0B5}" type="presParOf" srcId="{C14FB4F2-FF1E-4488-95DB-BE3F19623B41}" destId="{3783DECB-E3B2-4A18-9A2F-FBDE8D19E4EF}" srcOrd="3" destOrd="0" presId="urn:microsoft.com/office/officeart/2005/8/layout/vList5"/>
    <dgm:cxn modelId="{25914284-E3B0-4648-94EE-5F1BB4D514BA}" type="presParOf" srcId="{C14FB4F2-FF1E-4488-95DB-BE3F19623B41}" destId="{03CAFA18-09F6-41C0-B37F-95D34A1C457D}" srcOrd="4" destOrd="0" presId="urn:microsoft.com/office/officeart/2005/8/layout/vList5"/>
    <dgm:cxn modelId="{8E95E05B-1360-4AB2-B4E8-601C21A70D31}" type="presParOf" srcId="{03CAFA18-09F6-41C0-B37F-95D34A1C457D}" destId="{EE820946-AE96-4621-B9D4-9679601736DA}" srcOrd="0" destOrd="0" presId="urn:microsoft.com/office/officeart/2005/8/layout/vList5"/>
    <dgm:cxn modelId="{3288EA84-4826-4D22-BAF3-180D0F313A76}" type="presParOf" srcId="{03CAFA18-09F6-41C0-B37F-95D34A1C457D}" destId="{5EFF718B-46B4-410D-9C75-54681AB13473}" srcOrd="1" destOrd="0" presId="urn:microsoft.com/office/officeart/2005/8/layout/vList5"/>
    <dgm:cxn modelId="{E0BA84EF-AAEC-4CD9-95A5-CF54E62DD56C}" type="presParOf" srcId="{C14FB4F2-FF1E-4488-95DB-BE3F19623B41}" destId="{0729C622-F6C9-444A-ADA6-C0A2A48DF5C6}" srcOrd="5" destOrd="0" presId="urn:microsoft.com/office/officeart/2005/8/layout/vList5"/>
    <dgm:cxn modelId="{A0CEBC58-0D83-48A6-BF42-6C34E0922979}" type="presParOf" srcId="{C14FB4F2-FF1E-4488-95DB-BE3F19623B41}" destId="{67EECE00-74A3-4DA8-A779-D134097165CA}" srcOrd="6" destOrd="0" presId="urn:microsoft.com/office/officeart/2005/8/layout/vList5"/>
    <dgm:cxn modelId="{B7120AC8-0ECF-4992-BA22-E36ACB342637}" type="presParOf" srcId="{67EECE00-74A3-4DA8-A779-D134097165CA}" destId="{2CC49B46-A734-438B-AA01-EE19FBD0E8B5}" srcOrd="0" destOrd="0" presId="urn:microsoft.com/office/officeart/2005/8/layout/vList5"/>
    <dgm:cxn modelId="{48E20053-DA6C-42D1-8EAF-F27DE9748B66}" type="presParOf" srcId="{67EECE00-74A3-4DA8-A779-D134097165CA}" destId="{743178C9-046A-45C0-A44C-3C1E9A80ED08}" srcOrd="1" destOrd="0" presId="urn:microsoft.com/office/officeart/2005/8/layout/vList5"/>
    <dgm:cxn modelId="{3E96CC2E-DED0-4B21-A729-46060CD36957}" type="presParOf" srcId="{C14FB4F2-FF1E-4488-95DB-BE3F19623B41}" destId="{9344328C-FCB3-4662-A05A-2AEA44C7962A}" srcOrd="7" destOrd="0" presId="urn:microsoft.com/office/officeart/2005/8/layout/vList5"/>
    <dgm:cxn modelId="{29CE1DF5-DA3D-4B69-8FCC-5F6FC71E37BC}" type="presParOf" srcId="{C14FB4F2-FF1E-4488-95DB-BE3F19623B41}" destId="{93126840-3708-4881-A6BB-1BD95C2F741B}" srcOrd="8" destOrd="0" presId="urn:microsoft.com/office/officeart/2005/8/layout/vList5"/>
    <dgm:cxn modelId="{4A2F7369-7E04-46A7-A959-AFDD92BEAD21}" type="presParOf" srcId="{93126840-3708-4881-A6BB-1BD95C2F741B}" destId="{91DDA115-CDA9-43DA-86F9-F81BB6E82B8B}" srcOrd="0" destOrd="0" presId="urn:microsoft.com/office/officeart/2005/8/layout/vList5"/>
    <dgm:cxn modelId="{34317A32-2773-4C8C-A45F-B466DA4B7E8E}" type="presParOf" srcId="{93126840-3708-4881-A6BB-1BD95C2F741B}" destId="{B35096A7-417B-4A96-9D1C-4D8AFB68EFB7}" srcOrd="1" destOrd="0" presId="urn:microsoft.com/office/officeart/2005/8/layout/vList5"/>
    <dgm:cxn modelId="{738DC4B2-3234-4AB1-ACC2-912C42700FAE}" type="presParOf" srcId="{C14FB4F2-FF1E-4488-95DB-BE3F19623B41}" destId="{C8E66CB3-8B80-4921-B21C-60126B2BD7BA}" srcOrd="9" destOrd="0" presId="urn:microsoft.com/office/officeart/2005/8/layout/vList5"/>
    <dgm:cxn modelId="{F8C6F746-B836-4751-9ABD-A8607148A163}" type="presParOf" srcId="{C14FB4F2-FF1E-4488-95DB-BE3F19623B41}" destId="{DEDFCD2D-213C-4736-93C8-8FEE22B76C19}" srcOrd="10" destOrd="0" presId="urn:microsoft.com/office/officeart/2005/8/layout/vList5"/>
    <dgm:cxn modelId="{4F2DB220-0959-447E-87EA-9A3545098FC5}" type="presParOf" srcId="{DEDFCD2D-213C-4736-93C8-8FEE22B76C19}" destId="{7D900009-5E25-4A7C-BB9A-E20E990BBEF2}" srcOrd="0" destOrd="0" presId="urn:microsoft.com/office/officeart/2005/8/layout/vList5"/>
    <dgm:cxn modelId="{423035C7-56C8-4DD5-9349-530C966C0B9C}" type="presParOf" srcId="{DEDFCD2D-213C-4736-93C8-8FEE22B76C19}" destId="{2C826937-929E-4D48-A419-015876D8E7A5}" srcOrd="1" destOrd="0" presId="urn:microsoft.com/office/officeart/2005/8/layout/vList5"/>
    <dgm:cxn modelId="{6B3AF2ED-2BEC-4AF2-971E-5382FEC1B5EA}" type="presParOf" srcId="{C14FB4F2-FF1E-4488-95DB-BE3F19623B41}" destId="{B84AA6E5-FA85-4FC7-9548-0285F6F2E832}" srcOrd="11" destOrd="0" presId="urn:microsoft.com/office/officeart/2005/8/layout/vList5"/>
    <dgm:cxn modelId="{C5C646B3-A731-459F-A978-E5DA852F9E84}" type="presParOf" srcId="{C14FB4F2-FF1E-4488-95DB-BE3F19623B41}" destId="{1D3153C9-0A32-4660-9A48-838241861364}" srcOrd="12" destOrd="0" presId="urn:microsoft.com/office/officeart/2005/8/layout/vList5"/>
    <dgm:cxn modelId="{D6DEAB4F-E65B-4835-A08A-EE76EFB3DF5B}" type="presParOf" srcId="{1D3153C9-0A32-4660-9A48-838241861364}" destId="{DC2FEF3A-9034-4CA0-A47B-BA7B0FE4EFD4}" srcOrd="0" destOrd="0" presId="urn:microsoft.com/office/officeart/2005/8/layout/vList5"/>
    <dgm:cxn modelId="{0598ACA6-D498-4F8F-A247-793FCBC572E6}" type="presParOf" srcId="{1D3153C9-0A32-4660-9A48-838241861364}" destId="{9FB46DE3-609D-466D-A1E1-C4EBB5737FA0}" srcOrd="1" destOrd="0" presId="urn:microsoft.com/office/officeart/2005/8/layout/vList5"/>
    <dgm:cxn modelId="{66FC7F48-6ACB-484F-9F38-2D2558D6E763}" type="presParOf" srcId="{C14FB4F2-FF1E-4488-95DB-BE3F19623B41}" destId="{74579F9A-4840-4F41-BAFC-3522B1A709D1}" srcOrd="13" destOrd="0" presId="urn:microsoft.com/office/officeart/2005/8/layout/vList5"/>
    <dgm:cxn modelId="{2783F604-6EA8-4321-A52F-58CE0EA48769}" type="presParOf" srcId="{C14FB4F2-FF1E-4488-95DB-BE3F19623B41}" destId="{A65B0672-2ED2-4419-AD1F-A577B30D615B}" srcOrd="14" destOrd="0" presId="urn:microsoft.com/office/officeart/2005/8/layout/vList5"/>
    <dgm:cxn modelId="{72752220-AD72-4FA6-B80F-09D13E0DEF1F}" type="presParOf" srcId="{A65B0672-2ED2-4419-AD1F-A577B30D615B}" destId="{E03AE1DD-AAE7-4E63-A5C6-60D73C0E33EB}" srcOrd="0" destOrd="0" presId="urn:microsoft.com/office/officeart/2005/8/layout/vList5"/>
    <dgm:cxn modelId="{838D5A67-D215-4DDA-A13D-1389BF5F488E}" type="presParOf" srcId="{A65B0672-2ED2-4419-AD1F-A577B30D615B}" destId="{A95124D9-7990-4E4B-A823-2AE504527F77}" srcOrd="1" destOrd="0" presId="urn:microsoft.com/office/officeart/2005/8/layout/vList5"/>
    <dgm:cxn modelId="{B665B79F-264B-415D-BD61-851C8A518271}" type="presParOf" srcId="{C14FB4F2-FF1E-4488-95DB-BE3F19623B41}" destId="{AB6005E1-CBFD-4D2D-9860-0AE65D31CAF6}" srcOrd="15" destOrd="0" presId="urn:microsoft.com/office/officeart/2005/8/layout/vList5"/>
    <dgm:cxn modelId="{07C7FE8E-6407-427A-BC17-BDA63A9D0028}" type="presParOf" srcId="{C14FB4F2-FF1E-4488-95DB-BE3F19623B41}" destId="{3232B360-7B51-4459-835A-C2B64F832A35}" srcOrd="16" destOrd="0" presId="urn:microsoft.com/office/officeart/2005/8/layout/vList5"/>
    <dgm:cxn modelId="{B7D27294-F57C-4D05-BB7A-03E11EB7D9BF}" type="presParOf" srcId="{3232B360-7B51-4459-835A-C2B64F832A35}" destId="{5BF04ED7-66C0-415A-B381-AC7555ADD86B}" srcOrd="0" destOrd="0" presId="urn:microsoft.com/office/officeart/2005/8/layout/vList5"/>
    <dgm:cxn modelId="{15F0E9A4-85A4-4C49-A746-35E9A939E31E}" type="presParOf" srcId="{3232B360-7B51-4459-835A-C2B64F832A35}" destId="{29E7DFCF-6C0B-4407-BCC6-72B174C4984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FF6450-2B22-4BD1-B8FF-5370958FF9AC}" type="doc">
      <dgm:prSet loTypeId="urn:microsoft.com/office/officeart/2008/layout/AlternatingHexagons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D"/>
        </a:p>
      </dgm:t>
    </dgm:pt>
    <dgm:pt modelId="{525A082B-7232-4970-BD35-CEA91EA2FC80}">
      <dgm:prSet phldrT="[Text]" custT="1"/>
      <dgm:spPr>
        <a:solidFill>
          <a:schemeClr val="accent4"/>
        </a:solidFill>
        <a:ln>
          <a:solidFill>
            <a:srgbClr val="00B0F0"/>
          </a:solidFill>
        </a:ln>
      </dgm:spPr>
      <dgm:t>
        <a:bodyPr/>
        <a:lstStyle/>
        <a:p>
          <a:r>
            <a:rPr lang="en-US" sz="1400" dirty="0" err="1"/>
            <a:t>Mendapat</a:t>
          </a:r>
          <a:r>
            <a:rPr lang="en-US" sz="1400" dirty="0"/>
            <a:t> </a:t>
          </a:r>
          <a:r>
            <a:rPr lang="en-US" sz="1400" dirty="0" err="1"/>
            <a:t>bunga</a:t>
          </a:r>
          <a:r>
            <a:rPr lang="en-US" sz="1400" dirty="0"/>
            <a:t> </a:t>
          </a:r>
          <a:r>
            <a:rPr lang="en-US" sz="1400" dirty="0" err="1"/>
            <a:t>dari</a:t>
          </a:r>
          <a:r>
            <a:rPr lang="en-US" sz="1400" dirty="0"/>
            <a:t> </a:t>
          </a:r>
          <a:r>
            <a:rPr lang="en-US" sz="1400" dirty="0" err="1"/>
            <a:t>saldo</a:t>
          </a:r>
          <a:r>
            <a:rPr lang="en-US" sz="1400" dirty="0"/>
            <a:t> </a:t>
          </a:r>
          <a:r>
            <a:rPr lang="en-US" sz="1400" dirty="0" err="1"/>
            <a:t>rekening</a:t>
          </a:r>
          <a:r>
            <a:rPr lang="en-US" sz="1400" dirty="0"/>
            <a:t> Rp1,-</a:t>
          </a:r>
          <a:endParaRPr lang="en-ID" sz="1400" dirty="0"/>
        </a:p>
      </dgm:t>
    </dgm:pt>
    <dgm:pt modelId="{8D87634D-28BC-493C-89DD-73378070B414}" type="parTrans" cxnId="{F9E0D05C-E951-4B0A-81BD-39E98E1028F8}">
      <dgm:prSet/>
      <dgm:spPr/>
      <dgm:t>
        <a:bodyPr/>
        <a:lstStyle/>
        <a:p>
          <a:endParaRPr lang="en-ID"/>
        </a:p>
      </dgm:t>
    </dgm:pt>
    <dgm:pt modelId="{B84F21D4-F475-4F0D-B7BE-88D90FDD1835}" type="sibTrans" cxnId="{F9E0D05C-E951-4B0A-81BD-39E98E1028F8}">
      <dgm:prSet custT="1"/>
      <dgm:spPr>
        <a:solidFill>
          <a:srgbClr val="008080"/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400" dirty="0"/>
            <a:t>WNI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400" dirty="0" err="1"/>
            <a:t>Perorangan</a:t>
          </a:r>
          <a:endParaRPr lang="en-ID" sz="1400" dirty="0"/>
        </a:p>
      </dgm:t>
    </dgm:pt>
    <dgm:pt modelId="{C9F9F7AA-4A9F-44D7-9AAE-4624D2069CAB}">
      <dgm:prSet phldrT="[Text]" custT="1"/>
      <dgm:spPr/>
      <dgm:t>
        <a:bodyPr/>
        <a:lstStyle/>
        <a:p>
          <a:r>
            <a:rPr lang="en-US" sz="1400" dirty="0" err="1"/>
            <a:t>Tanpa</a:t>
          </a:r>
          <a:r>
            <a:rPr lang="en-US" sz="1400" dirty="0"/>
            <a:t>  </a:t>
          </a:r>
          <a:r>
            <a:rPr lang="en-US" sz="1400" dirty="0" err="1"/>
            <a:t>batas</a:t>
          </a:r>
          <a:r>
            <a:rPr lang="en-US" sz="1400" dirty="0"/>
            <a:t> min </a:t>
          </a:r>
          <a:r>
            <a:rPr lang="en-US" sz="1400" dirty="0" err="1"/>
            <a:t>saldo</a:t>
          </a:r>
          <a:r>
            <a:rPr lang="en-US" sz="1400" dirty="0"/>
            <a:t> </a:t>
          </a:r>
          <a:r>
            <a:rPr lang="en-US" sz="1400" dirty="0" err="1"/>
            <a:t>rekening</a:t>
          </a:r>
          <a:endParaRPr lang="en-ID" sz="1400" dirty="0"/>
        </a:p>
      </dgm:t>
    </dgm:pt>
    <dgm:pt modelId="{D11AE4E5-54C5-459C-AD03-96F63B74C106}" type="parTrans" cxnId="{BABA44C8-42F0-41F1-A5D0-5FB4D4E5DEE4}">
      <dgm:prSet/>
      <dgm:spPr/>
      <dgm:t>
        <a:bodyPr/>
        <a:lstStyle/>
        <a:p>
          <a:endParaRPr lang="en-ID"/>
        </a:p>
      </dgm:t>
    </dgm:pt>
    <dgm:pt modelId="{B407791B-CFCA-431A-B1E3-A31A50308EEC}" type="sibTrans" cxnId="{BABA44C8-42F0-41F1-A5D0-5FB4D4E5DEE4}">
      <dgm:prSet custT="1"/>
      <dgm:spPr>
        <a:solidFill>
          <a:schemeClr val="accent4"/>
        </a:solidFill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1400" dirty="0" err="1"/>
            <a:t>Tanpa</a:t>
          </a:r>
          <a:r>
            <a:rPr lang="en-US" sz="1400" dirty="0"/>
            <a:t> 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400" dirty="0" err="1"/>
            <a:t>batas</a:t>
          </a:r>
          <a:r>
            <a:rPr lang="en-US" sz="1400" dirty="0"/>
            <a:t> min 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400" dirty="0" err="1"/>
            <a:t>Setoran</a:t>
          </a:r>
          <a:endParaRPr lang="en-US" sz="1400" dirty="0"/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1400" dirty="0"/>
            <a:t> </a:t>
          </a:r>
          <a:r>
            <a:rPr lang="en-US" sz="1400" dirty="0" err="1"/>
            <a:t>awal</a:t>
          </a:r>
          <a:endParaRPr lang="en-ID" sz="1400" dirty="0"/>
        </a:p>
      </dgm:t>
    </dgm:pt>
    <dgm:pt modelId="{28C4C1C0-301B-4140-9CC1-63C48C55655D}">
      <dgm:prSet phldrT="[Text]" custT="1"/>
      <dgm:spPr>
        <a:solidFill>
          <a:srgbClr val="003399"/>
        </a:solidFill>
      </dgm:spPr>
      <dgm:t>
        <a:bodyPr/>
        <a:lstStyle/>
        <a:p>
          <a:r>
            <a:rPr lang="en-US" sz="1400" dirty="0" err="1"/>
            <a:t>maks</a:t>
          </a:r>
          <a:r>
            <a:rPr lang="en-US" sz="1400" dirty="0"/>
            <a:t> </a:t>
          </a:r>
          <a:r>
            <a:rPr lang="en-US" sz="1400" dirty="0" err="1"/>
            <a:t>kumulatif</a:t>
          </a:r>
          <a:r>
            <a:rPr lang="en-US" sz="1400" dirty="0"/>
            <a:t> </a:t>
          </a:r>
          <a:r>
            <a:rPr lang="en-US" sz="1400" dirty="0" err="1"/>
            <a:t>transaksi</a:t>
          </a:r>
          <a:endParaRPr lang="en-US" sz="1400" dirty="0"/>
        </a:p>
        <a:p>
          <a:r>
            <a:rPr lang="en-US" sz="1400" dirty="0" err="1"/>
            <a:t>Debet</a:t>
          </a:r>
          <a:r>
            <a:rPr lang="en-US" sz="1400" dirty="0"/>
            <a:t> </a:t>
          </a:r>
          <a:r>
            <a:rPr lang="en-US" sz="1400" dirty="0" err="1"/>
            <a:t>rekening</a:t>
          </a:r>
          <a:r>
            <a:rPr lang="en-US" sz="1400" dirty="0"/>
            <a:t> Rp5 </a:t>
          </a:r>
          <a:r>
            <a:rPr lang="en-US" sz="1400" dirty="0" err="1"/>
            <a:t>jt</a:t>
          </a:r>
          <a:r>
            <a:rPr lang="en-US" sz="1400" dirty="0"/>
            <a:t>/</a:t>
          </a:r>
          <a:r>
            <a:rPr lang="en-US" sz="1400" dirty="0" err="1"/>
            <a:t>bln</a:t>
          </a:r>
          <a:r>
            <a:rPr lang="en-US" sz="1400" dirty="0"/>
            <a:t> </a:t>
          </a:r>
          <a:endParaRPr lang="en-ID" sz="1400" dirty="0"/>
        </a:p>
      </dgm:t>
    </dgm:pt>
    <dgm:pt modelId="{FD180A4E-0276-4BE5-BCAE-69E8D857A5F8}" type="parTrans" cxnId="{99F0A0A1-BD47-4A67-A462-C111471BC5B0}">
      <dgm:prSet/>
      <dgm:spPr/>
      <dgm:t>
        <a:bodyPr/>
        <a:lstStyle/>
        <a:p>
          <a:endParaRPr lang="en-ID"/>
        </a:p>
      </dgm:t>
    </dgm:pt>
    <dgm:pt modelId="{D249DAA2-F9DC-4DA5-84CE-3BA2ABB38DC6}" type="sibTrans" cxnId="{99F0A0A1-BD47-4A67-A462-C111471BC5B0}">
      <dgm:prSet custT="1"/>
      <dgm:spPr>
        <a:solidFill>
          <a:srgbClr val="003399"/>
        </a:solidFill>
      </dgm:spPr>
      <dgm:t>
        <a:bodyPr/>
        <a:lstStyle/>
        <a:p>
          <a:r>
            <a:rPr lang="en-US" sz="1400" dirty="0" err="1"/>
            <a:t>maks</a:t>
          </a:r>
          <a:r>
            <a:rPr lang="en-US" sz="1400" dirty="0"/>
            <a:t> </a:t>
          </a:r>
          <a:r>
            <a:rPr lang="en-US" sz="1400" dirty="0" err="1"/>
            <a:t>saldo</a:t>
          </a:r>
          <a:r>
            <a:rPr lang="en-US" sz="1400" dirty="0"/>
            <a:t> </a:t>
          </a:r>
          <a:r>
            <a:rPr lang="en-US" sz="1400" dirty="0" err="1"/>
            <a:t>rekening</a:t>
          </a:r>
          <a:r>
            <a:rPr lang="en-US" sz="1400" dirty="0"/>
            <a:t> </a:t>
          </a:r>
          <a:r>
            <a:rPr lang="en-US" sz="1400" dirty="0" err="1"/>
            <a:t>ditetapkan</a:t>
          </a:r>
          <a:r>
            <a:rPr lang="en-US" sz="1400" dirty="0"/>
            <a:t> paling </a:t>
          </a:r>
          <a:r>
            <a:rPr lang="en-US" sz="1400" dirty="0" err="1"/>
            <a:t>banyak</a:t>
          </a:r>
          <a:r>
            <a:rPr lang="en-US" sz="1400" dirty="0"/>
            <a:t> </a:t>
          </a:r>
        </a:p>
        <a:p>
          <a:r>
            <a:rPr lang="en-US" sz="1400" dirty="0"/>
            <a:t>Rp20 </a:t>
          </a:r>
          <a:r>
            <a:rPr lang="en-US" sz="1400" dirty="0" err="1"/>
            <a:t>juta</a:t>
          </a:r>
          <a:endParaRPr lang="en-ID" sz="1400" dirty="0"/>
        </a:p>
      </dgm:t>
    </dgm:pt>
    <dgm:pt modelId="{83EDA7D0-C813-42C2-9C03-3C6A105B6EF4}" type="pres">
      <dgm:prSet presAssocID="{F4FF6450-2B22-4BD1-B8FF-5370958FF9AC}" presName="Name0" presStyleCnt="0">
        <dgm:presLayoutVars>
          <dgm:chMax/>
          <dgm:chPref/>
          <dgm:dir/>
          <dgm:animLvl val="lvl"/>
        </dgm:presLayoutVars>
      </dgm:prSet>
      <dgm:spPr/>
    </dgm:pt>
    <dgm:pt modelId="{FC6FB779-8BCE-4EFF-AF6A-6179EACBE13D}" type="pres">
      <dgm:prSet presAssocID="{525A082B-7232-4970-BD35-CEA91EA2FC80}" presName="composite" presStyleCnt="0"/>
      <dgm:spPr/>
    </dgm:pt>
    <dgm:pt modelId="{231E799A-3CFC-419D-8AE3-5B81D46B0A8F}" type="pres">
      <dgm:prSet presAssocID="{525A082B-7232-4970-BD35-CEA91EA2FC80}" presName="Parent1" presStyleLbl="node1" presStyleIdx="0" presStyleCnt="6" custScaleX="130559">
        <dgm:presLayoutVars>
          <dgm:chMax val="1"/>
          <dgm:chPref val="1"/>
          <dgm:bulletEnabled val="1"/>
        </dgm:presLayoutVars>
      </dgm:prSet>
      <dgm:spPr/>
    </dgm:pt>
    <dgm:pt modelId="{9A40577F-5285-45BF-812F-25E2C2D71D1C}" type="pres">
      <dgm:prSet presAssocID="{525A082B-7232-4970-BD35-CEA91EA2FC80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6797046D-0200-476B-A6E8-CAA4B70E9066}" type="pres">
      <dgm:prSet presAssocID="{525A082B-7232-4970-BD35-CEA91EA2FC80}" presName="BalanceSpacing" presStyleCnt="0"/>
      <dgm:spPr/>
    </dgm:pt>
    <dgm:pt modelId="{F3383030-9C1A-4370-BD0E-B00AB3D9AE35}" type="pres">
      <dgm:prSet presAssocID="{525A082B-7232-4970-BD35-CEA91EA2FC80}" presName="BalanceSpacing1" presStyleCnt="0"/>
      <dgm:spPr/>
    </dgm:pt>
    <dgm:pt modelId="{B18CA236-0FAC-4787-85CD-6E8680EBF066}" type="pres">
      <dgm:prSet presAssocID="{B84F21D4-F475-4F0D-B7BE-88D90FDD1835}" presName="Accent1Text" presStyleLbl="node1" presStyleIdx="1" presStyleCnt="6" custScaleX="128655" custScaleY="90041" custLinFactNeighborX="-30811" custLinFactNeighborY="797"/>
      <dgm:spPr/>
    </dgm:pt>
    <dgm:pt modelId="{B8E21C7B-E3D3-46BA-9214-DD28AB6E7D8E}" type="pres">
      <dgm:prSet presAssocID="{B84F21D4-F475-4F0D-B7BE-88D90FDD1835}" presName="spaceBetweenRectangles" presStyleCnt="0"/>
      <dgm:spPr/>
    </dgm:pt>
    <dgm:pt modelId="{A37CAD2A-4CB4-457A-B474-E423764F0979}" type="pres">
      <dgm:prSet presAssocID="{C9F9F7AA-4A9F-44D7-9AAE-4624D2069CAB}" presName="composite" presStyleCnt="0"/>
      <dgm:spPr/>
    </dgm:pt>
    <dgm:pt modelId="{47B95B52-E855-438A-9A69-162D424D4D5B}" type="pres">
      <dgm:prSet presAssocID="{C9F9F7AA-4A9F-44D7-9AAE-4624D2069CAB}" presName="Parent1" presStyleLbl="node1" presStyleIdx="2" presStyleCnt="6" custScaleX="118737" custLinFactNeighborX="-21379" custLinFactNeighborY="-9440">
        <dgm:presLayoutVars>
          <dgm:chMax val="1"/>
          <dgm:chPref val="1"/>
          <dgm:bulletEnabled val="1"/>
        </dgm:presLayoutVars>
      </dgm:prSet>
      <dgm:spPr/>
    </dgm:pt>
    <dgm:pt modelId="{D654BA97-DE4E-49C5-86D6-7890ACDA37B7}" type="pres">
      <dgm:prSet presAssocID="{C9F9F7AA-4A9F-44D7-9AAE-4624D2069CAB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E2A6F425-C413-4B7C-B458-ED6A1A3AAAA5}" type="pres">
      <dgm:prSet presAssocID="{C9F9F7AA-4A9F-44D7-9AAE-4624D2069CAB}" presName="BalanceSpacing" presStyleCnt="0"/>
      <dgm:spPr/>
    </dgm:pt>
    <dgm:pt modelId="{1DCE1EC8-C97B-46F3-83A4-D0884F7EC518}" type="pres">
      <dgm:prSet presAssocID="{C9F9F7AA-4A9F-44D7-9AAE-4624D2069CAB}" presName="BalanceSpacing1" presStyleCnt="0"/>
      <dgm:spPr/>
    </dgm:pt>
    <dgm:pt modelId="{39F0E4A1-2D52-408A-916D-AC1B47B065AD}" type="pres">
      <dgm:prSet presAssocID="{B407791B-CFCA-431A-B1E3-A31A50308EEC}" presName="Accent1Text" presStyleLbl="node1" presStyleIdx="3" presStyleCnt="6" custScaleX="110945" custLinFactNeighborX="26936" custLinFactNeighborY="-9761"/>
      <dgm:spPr/>
    </dgm:pt>
    <dgm:pt modelId="{8234691C-84B4-4B12-B4B6-4BCC4E21BCA5}" type="pres">
      <dgm:prSet presAssocID="{B407791B-CFCA-431A-B1E3-A31A50308EEC}" presName="spaceBetweenRectangles" presStyleCnt="0"/>
      <dgm:spPr/>
    </dgm:pt>
    <dgm:pt modelId="{A9E4E58B-4537-477B-9C68-4A675F2C1408}" type="pres">
      <dgm:prSet presAssocID="{28C4C1C0-301B-4140-9CC1-63C48C55655D}" presName="composite" presStyleCnt="0"/>
      <dgm:spPr/>
    </dgm:pt>
    <dgm:pt modelId="{90F82E70-3CFF-4A3A-87B4-17D606FA4C81}" type="pres">
      <dgm:prSet presAssocID="{28C4C1C0-301B-4140-9CC1-63C48C55655D}" presName="Parent1" presStyleLbl="node1" presStyleIdx="4" presStyleCnt="6" custScaleX="146936" custScaleY="134242" custLinFactNeighborX="10041" custLinFactNeighborY="-17479">
        <dgm:presLayoutVars>
          <dgm:chMax val="1"/>
          <dgm:chPref val="1"/>
          <dgm:bulletEnabled val="1"/>
        </dgm:presLayoutVars>
      </dgm:prSet>
      <dgm:spPr/>
    </dgm:pt>
    <dgm:pt modelId="{576840AC-69BA-4905-A96F-E82E3858C44F}" type="pres">
      <dgm:prSet presAssocID="{28C4C1C0-301B-4140-9CC1-63C48C55655D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F6A56DEE-BB02-4D39-9F65-6FE61BB46BF0}" type="pres">
      <dgm:prSet presAssocID="{28C4C1C0-301B-4140-9CC1-63C48C55655D}" presName="BalanceSpacing" presStyleCnt="0"/>
      <dgm:spPr/>
    </dgm:pt>
    <dgm:pt modelId="{85A07E41-D40B-4F40-8FE7-CD326CF3C15B}" type="pres">
      <dgm:prSet presAssocID="{28C4C1C0-301B-4140-9CC1-63C48C55655D}" presName="BalanceSpacing1" presStyleCnt="0"/>
      <dgm:spPr/>
    </dgm:pt>
    <dgm:pt modelId="{92E19F02-33AD-4498-B25D-E2D6B560F2ED}" type="pres">
      <dgm:prSet presAssocID="{D249DAA2-F9DC-4DA5-84CE-3BA2ABB38DC6}" presName="Accent1Text" presStyleLbl="node1" presStyleIdx="5" presStyleCnt="6" custScaleX="138353" custScaleY="131284" custLinFactNeighborX="-37190" custLinFactNeighborY="-14289"/>
      <dgm:spPr/>
    </dgm:pt>
  </dgm:ptLst>
  <dgm:cxnLst>
    <dgm:cxn modelId="{F9E0D05C-E951-4B0A-81BD-39E98E1028F8}" srcId="{F4FF6450-2B22-4BD1-B8FF-5370958FF9AC}" destId="{525A082B-7232-4970-BD35-CEA91EA2FC80}" srcOrd="0" destOrd="0" parTransId="{8D87634D-28BC-493C-89DD-73378070B414}" sibTransId="{B84F21D4-F475-4F0D-B7BE-88D90FDD1835}"/>
    <dgm:cxn modelId="{0ACDCC41-E056-4B3B-810A-36B8E20F991B}" type="presOf" srcId="{F4FF6450-2B22-4BD1-B8FF-5370958FF9AC}" destId="{83EDA7D0-C813-42C2-9C03-3C6A105B6EF4}" srcOrd="0" destOrd="0" presId="urn:microsoft.com/office/officeart/2008/layout/AlternatingHexagons"/>
    <dgm:cxn modelId="{2A51F092-11D0-4503-9B22-C3B7EE45B48E}" type="presOf" srcId="{B84F21D4-F475-4F0D-B7BE-88D90FDD1835}" destId="{B18CA236-0FAC-4787-85CD-6E8680EBF066}" srcOrd="0" destOrd="0" presId="urn:microsoft.com/office/officeart/2008/layout/AlternatingHexagons"/>
    <dgm:cxn modelId="{37D28F98-98C3-49DA-ABCF-2AB52B1934B8}" type="presOf" srcId="{D249DAA2-F9DC-4DA5-84CE-3BA2ABB38DC6}" destId="{92E19F02-33AD-4498-B25D-E2D6B560F2ED}" srcOrd="0" destOrd="0" presId="urn:microsoft.com/office/officeart/2008/layout/AlternatingHexagons"/>
    <dgm:cxn modelId="{91AD369C-83A5-49EE-9855-8215A99D9297}" type="presOf" srcId="{28C4C1C0-301B-4140-9CC1-63C48C55655D}" destId="{90F82E70-3CFF-4A3A-87B4-17D606FA4C81}" srcOrd="0" destOrd="0" presId="urn:microsoft.com/office/officeart/2008/layout/AlternatingHexagons"/>
    <dgm:cxn modelId="{B29C919D-26AF-45A7-917E-D14C51E4559A}" type="presOf" srcId="{525A082B-7232-4970-BD35-CEA91EA2FC80}" destId="{231E799A-3CFC-419D-8AE3-5B81D46B0A8F}" srcOrd="0" destOrd="0" presId="urn:microsoft.com/office/officeart/2008/layout/AlternatingHexagons"/>
    <dgm:cxn modelId="{99F0A0A1-BD47-4A67-A462-C111471BC5B0}" srcId="{F4FF6450-2B22-4BD1-B8FF-5370958FF9AC}" destId="{28C4C1C0-301B-4140-9CC1-63C48C55655D}" srcOrd="2" destOrd="0" parTransId="{FD180A4E-0276-4BE5-BCAE-69E8D857A5F8}" sibTransId="{D249DAA2-F9DC-4DA5-84CE-3BA2ABB38DC6}"/>
    <dgm:cxn modelId="{C535D4C1-5D8C-42A0-BAA7-0E17DD0ABF73}" type="presOf" srcId="{C9F9F7AA-4A9F-44D7-9AAE-4624D2069CAB}" destId="{47B95B52-E855-438A-9A69-162D424D4D5B}" srcOrd="0" destOrd="0" presId="urn:microsoft.com/office/officeart/2008/layout/AlternatingHexagons"/>
    <dgm:cxn modelId="{BABA44C8-42F0-41F1-A5D0-5FB4D4E5DEE4}" srcId="{F4FF6450-2B22-4BD1-B8FF-5370958FF9AC}" destId="{C9F9F7AA-4A9F-44D7-9AAE-4624D2069CAB}" srcOrd="1" destOrd="0" parTransId="{D11AE4E5-54C5-459C-AD03-96F63B74C106}" sibTransId="{B407791B-CFCA-431A-B1E3-A31A50308EEC}"/>
    <dgm:cxn modelId="{CE25F7C8-9A54-417D-A4F3-CBF762E25DA1}" type="presOf" srcId="{B407791B-CFCA-431A-B1E3-A31A50308EEC}" destId="{39F0E4A1-2D52-408A-916D-AC1B47B065AD}" srcOrd="0" destOrd="0" presId="urn:microsoft.com/office/officeart/2008/layout/AlternatingHexagons"/>
    <dgm:cxn modelId="{9218E688-EC84-44A5-B43B-382CFE73D455}" type="presParOf" srcId="{83EDA7D0-C813-42C2-9C03-3C6A105B6EF4}" destId="{FC6FB779-8BCE-4EFF-AF6A-6179EACBE13D}" srcOrd="0" destOrd="0" presId="urn:microsoft.com/office/officeart/2008/layout/AlternatingHexagons"/>
    <dgm:cxn modelId="{847B6DC3-792E-4FBF-A127-03CCF3CC4E2A}" type="presParOf" srcId="{FC6FB779-8BCE-4EFF-AF6A-6179EACBE13D}" destId="{231E799A-3CFC-419D-8AE3-5B81D46B0A8F}" srcOrd="0" destOrd="0" presId="urn:microsoft.com/office/officeart/2008/layout/AlternatingHexagons"/>
    <dgm:cxn modelId="{B263542D-27CE-43E4-928D-EF9ABF18E27D}" type="presParOf" srcId="{FC6FB779-8BCE-4EFF-AF6A-6179EACBE13D}" destId="{9A40577F-5285-45BF-812F-25E2C2D71D1C}" srcOrd="1" destOrd="0" presId="urn:microsoft.com/office/officeart/2008/layout/AlternatingHexagons"/>
    <dgm:cxn modelId="{F5B7B5AD-3B93-4331-8CF8-0970723EEF10}" type="presParOf" srcId="{FC6FB779-8BCE-4EFF-AF6A-6179EACBE13D}" destId="{6797046D-0200-476B-A6E8-CAA4B70E9066}" srcOrd="2" destOrd="0" presId="urn:microsoft.com/office/officeart/2008/layout/AlternatingHexagons"/>
    <dgm:cxn modelId="{5C228E97-0E85-48AB-9AFC-3A5E39B5E590}" type="presParOf" srcId="{FC6FB779-8BCE-4EFF-AF6A-6179EACBE13D}" destId="{F3383030-9C1A-4370-BD0E-B00AB3D9AE35}" srcOrd="3" destOrd="0" presId="urn:microsoft.com/office/officeart/2008/layout/AlternatingHexagons"/>
    <dgm:cxn modelId="{9EF9422F-09F8-4D24-A5C9-FED48EE740BC}" type="presParOf" srcId="{FC6FB779-8BCE-4EFF-AF6A-6179EACBE13D}" destId="{B18CA236-0FAC-4787-85CD-6E8680EBF066}" srcOrd="4" destOrd="0" presId="urn:microsoft.com/office/officeart/2008/layout/AlternatingHexagons"/>
    <dgm:cxn modelId="{9953B696-3E6C-46D1-AE2E-EE4384AA5D7B}" type="presParOf" srcId="{83EDA7D0-C813-42C2-9C03-3C6A105B6EF4}" destId="{B8E21C7B-E3D3-46BA-9214-DD28AB6E7D8E}" srcOrd="1" destOrd="0" presId="urn:microsoft.com/office/officeart/2008/layout/AlternatingHexagons"/>
    <dgm:cxn modelId="{CBABF0C0-8A45-4AC8-92B0-16F4819F7D87}" type="presParOf" srcId="{83EDA7D0-C813-42C2-9C03-3C6A105B6EF4}" destId="{A37CAD2A-4CB4-457A-B474-E423764F0979}" srcOrd="2" destOrd="0" presId="urn:microsoft.com/office/officeart/2008/layout/AlternatingHexagons"/>
    <dgm:cxn modelId="{BA0C0F7B-496E-46E2-A17B-D3DAB245AF1D}" type="presParOf" srcId="{A37CAD2A-4CB4-457A-B474-E423764F0979}" destId="{47B95B52-E855-438A-9A69-162D424D4D5B}" srcOrd="0" destOrd="0" presId="urn:microsoft.com/office/officeart/2008/layout/AlternatingHexagons"/>
    <dgm:cxn modelId="{901C212B-96F5-43E4-A321-068B947EAF6E}" type="presParOf" srcId="{A37CAD2A-4CB4-457A-B474-E423764F0979}" destId="{D654BA97-DE4E-49C5-86D6-7890ACDA37B7}" srcOrd="1" destOrd="0" presId="urn:microsoft.com/office/officeart/2008/layout/AlternatingHexagons"/>
    <dgm:cxn modelId="{2671DD7A-D57E-4DB1-B48E-A0E3828FCAB0}" type="presParOf" srcId="{A37CAD2A-4CB4-457A-B474-E423764F0979}" destId="{E2A6F425-C413-4B7C-B458-ED6A1A3AAAA5}" srcOrd="2" destOrd="0" presId="urn:microsoft.com/office/officeart/2008/layout/AlternatingHexagons"/>
    <dgm:cxn modelId="{7434A2EA-B6C9-4D28-A048-B542A49C6D2E}" type="presParOf" srcId="{A37CAD2A-4CB4-457A-B474-E423764F0979}" destId="{1DCE1EC8-C97B-46F3-83A4-D0884F7EC518}" srcOrd="3" destOrd="0" presId="urn:microsoft.com/office/officeart/2008/layout/AlternatingHexagons"/>
    <dgm:cxn modelId="{4DB2167E-0AE0-4EC1-8642-3CC8ABC1C34C}" type="presParOf" srcId="{A37CAD2A-4CB4-457A-B474-E423764F0979}" destId="{39F0E4A1-2D52-408A-916D-AC1B47B065AD}" srcOrd="4" destOrd="0" presId="urn:microsoft.com/office/officeart/2008/layout/AlternatingHexagons"/>
    <dgm:cxn modelId="{5A453E41-7DF5-498D-872C-7DC0542863D8}" type="presParOf" srcId="{83EDA7D0-C813-42C2-9C03-3C6A105B6EF4}" destId="{8234691C-84B4-4B12-B4B6-4BCC4E21BCA5}" srcOrd="3" destOrd="0" presId="urn:microsoft.com/office/officeart/2008/layout/AlternatingHexagons"/>
    <dgm:cxn modelId="{DDFCE7EA-59C9-4BE8-9D51-AAB772896219}" type="presParOf" srcId="{83EDA7D0-C813-42C2-9C03-3C6A105B6EF4}" destId="{A9E4E58B-4537-477B-9C68-4A675F2C1408}" srcOrd="4" destOrd="0" presId="urn:microsoft.com/office/officeart/2008/layout/AlternatingHexagons"/>
    <dgm:cxn modelId="{D191BBCD-E30C-412B-A991-511033166881}" type="presParOf" srcId="{A9E4E58B-4537-477B-9C68-4A675F2C1408}" destId="{90F82E70-3CFF-4A3A-87B4-17D606FA4C81}" srcOrd="0" destOrd="0" presId="urn:microsoft.com/office/officeart/2008/layout/AlternatingHexagons"/>
    <dgm:cxn modelId="{25DF947F-6FCF-4482-89F0-2E39BA377F24}" type="presParOf" srcId="{A9E4E58B-4537-477B-9C68-4A675F2C1408}" destId="{576840AC-69BA-4905-A96F-E82E3858C44F}" srcOrd="1" destOrd="0" presId="urn:microsoft.com/office/officeart/2008/layout/AlternatingHexagons"/>
    <dgm:cxn modelId="{E6D74646-CB93-4FDD-B35F-ACA11CBCFB73}" type="presParOf" srcId="{A9E4E58B-4537-477B-9C68-4A675F2C1408}" destId="{F6A56DEE-BB02-4D39-9F65-6FE61BB46BF0}" srcOrd="2" destOrd="0" presId="urn:microsoft.com/office/officeart/2008/layout/AlternatingHexagons"/>
    <dgm:cxn modelId="{2A31CAC7-7000-4AA7-9E51-AE8F38A2D354}" type="presParOf" srcId="{A9E4E58B-4537-477B-9C68-4A675F2C1408}" destId="{85A07E41-D40B-4F40-8FE7-CD326CF3C15B}" srcOrd="3" destOrd="0" presId="urn:microsoft.com/office/officeart/2008/layout/AlternatingHexagons"/>
    <dgm:cxn modelId="{E48ACD59-E52A-4F49-AB81-7D1DA2C36E9F}" type="presParOf" srcId="{A9E4E58B-4537-477B-9C68-4A675F2C1408}" destId="{92E19F02-33AD-4498-B25D-E2D6B560F2ED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6AC76C-B96D-4734-A33E-F7C62BA34B08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D"/>
        </a:p>
      </dgm:t>
    </dgm:pt>
    <dgm:pt modelId="{ED6AFE41-9A88-4AA7-BAA8-2E0616168197}">
      <dgm:prSet/>
      <dgm:spPr/>
      <dgm:t>
        <a:bodyPr/>
        <a:lstStyle/>
        <a:p>
          <a:pPr>
            <a:buFont typeface="Wingdings" panose="05000000000000000000" pitchFamily="2" charset="2"/>
            <a:buChar char=""/>
          </a:pPr>
          <a:r>
            <a:rPr lang="en-US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Laporan</a:t>
          </a:r>
          <a:r>
            <a: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Realisasi</a:t>
          </a:r>
          <a:r>
            <a: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Penyelenggaraan</a:t>
          </a:r>
          <a:r>
            <a: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Laku</a:t>
          </a:r>
          <a:r>
            <a: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Pandai</a:t>
          </a:r>
          <a:endParaRPr lang="en-ID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BF38334E-B183-41D4-AD4E-111512BBCEE9}" type="parTrans" cxnId="{B97CA24F-003E-4173-A78E-7058B40F8228}">
      <dgm:prSet/>
      <dgm:spPr/>
      <dgm:t>
        <a:bodyPr/>
        <a:lstStyle/>
        <a:p>
          <a:endParaRPr lang="en-ID"/>
        </a:p>
      </dgm:t>
    </dgm:pt>
    <dgm:pt modelId="{79A7A5C9-A9E2-4165-B6B4-9196548040D9}" type="sibTrans" cxnId="{B97CA24F-003E-4173-A78E-7058B40F8228}">
      <dgm:prSet/>
      <dgm:spPr/>
      <dgm:t>
        <a:bodyPr/>
        <a:lstStyle/>
        <a:p>
          <a:endParaRPr lang="en-ID"/>
        </a:p>
      </dgm:t>
    </dgm:pt>
    <dgm:pt modelId="{F1CE2CD0-FFF0-47BC-9F13-70626BA3052C}">
      <dgm:prSet/>
      <dgm:spPr/>
      <dgm:t>
        <a:bodyPr/>
        <a:lstStyle/>
        <a:p>
          <a:pPr>
            <a:buFont typeface="Wingdings" panose="05000000000000000000" pitchFamily="2" charset="2"/>
            <a:buChar char=""/>
          </a:pPr>
          <a:r>
            <a:rPr lang="en-US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Laporan Perkembangan Penyelenggaraan Laku Pandai</a:t>
          </a:r>
          <a:endParaRPr lang="en-ID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gm:t>
    </dgm:pt>
    <dgm:pt modelId="{FF487792-E7E7-47D4-9471-91ADD6CFFA61}" type="parTrans" cxnId="{0A124E82-1E92-4C13-8965-4174AE31C9C9}">
      <dgm:prSet/>
      <dgm:spPr/>
      <dgm:t>
        <a:bodyPr/>
        <a:lstStyle/>
        <a:p>
          <a:endParaRPr lang="en-ID"/>
        </a:p>
      </dgm:t>
    </dgm:pt>
    <dgm:pt modelId="{AB934C4F-2A4C-4CA0-AF35-8EAF8893487C}" type="sibTrans" cxnId="{0A124E82-1E92-4C13-8965-4174AE31C9C9}">
      <dgm:prSet/>
      <dgm:spPr/>
      <dgm:t>
        <a:bodyPr/>
        <a:lstStyle/>
        <a:p>
          <a:endParaRPr lang="en-ID"/>
        </a:p>
      </dgm:t>
    </dgm:pt>
    <dgm:pt modelId="{3EA7FD1E-5140-4C09-AEDE-5262295CA034}" type="pres">
      <dgm:prSet presAssocID="{126AC76C-B96D-4734-A33E-F7C62BA34B08}" presName="diagram" presStyleCnt="0">
        <dgm:presLayoutVars>
          <dgm:dir/>
          <dgm:resizeHandles val="exact"/>
        </dgm:presLayoutVars>
      </dgm:prSet>
      <dgm:spPr/>
    </dgm:pt>
    <dgm:pt modelId="{692E9995-F696-483B-A11B-5A7862D02F1B}" type="pres">
      <dgm:prSet presAssocID="{ED6AFE41-9A88-4AA7-BAA8-2E0616168197}" presName="node" presStyleLbl="node1" presStyleIdx="0" presStyleCnt="2">
        <dgm:presLayoutVars>
          <dgm:bulletEnabled val="1"/>
        </dgm:presLayoutVars>
      </dgm:prSet>
      <dgm:spPr/>
    </dgm:pt>
    <dgm:pt modelId="{B5909E4F-2A80-4CDE-8EAE-554AD0DAFB8C}" type="pres">
      <dgm:prSet presAssocID="{79A7A5C9-A9E2-4165-B6B4-9196548040D9}" presName="sibTrans" presStyleCnt="0"/>
      <dgm:spPr/>
    </dgm:pt>
    <dgm:pt modelId="{E2788CCE-F865-402F-89EA-D5893718EBE6}" type="pres">
      <dgm:prSet presAssocID="{F1CE2CD0-FFF0-47BC-9F13-70626BA3052C}" presName="node" presStyleLbl="node1" presStyleIdx="1" presStyleCnt="2">
        <dgm:presLayoutVars>
          <dgm:bulletEnabled val="1"/>
        </dgm:presLayoutVars>
      </dgm:prSet>
      <dgm:spPr/>
    </dgm:pt>
  </dgm:ptLst>
  <dgm:cxnLst>
    <dgm:cxn modelId="{9571640E-3DEB-4BAA-9731-333C81C0D742}" type="presOf" srcId="{F1CE2CD0-FFF0-47BC-9F13-70626BA3052C}" destId="{E2788CCE-F865-402F-89EA-D5893718EBE6}" srcOrd="0" destOrd="0" presId="urn:microsoft.com/office/officeart/2005/8/layout/default"/>
    <dgm:cxn modelId="{02DA5723-490B-4E86-96DB-5E923951254B}" type="presOf" srcId="{ED6AFE41-9A88-4AA7-BAA8-2E0616168197}" destId="{692E9995-F696-483B-A11B-5A7862D02F1B}" srcOrd="0" destOrd="0" presId="urn:microsoft.com/office/officeart/2005/8/layout/default"/>
    <dgm:cxn modelId="{B97CA24F-003E-4173-A78E-7058B40F8228}" srcId="{126AC76C-B96D-4734-A33E-F7C62BA34B08}" destId="{ED6AFE41-9A88-4AA7-BAA8-2E0616168197}" srcOrd="0" destOrd="0" parTransId="{BF38334E-B183-41D4-AD4E-111512BBCEE9}" sibTransId="{79A7A5C9-A9E2-4165-B6B4-9196548040D9}"/>
    <dgm:cxn modelId="{0A124E82-1E92-4C13-8965-4174AE31C9C9}" srcId="{126AC76C-B96D-4734-A33E-F7C62BA34B08}" destId="{F1CE2CD0-FFF0-47BC-9F13-70626BA3052C}" srcOrd="1" destOrd="0" parTransId="{FF487792-E7E7-47D4-9471-91ADD6CFFA61}" sibTransId="{AB934C4F-2A4C-4CA0-AF35-8EAF8893487C}"/>
    <dgm:cxn modelId="{56516A9D-772E-4F50-A0F6-DA440C9C2ACB}" type="presOf" srcId="{126AC76C-B96D-4734-A33E-F7C62BA34B08}" destId="{3EA7FD1E-5140-4C09-AEDE-5262295CA034}" srcOrd="0" destOrd="0" presId="urn:microsoft.com/office/officeart/2005/8/layout/default"/>
    <dgm:cxn modelId="{5A1C8BDB-3448-4907-9805-C8F177325F3D}" type="presParOf" srcId="{3EA7FD1E-5140-4C09-AEDE-5262295CA034}" destId="{692E9995-F696-483B-A11B-5A7862D02F1B}" srcOrd="0" destOrd="0" presId="urn:microsoft.com/office/officeart/2005/8/layout/default"/>
    <dgm:cxn modelId="{51C43343-ADC7-4D27-BBFC-3C169DAACC5C}" type="presParOf" srcId="{3EA7FD1E-5140-4C09-AEDE-5262295CA034}" destId="{B5909E4F-2A80-4CDE-8EAE-554AD0DAFB8C}" srcOrd="1" destOrd="0" presId="urn:microsoft.com/office/officeart/2005/8/layout/default"/>
    <dgm:cxn modelId="{BBB94A29-54D0-4221-BF7E-1824FE4B1EE2}" type="presParOf" srcId="{3EA7FD1E-5140-4C09-AEDE-5262295CA034}" destId="{E2788CCE-F865-402F-89EA-D5893718EBE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2E1FEA-3896-451E-89D4-523930F1484C}">
      <dsp:nvSpPr>
        <dsp:cNvPr id="0" name=""/>
        <dsp:cNvSpPr/>
      </dsp:nvSpPr>
      <dsp:spPr>
        <a:xfrm rot="16200000">
          <a:off x="-1693959" y="1694750"/>
          <a:ext cx="5445600" cy="2056098"/>
        </a:xfrm>
        <a:prstGeom prst="flowChartManualOperation">
          <a:avLst/>
        </a:prstGeom>
        <a:solidFill>
          <a:srgbClr val="FF9933"/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a. </a:t>
          </a:r>
          <a:r>
            <a:rPr lang="en-US" sz="1850" kern="1200" dirty="0" err="1"/>
            <a:t>Transaksi</a:t>
          </a:r>
          <a:r>
            <a:rPr lang="en-US" sz="1850" kern="1200" dirty="0"/>
            <a:t> </a:t>
          </a:r>
          <a:r>
            <a:rPr lang="en-US" sz="1850" kern="1200" dirty="0" err="1"/>
            <a:t>terkait</a:t>
          </a:r>
          <a:r>
            <a:rPr lang="en-US" sz="1850" kern="1200" dirty="0"/>
            <a:t>  </a:t>
          </a:r>
          <a:r>
            <a:rPr lang="en-US" sz="1850" kern="1200" dirty="0" err="1"/>
            <a:t>tabungan</a:t>
          </a:r>
          <a:r>
            <a:rPr lang="en-US" sz="1850" kern="1200" dirty="0"/>
            <a:t> </a:t>
          </a:r>
          <a:r>
            <a:rPr lang="en-US" sz="1850" kern="1200" dirty="0" err="1"/>
            <a:t>dengan</a:t>
          </a:r>
          <a:r>
            <a:rPr lang="en-US" sz="1850" kern="1200" dirty="0"/>
            <a:t> </a:t>
          </a:r>
          <a:r>
            <a:rPr lang="en-US" sz="1850" kern="1200" dirty="0" err="1"/>
            <a:t>karakteristik</a:t>
          </a:r>
          <a:r>
            <a:rPr lang="en-US" sz="1850" kern="1200" dirty="0"/>
            <a:t> BSA.</a:t>
          </a:r>
        </a:p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50" kern="1200" dirty="0" err="1"/>
            <a:t>Contoh</a:t>
          </a:r>
          <a:r>
            <a:rPr lang="en-US" sz="1850" kern="1200" dirty="0"/>
            <a:t>: </a:t>
          </a:r>
          <a:r>
            <a:rPr lang="en-US" sz="1850" kern="1200" dirty="0" err="1"/>
            <a:t>pembukaan</a:t>
          </a:r>
          <a:r>
            <a:rPr lang="en-US" sz="1850" kern="1200" dirty="0"/>
            <a:t> </a:t>
          </a:r>
          <a:r>
            <a:rPr lang="en-US" sz="1850" kern="1200" dirty="0" err="1"/>
            <a:t>rekening</a:t>
          </a:r>
          <a:r>
            <a:rPr lang="en-US" sz="1850" kern="1200" dirty="0"/>
            <a:t>, </a:t>
          </a:r>
          <a:r>
            <a:rPr lang="en-US" sz="1850" kern="1200" dirty="0" err="1"/>
            <a:t>setor</a:t>
          </a:r>
          <a:r>
            <a:rPr lang="en-US" sz="1850" kern="1200" dirty="0"/>
            <a:t> dan Tarik </a:t>
          </a:r>
          <a:r>
            <a:rPr lang="en-US" sz="1850" kern="1200" dirty="0" err="1"/>
            <a:t>tunai</a:t>
          </a:r>
          <a:r>
            <a:rPr lang="en-US" sz="1850" kern="1200" dirty="0"/>
            <a:t> </a:t>
          </a:r>
          <a:r>
            <a:rPr lang="en-US" sz="1850" kern="1200" dirty="0" err="1"/>
            <a:t>tab.BSA</a:t>
          </a:r>
          <a:r>
            <a:rPr lang="en-US" sz="1850" kern="1200" dirty="0"/>
            <a:t>, </a:t>
          </a:r>
          <a:r>
            <a:rPr lang="en-US" sz="1850" kern="1200" dirty="0" err="1"/>
            <a:t>pemindahbukuan</a:t>
          </a:r>
          <a:r>
            <a:rPr lang="en-US" sz="1850" kern="1200" dirty="0"/>
            <a:t>, transfer dana, </a:t>
          </a:r>
          <a:r>
            <a:rPr lang="en-US" sz="1850" kern="1200" dirty="0" err="1"/>
            <a:t>cek</a:t>
          </a:r>
          <a:r>
            <a:rPr lang="en-US" sz="1850" kern="1200" dirty="0"/>
            <a:t> </a:t>
          </a:r>
          <a:r>
            <a:rPr lang="en-US" sz="1850" kern="1200" dirty="0" err="1"/>
            <a:t>saldo</a:t>
          </a:r>
          <a:r>
            <a:rPr lang="en-US" sz="1850" kern="1200" dirty="0"/>
            <a:t> dan </a:t>
          </a:r>
          <a:r>
            <a:rPr lang="en-US" sz="1850" kern="1200" dirty="0" err="1"/>
            <a:t>penutupan</a:t>
          </a:r>
          <a:r>
            <a:rPr lang="en-US" sz="1850" kern="1200" dirty="0"/>
            <a:t> </a:t>
          </a:r>
          <a:r>
            <a:rPr lang="en-US" sz="1850" kern="1200" dirty="0" err="1"/>
            <a:t>rekening</a:t>
          </a:r>
          <a:r>
            <a:rPr lang="en-US" sz="1850" kern="1200" dirty="0"/>
            <a:t> BSA</a:t>
          </a:r>
          <a:endParaRPr lang="en-ID" sz="1850" kern="1200" dirty="0"/>
        </a:p>
      </dsp:txBody>
      <dsp:txXfrm rot="5400000">
        <a:off x="792" y="1089119"/>
        <a:ext cx="2056098" cy="3267360"/>
      </dsp:txXfrm>
    </dsp:sp>
    <dsp:sp modelId="{CCB45925-92B9-4AAF-A117-2810394E44BD}">
      <dsp:nvSpPr>
        <dsp:cNvPr id="0" name=""/>
        <dsp:cNvSpPr/>
      </dsp:nvSpPr>
      <dsp:spPr>
        <a:xfrm rot="16200000">
          <a:off x="516345" y="1694750"/>
          <a:ext cx="5445600" cy="2056098"/>
        </a:xfrm>
        <a:prstGeom prst="flowChartManualOperation">
          <a:avLst/>
        </a:prstGeom>
        <a:solidFill>
          <a:schemeClr val="accent6">
            <a:lumMod val="40000"/>
            <a:lumOff val="6000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0" tIns="0" rIns="127000" bIns="0" numCol="1" spcCol="1270" anchor="ctr" anchorCtr="0">
          <a:noAutofit/>
        </a:bodyPr>
        <a:lstStyle/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b. </a:t>
          </a:r>
          <a:r>
            <a:rPr lang="en-US" sz="1800" kern="1200" dirty="0" err="1"/>
            <a:t>Transaksi</a:t>
          </a:r>
          <a:r>
            <a:rPr lang="en-US" sz="1800" kern="1200" dirty="0"/>
            <a:t> </a:t>
          </a:r>
          <a:r>
            <a:rPr lang="en-US" sz="1800" kern="1200" dirty="0" err="1"/>
            <a:t>terkait</a:t>
          </a:r>
          <a:r>
            <a:rPr lang="en-US" sz="1800" kern="1200" dirty="0"/>
            <a:t> Tabungan </a:t>
          </a:r>
          <a:r>
            <a:rPr lang="en-US" sz="1800" kern="1200" dirty="0" err="1"/>
            <a:t>selain</a:t>
          </a:r>
          <a:r>
            <a:rPr lang="en-US" sz="1800" kern="1200" dirty="0"/>
            <a:t> </a:t>
          </a:r>
          <a:r>
            <a:rPr lang="en-US" sz="1800" kern="1200" dirty="0" err="1"/>
            <a:t>BimaKu</a:t>
          </a:r>
          <a:r>
            <a:rPr lang="en-US" sz="1800" kern="1200" dirty="0"/>
            <a:t> </a:t>
          </a:r>
          <a:r>
            <a:rPr lang="en-US" sz="1800" kern="1200" dirty="0" err="1"/>
            <a:t>Pandai</a:t>
          </a:r>
          <a:r>
            <a:rPr lang="en-US" sz="1800" kern="1200" dirty="0"/>
            <a:t>, </a:t>
          </a:r>
          <a:r>
            <a:rPr lang="en-US" sz="1800" kern="1200" dirty="0" err="1"/>
            <a:t>diantaranya</a:t>
          </a:r>
          <a:r>
            <a:rPr lang="en-US" sz="1800" kern="1200" dirty="0"/>
            <a:t> </a:t>
          </a:r>
          <a:r>
            <a:rPr lang="en-US" sz="1800" kern="1200" dirty="0" err="1"/>
            <a:t>setor</a:t>
          </a:r>
          <a:r>
            <a:rPr lang="en-US" sz="1800" kern="1200" dirty="0"/>
            <a:t> dan Tarik </a:t>
          </a:r>
          <a:r>
            <a:rPr lang="en-US" sz="1800" kern="1200" dirty="0" err="1"/>
            <a:t>tunai</a:t>
          </a:r>
          <a:r>
            <a:rPr lang="en-US" sz="1800" kern="1200" dirty="0"/>
            <a:t>, </a:t>
          </a:r>
          <a:r>
            <a:rPr lang="en-US" sz="1800" kern="1200" dirty="0" err="1"/>
            <a:t>pemindahbukuan</a:t>
          </a:r>
          <a:r>
            <a:rPr lang="en-US" sz="1800" kern="1200" dirty="0"/>
            <a:t> </a:t>
          </a:r>
          <a:r>
            <a:rPr lang="en-US" sz="1800" kern="1200" dirty="0" err="1"/>
            <a:t>antar</a:t>
          </a:r>
          <a:r>
            <a:rPr lang="en-US" sz="1800" kern="1200" dirty="0"/>
            <a:t> bank dan lain bank, </a:t>
          </a:r>
          <a:r>
            <a:rPr lang="en-US" sz="1800" kern="1200" dirty="0" err="1"/>
            <a:t>pembayaran</a:t>
          </a:r>
          <a:r>
            <a:rPr lang="en-US" sz="1800" kern="1200" dirty="0"/>
            <a:t> </a:t>
          </a:r>
          <a:r>
            <a:rPr lang="en-US" sz="1800" kern="1200" dirty="0" err="1"/>
            <a:t>Tagihan</a:t>
          </a:r>
          <a:r>
            <a:rPr lang="en-US" sz="1800" kern="1200" dirty="0"/>
            <a:t>.</a:t>
          </a:r>
        </a:p>
        <a:p>
          <a:pPr marL="0" lvl="0" indent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Untuk</a:t>
          </a:r>
          <a:r>
            <a:rPr lang="en-US" sz="1800" kern="1200" dirty="0"/>
            <a:t> transfer dana </a:t>
          </a:r>
          <a:r>
            <a:rPr lang="en-US" sz="1800" kern="1200" dirty="0" err="1"/>
            <a:t>maks</a:t>
          </a:r>
          <a:r>
            <a:rPr lang="en-US" sz="1800" kern="1200" dirty="0"/>
            <a:t> Rp5 </a:t>
          </a:r>
          <a:r>
            <a:rPr lang="en-US" sz="1800" kern="1200" dirty="0" err="1"/>
            <a:t>jt</a:t>
          </a:r>
          <a:r>
            <a:rPr lang="en-US" sz="1800" kern="1200" dirty="0"/>
            <a:t> per </a:t>
          </a:r>
          <a:r>
            <a:rPr lang="en-US" sz="1800" kern="1200" dirty="0" err="1"/>
            <a:t>har</a:t>
          </a:r>
          <a:r>
            <a:rPr lang="en-US" sz="1600" kern="1200" dirty="0" err="1"/>
            <a:t>i</a:t>
          </a:r>
          <a:r>
            <a:rPr lang="en-US" sz="1600" kern="1200" dirty="0"/>
            <a:t> </a:t>
          </a:r>
          <a:r>
            <a:rPr lang="en-US" sz="2000" kern="1200" dirty="0"/>
            <a:t>per </a:t>
          </a:r>
          <a:r>
            <a:rPr lang="en-US" sz="2000" kern="1200" dirty="0" err="1"/>
            <a:t>nasabah</a:t>
          </a:r>
          <a:endParaRPr lang="en-ID" sz="2000" kern="1200" dirty="0"/>
        </a:p>
      </dsp:txBody>
      <dsp:txXfrm rot="5400000">
        <a:off x="2211096" y="1089119"/>
        <a:ext cx="2056098" cy="3267360"/>
      </dsp:txXfrm>
    </dsp:sp>
    <dsp:sp modelId="{0FE4B6E8-00F8-489C-A13F-7A5BA2846CD1}">
      <dsp:nvSpPr>
        <dsp:cNvPr id="0" name=""/>
        <dsp:cNvSpPr/>
      </dsp:nvSpPr>
      <dsp:spPr>
        <a:xfrm rot="16200000">
          <a:off x="2727442" y="1694750"/>
          <a:ext cx="5445600" cy="2056098"/>
        </a:xfrm>
        <a:prstGeom prst="flowChartManualOperation">
          <a:avLst/>
        </a:prstGeom>
        <a:solidFill>
          <a:schemeClr val="accent2">
            <a:lumMod val="60000"/>
            <a:lumOff val="4000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0" tIns="0" rIns="101600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</a:t>
          </a:r>
          <a:r>
            <a:rPr lang="en-US" sz="1800" kern="1200" dirty="0"/>
            <a:t>. </a:t>
          </a:r>
          <a:r>
            <a:rPr lang="en-US" sz="2000" kern="1200" dirty="0" err="1"/>
            <a:t>Sebagai</a:t>
          </a:r>
          <a:r>
            <a:rPr lang="en-US" sz="2000" kern="1200" dirty="0"/>
            <a:t> referral </a:t>
          </a:r>
          <a:r>
            <a:rPr lang="en-US" sz="2000" kern="1200" dirty="0" err="1"/>
            <a:t>untuk</a:t>
          </a:r>
          <a:r>
            <a:rPr lang="en-US" sz="2000" kern="1200" dirty="0"/>
            <a:t> </a:t>
          </a:r>
          <a:r>
            <a:rPr lang="en-US" sz="2000" kern="1200" dirty="0" err="1"/>
            <a:t>memasarkan</a:t>
          </a:r>
          <a:r>
            <a:rPr lang="en-US" sz="2000" kern="1200" dirty="0"/>
            <a:t> </a:t>
          </a:r>
          <a:r>
            <a:rPr lang="en-US" sz="2000" kern="1200" dirty="0" err="1"/>
            <a:t>kredit</a:t>
          </a:r>
          <a:endParaRPr lang="en-US" sz="2000" kern="1200" dirty="0"/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D" sz="1800" kern="1200" dirty="0"/>
            <a:t>d. 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transaksi</a:t>
          </a:r>
          <a:r>
            <a:rPr lang="en-US" sz="2000" b="0" kern="1200" spc="-5" dirty="0">
              <a:latin typeface="Tw Cen MT" pitchFamily="34" charset="0"/>
              <a:cs typeface="Calibri"/>
            </a:rPr>
            <a:t> 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terkait</a:t>
          </a:r>
          <a:r>
            <a:rPr lang="en-US" sz="2000" b="0" kern="1200" spc="-5" dirty="0">
              <a:latin typeface="Tw Cen MT" pitchFamily="34" charset="0"/>
              <a:cs typeface="Calibri"/>
            </a:rPr>
            <a:t> </a:t>
          </a:r>
          <a:r>
            <a:rPr lang="en-US" sz="2000" b="0" kern="1200" dirty="0">
              <a:latin typeface="Tw Cen MT" pitchFamily="34" charset="0"/>
              <a:cs typeface="Calibri"/>
            </a:rPr>
            <a:t> 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layanan</a:t>
          </a:r>
          <a:r>
            <a:rPr lang="en-US" sz="2000" b="0" kern="1200" spc="-35" dirty="0">
              <a:latin typeface="Tw Cen MT" pitchFamily="34" charset="0"/>
              <a:cs typeface="Calibri"/>
            </a:rPr>
            <a:t> 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atau</a:t>
          </a:r>
          <a:r>
            <a:rPr lang="en-US" sz="2000" b="0" kern="1200" spc="-30" dirty="0">
              <a:latin typeface="Tw Cen MT" pitchFamily="34" charset="0"/>
              <a:cs typeface="Calibri"/>
            </a:rPr>
            <a:t> 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jasa</a:t>
          </a:r>
          <a:r>
            <a:rPr lang="en-US" sz="2000" b="0" kern="1200" spc="-5" dirty="0">
              <a:latin typeface="Tw Cen MT" pitchFamily="34" charset="0"/>
              <a:cs typeface="Calibri"/>
            </a:rPr>
            <a:t> </a:t>
          </a:r>
          <a:r>
            <a:rPr lang="en-US" sz="2000" b="0" kern="1200" spc="-145" dirty="0">
              <a:latin typeface="Tw Cen MT" pitchFamily="34" charset="0"/>
              <a:cs typeface="Calibri"/>
            </a:rPr>
            <a:t> 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keuangan</a:t>
          </a:r>
          <a:r>
            <a:rPr lang="en-US" sz="2000" b="0" kern="1200" spc="-5" dirty="0">
              <a:latin typeface="Tw Cen MT" pitchFamily="34" charset="0"/>
              <a:cs typeface="Calibri"/>
            </a:rPr>
            <a:t> lain </a:t>
          </a:r>
          <a:r>
            <a:rPr lang="en-US" sz="2000" b="0" kern="1200" dirty="0">
              <a:latin typeface="Tw Cen MT" pitchFamily="34" charset="0"/>
              <a:cs typeface="Calibri"/>
            </a:rPr>
            <a:t> 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s</a:t>
          </a:r>
          <a:r>
            <a:rPr lang="en-US" sz="2000" b="0" kern="1200" spc="-10" dirty="0" err="1">
              <a:latin typeface="Tw Cen MT" pitchFamily="34" charset="0"/>
              <a:cs typeface="Calibri"/>
            </a:rPr>
            <a:t>e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s</a:t>
          </a:r>
          <a:r>
            <a:rPr lang="en-US" sz="2000" b="0" kern="1200" spc="-10" dirty="0" err="1">
              <a:latin typeface="Tw Cen MT" pitchFamily="34" charset="0"/>
              <a:cs typeface="Calibri"/>
            </a:rPr>
            <a:t>u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ai</a:t>
          </a:r>
          <a:r>
            <a:rPr lang="en-US" sz="2000" b="0" kern="1200" spc="-5" dirty="0">
              <a:latin typeface="Tw Cen MT" pitchFamily="34" charset="0"/>
              <a:cs typeface="Calibri"/>
            </a:rPr>
            <a:t> 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ke</a:t>
          </a:r>
          <a:r>
            <a:rPr lang="en-US" sz="2000" b="0" kern="1200" spc="-10" dirty="0" err="1">
              <a:latin typeface="Tw Cen MT" pitchFamily="34" charset="0"/>
              <a:cs typeface="Calibri"/>
            </a:rPr>
            <a:t>te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n</a:t>
          </a:r>
          <a:r>
            <a:rPr lang="en-US" sz="2000" b="0" kern="1200" spc="-10" dirty="0" err="1">
              <a:latin typeface="Tw Cen MT" pitchFamily="34" charset="0"/>
              <a:cs typeface="Calibri"/>
            </a:rPr>
            <a:t>t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uan</a:t>
          </a:r>
          <a:r>
            <a:rPr lang="en-US" sz="2000" b="0" kern="1200" spc="-5" dirty="0">
              <a:latin typeface="Tw Cen MT" pitchFamily="34" charset="0"/>
              <a:cs typeface="Calibri"/>
            </a:rPr>
            <a:t>  yang</a:t>
          </a:r>
          <a:r>
            <a:rPr lang="en-US" sz="2000" b="0" kern="1200" spc="-10" dirty="0">
              <a:latin typeface="Tw Cen MT" pitchFamily="34" charset="0"/>
              <a:cs typeface="Calibri"/>
            </a:rPr>
            <a:t> </a:t>
          </a:r>
          <a:r>
            <a:rPr lang="en-US" sz="2000" b="0" kern="1200" spc="-5" dirty="0" err="1">
              <a:latin typeface="Tw Cen MT" pitchFamily="34" charset="0"/>
              <a:cs typeface="Calibri"/>
            </a:rPr>
            <a:t>berlaku</a:t>
          </a:r>
          <a:endParaRPr lang="en-ID" sz="2000" b="0" kern="1200" dirty="0">
            <a:latin typeface="Tw Cen MT" pitchFamily="34" charset="0"/>
          </a:endParaRPr>
        </a:p>
      </dsp:txBody>
      <dsp:txXfrm rot="5400000">
        <a:off x="4422193" y="1089119"/>
        <a:ext cx="2056098" cy="32673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5B69C7-DA6F-4D19-AD2B-7239D99D9BB5}">
      <dsp:nvSpPr>
        <dsp:cNvPr id="0" name=""/>
        <dsp:cNvSpPr/>
      </dsp:nvSpPr>
      <dsp:spPr>
        <a:xfrm>
          <a:off x="21003" y="18572"/>
          <a:ext cx="2629148" cy="157748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kern="1200" dirty="0"/>
            <a:t>a. </a:t>
          </a:r>
          <a:r>
            <a:rPr lang="id-ID" sz="2400" kern="1200" dirty="0"/>
            <a:t>Tata cara pemberian layanan BimaKu Pandai</a:t>
          </a:r>
          <a:r>
            <a:rPr lang="en-ID" sz="2400" kern="1200" dirty="0"/>
            <a:t>;</a:t>
          </a:r>
        </a:p>
      </dsp:txBody>
      <dsp:txXfrm>
        <a:off x="21003" y="18572"/>
        <a:ext cx="2629148" cy="1577488"/>
      </dsp:txXfrm>
    </dsp:sp>
    <dsp:sp modelId="{CFA5BD98-1575-408D-8089-40CBE6351657}">
      <dsp:nvSpPr>
        <dsp:cNvPr id="0" name=""/>
        <dsp:cNvSpPr/>
      </dsp:nvSpPr>
      <dsp:spPr>
        <a:xfrm>
          <a:off x="2979794" y="2150"/>
          <a:ext cx="2629148" cy="1577488"/>
        </a:xfrm>
        <a:prstGeom prst="rect">
          <a:avLst/>
        </a:prstGeom>
        <a:solidFill>
          <a:schemeClr val="accent5">
            <a:hueOff val="1398892"/>
            <a:satOff val="-500"/>
            <a:lumOff val="80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b.</a:t>
          </a:r>
          <a:r>
            <a:rPr lang="id-ID" sz="2100" kern="1200" dirty="0"/>
            <a:t>Tata cara penggunaan </a:t>
          </a:r>
          <a:r>
            <a:rPr lang="id-ID" sz="2100" i="1" kern="1200" dirty="0"/>
            <a:t>electronic device</a:t>
          </a:r>
          <a:r>
            <a:rPr lang="id-ID" sz="2100" kern="1200" dirty="0"/>
            <a:t> </a:t>
          </a:r>
          <a:r>
            <a:rPr lang="en-US" sz="2100" kern="1200" dirty="0" err="1"/>
            <a:t>untuk</a:t>
          </a:r>
          <a:r>
            <a:rPr lang="en-US" sz="2100" kern="1200" dirty="0"/>
            <a:t> </a:t>
          </a:r>
          <a:r>
            <a:rPr lang="id-ID" sz="2100" kern="1200" dirty="0"/>
            <a:t>layanan nasabah BimaKu Pandai</a:t>
          </a:r>
          <a:endParaRPr lang="en-ID" sz="2100" kern="1200" dirty="0"/>
        </a:p>
      </dsp:txBody>
      <dsp:txXfrm>
        <a:off x="2979794" y="2150"/>
        <a:ext cx="2629148" cy="1577488"/>
      </dsp:txXfrm>
    </dsp:sp>
    <dsp:sp modelId="{E6800648-C2E5-4C8C-9410-D96E12A47A1C}">
      <dsp:nvSpPr>
        <dsp:cNvPr id="0" name=""/>
        <dsp:cNvSpPr/>
      </dsp:nvSpPr>
      <dsp:spPr>
        <a:xfrm>
          <a:off x="5871857" y="2150"/>
          <a:ext cx="2629148" cy="1577488"/>
        </a:xfrm>
        <a:prstGeom prst="rect">
          <a:avLst/>
        </a:prstGeom>
        <a:solidFill>
          <a:schemeClr val="accent5">
            <a:hueOff val="2797784"/>
            <a:satOff val="-999"/>
            <a:lumOff val="160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8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c. </a:t>
          </a:r>
          <a:r>
            <a:rPr lang="id-ID" sz="18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Tata cara penggunaan </a:t>
          </a:r>
          <a:r>
            <a:rPr lang="id-ID" sz="1800" i="1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electronic device</a:t>
          </a:r>
          <a:r>
            <a:rPr lang="id-ID" sz="18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dan/atau </a:t>
          </a:r>
          <a:r>
            <a:rPr lang="id-ID" sz="1800" i="1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instrument</a:t>
          </a:r>
          <a:r>
            <a:rPr lang="id-ID" sz="18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yang akan digunakan nasabah untuk melakukan transaksi keuangan</a:t>
          </a:r>
          <a:r>
            <a:rPr lang="en-ID" sz="18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</a:p>
      </dsp:txBody>
      <dsp:txXfrm>
        <a:off x="5871857" y="2150"/>
        <a:ext cx="2629148" cy="1577488"/>
      </dsp:txXfrm>
    </dsp:sp>
    <dsp:sp modelId="{2674A84A-1A22-47A2-B547-E70B2D12BAD4}">
      <dsp:nvSpPr>
        <dsp:cNvPr id="0" name=""/>
        <dsp:cNvSpPr/>
      </dsp:nvSpPr>
      <dsp:spPr>
        <a:xfrm>
          <a:off x="8763920" y="2150"/>
          <a:ext cx="2629148" cy="1577488"/>
        </a:xfrm>
        <a:prstGeom prst="rect">
          <a:avLst/>
        </a:prstGeom>
        <a:solidFill>
          <a:schemeClr val="accent5">
            <a:hueOff val="4196676"/>
            <a:satOff val="-1499"/>
            <a:lumOff val="240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d.</a:t>
          </a:r>
          <a:r>
            <a:rPr lang="id-ID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Pengamanan dan kerahasiaan data nasabah</a:t>
          </a:r>
          <a:r>
            <a:rPr lang="en-ID" sz="17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</a:p>
      </dsp:txBody>
      <dsp:txXfrm>
        <a:off x="8763920" y="2150"/>
        <a:ext cx="2629148" cy="1577488"/>
      </dsp:txXfrm>
    </dsp:sp>
    <dsp:sp modelId="{5452DFCE-7ACF-4697-8036-7D1065C7DE55}">
      <dsp:nvSpPr>
        <dsp:cNvPr id="0" name=""/>
        <dsp:cNvSpPr/>
      </dsp:nvSpPr>
      <dsp:spPr>
        <a:xfrm>
          <a:off x="87731" y="1842554"/>
          <a:ext cx="2629148" cy="1577488"/>
        </a:xfrm>
        <a:prstGeom prst="rect">
          <a:avLst/>
        </a:prstGeom>
        <a:solidFill>
          <a:schemeClr val="accent5">
            <a:hueOff val="5595568"/>
            <a:satOff val="-1999"/>
            <a:lumOff val="320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e. </a:t>
          </a:r>
          <a:r>
            <a:rPr lang="id-ID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Penanganan permasalahan terkait penggunaan </a:t>
          </a:r>
          <a:r>
            <a:rPr lang="id-ID" sz="2400" i="1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electronic</a:t>
          </a:r>
          <a:r>
            <a:rPr lang="id-ID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id-ID" sz="2400" i="1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device</a:t>
          </a:r>
          <a:r>
            <a:rPr lang="en-ID" sz="2400" i="1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  <a:endParaRPr lang="en-ID" sz="2400" kern="12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87731" y="1842554"/>
        <a:ext cx="2629148" cy="1577488"/>
      </dsp:txXfrm>
    </dsp:sp>
    <dsp:sp modelId="{86F1CD36-0C21-462D-925B-856E16942537}">
      <dsp:nvSpPr>
        <dsp:cNvPr id="0" name=""/>
        <dsp:cNvSpPr/>
      </dsp:nvSpPr>
      <dsp:spPr>
        <a:xfrm>
          <a:off x="2979794" y="1842554"/>
          <a:ext cx="2629148" cy="1577488"/>
        </a:xfrm>
        <a:prstGeom prst="rect">
          <a:avLst/>
        </a:prstGeom>
        <a:solidFill>
          <a:schemeClr val="accent5">
            <a:hueOff val="6994460"/>
            <a:satOff val="-2498"/>
            <a:lumOff val="401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f. </a:t>
          </a:r>
          <a:r>
            <a:rPr lang="id-ID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Penanganan pengaduan layanan BimaKu Pandai</a:t>
          </a:r>
          <a:r>
            <a:rPr lang="en-ID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</a:p>
      </dsp:txBody>
      <dsp:txXfrm>
        <a:off x="2979794" y="1842554"/>
        <a:ext cx="2629148" cy="1577488"/>
      </dsp:txXfrm>
    </dsp:sp>
    <dsp:sp modelId="{CF531509-0B25-4778-AE87-FD4CCECB2C9E}">
      <dsp:nvSpPr>
        <dsp:cNvPr id="0" name=""/>
        <dsp:cNvSpPr/>
      </dsp:nvSpPr>
      <dsp:spPr>
        <a:xfrm>
          <a:off x="5871857" y="1842554"/>
          <a:ext cx="2629148" cy="1577488"/>
        </a:xfrm>
        <a:prstGeom prst="rect">
          <a:avLst/>
        </a:prstGeom>
        <a:solidFill>
          <a:schemeClr val="accent5">
            <a:hueOff val="8393352"/>
            <a:satOff val="-2998"/>
            <a:lumOff val="481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g. </a:t>
          </a:r>
          <a:r>
            <a:rPr lang="id-ID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Pengelolaan likuiditas Agen Duta</a:t>
          </a:r>
          <a:r>
            <a:rPr lang="en-ID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</a:p>
      </dsp:txBody>
      <dsp:txXfrm>
        <a:off x="5871857" y="1842554"/>
        <a:ext cx="2629148" cy="1577488"/>
      </dsp:txXfrm>
    </dsp:sp>
    <dsp:sp modelId="{B75BA6E8-184B-4D07-9A80-BF6FD57B436F}">
      <dsp:nvSpPr>
        <dsp:cNvPr id="0" name=""/>
        <dsp:cNvSpPr/>
      </dsp:nvSpPr>
      <dsp:spPr>
        <a:xfrm>
          <a:off x="8763920" y="1842554"/>
          <a:ext cx="2629148" cy="1577488"/>
        </a:xfrm>
        <a:prstGeom prst="rect">
          <a:avLst/>
        </a:prstGeom>
        <a:solidFill>
          <a:schemeClr val="accent5">
            <a:hueOff val="9792243"/>
            <a:satOff val="-3497"/>
            <a:lumOff val="561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h. </a:t>
          </a:r>
          <a:r>
            <a:rPr lang="id-ID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Pengenalan produk jasa keuangan</a:t>
          </a:r>
          <a:r>
            <a:rPr lang="en-US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(dana &amp; </a:t>
          </a:r>
          <a:r>
            <a:rPr lang="en-US" sz="24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Kredit</a:t>
          </a:r>
          <a:r>
            <a:rPr lang="en-US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)</a:t>
          </a:r>
          <a:endParaRPr lang="en-ID" sz="2400" kern="12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8763920" y="1842554"/>
        <a:ext cx="2629148" cy="1577488"/>
      </dsp:txXfrm>
    </dsp:sp>
    <dsp:sp modelId="{E427CE33-2672-4044-86A8-603F4A10B5B3}">
      <dsp:nvSpPr>
        <dsp:cNvPr id="0" name=""/>
        <dsp:cNvSpPr/>
      </dsp:nvSpPr>
      <dsp:spPr>
        <a:xfrm>
          <a:off x="87731" y="3682958"/>
          <a:ext cx="2629148" cy="1577488"/>
        </a:xfrm>
        <a:prstGeom prst="rect">
          <a:avLst/>
        </a:prstGeom>
        <a:solidFill>
          <a:schemeClr val="accent5">
            <a:hueOff val="11191136"/>
            <a:satOff val="-3997"/>
            <a:lumOff val="641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i. </a:t>
          </a:r>
          <a:r>
            <a:rPr lang="id-ID" sz="24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Cara pengenalan keaslian uang;</a:t>
          </a:r>
          <a:endParaRPr lang="en-ID" sz="2400" kern="12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87731" y="3682958"/>
        <a:ext cx="2629148" cy="1577488"/>
      </dsp:txXfrm>
    </dsp:sp>
    <dsp:sp modelId="{A48974DD-F39F-49B1-BB10-E83EB6118252}">
      <dsp:nvSpPr>
        <dsp:cNvPr id="0" name=""/>
        <dsp:cNvSpPr/>
      </dsp:nvSpPr>
      <dsp:spPr>
        <a:xfrm>
          <a:off x="2979794" y="3682958"/>
          <a:ext cx="2629148" cy="1577488"/>
        </a:xfrm>
        <a:prstGeom prst="rect">
          <a:avLst/>
        </a:prstGeom>
        <a:solidFill>
          <a:schemeClr val="accent5">
            <a:hueOff val="12590028"/>
            <a:satOff val="-4497"/>
            <a:lumOff val="722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j. Cara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untuk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memasarkan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produk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Bank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Jateng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baik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dana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ataupun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kredit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  <a:endParaRPr lang="en-ID" sz="2200" kern="12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2979794" y="3682958"/>
        <a:ext cx="2629148" cy="1577488"/>
      </dsp:txXfrm>
    </dsp:sp>
    <dsp:sp modelId="{84BF8547-0F61-469A-9290-06AE9B951DD0}">
      <dsp:nvSpPr>
        <dsp:cNvPr id="0" name=""/>
        <dsp:cNvSpPr/>
      </dsp:nvSpPr>
      <dsp:spPr>
        <a:xfrm>
          <a:off x="5871857" y="3682958"/>
          <a:ext cx="2629148" cy="1577488"/>
        </a:xfrm>
        <a:prstGeom prst="rect">
          <a:avLst/>
        </a:prstGeom>
        <a:solidFill>
          <a:schemeClr val="accent5">
            <a:hueOff val="13988920"/>
            <a:satOff val="-4996"/>
            <a:lumOff val="802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k.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Penerapan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program anti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pencucian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uang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dan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pencegahan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pendanaan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22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terorisme</a:t>
          </a:r>
          <a:r>
            <a:rPr lang="en-US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;</a:t>
          </a:r>
          <a:r>
            <a:rPr lang="id-ID" sz="22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endParaRPr lang="en-ID" sz="2200" kern="12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5871857" y="3682958"/>
        <a:ext cx="2629148" cy="1577488"/>
      </dsp:txXfrm>
    </dsp:sp>
    <dsp:sp modelId="{E3F8868D-80D2-4536-9A75-FBCAD0CECD87}">
      <dsp:nvSpPr>
        <dsp:cNvPr id="0" name=""/>
        <dsp:cNvSpPr/>
      </dsp:nvSpPr>
      <dsp:spPr>
        <a:xfrm>
          <a:off x="8763920" y="3682958"/>
          <a:ext cx="2629148" cy="1577488"/>
        </a:xfrm>
        <a:prstGeom prst="rect">
          <a:avLst/>
        </a:prstGeom>
        <a:solidFill>
          <a:schemeClr val="accent5">
            <a:hueOff val="15387812"/>
            <a:satOff val="-5496"/>
            <a:lumOff val="882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5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l. P</a:t>
          </a:r>
          <a:r>
            <a:rPr lang="id-ID" sz="25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enerapan prosedur </a:t>
          </a:r>
          <a:r>
            <a:rPr lang="id-ID" sz="2500" i="1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Customer Due Diligence</a:t>
          </a:r>
          <a:r>
            <a:rPr lang="id-ID" sz="25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(CDD) </a:t>
          </a:r>
          <a:r>
            <a:rPr lang="en-US" sz="25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Sederhana</a:t>
          </a:r>
          <a:endParaRPr lang="en-ID" sz="2500" kern="12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8763920" y="3682958"/>
        <a:ext cx="2629148" cy="15774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B2B20-7E58-4266-A40A-F493752208F1}">
      <dsp:nvSpPr>
        <dsp:cNvPr id="0" name=""/>
        <dsp:cNvSpPr/>
      </dsp:nvSpPr>
      <dsp:spPr>
        <a:xfrm rot="5400000">
          <a:off x="3318723" y="-1377706"/>
          <a:ext cx="469826" cy="334459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Informasi</a:t>
          </a:r>
          <a:r>
            <a:rPr lang="en-US" sz="1200" kern="1200" dirty="0"/>
            <a:t> </a:t>
          </a:r>
          <a:r>
            <a:rPr lang="en-US" sz="1200" kern="1200" dirty="0" err="1"/>
            <a:t>Saldo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Informasi</a:t>
          </a:r>
          <a:r>
            <a:rPr lang="en-US" sz="1200" kern="1200" dirty="0"/>
            <a:t> </a:t>
          </a:r>
          <a:r>
            <a:rPr lang="en-US" sz="1200" kern="1200" dirty="0" err="1"/>
            <a:t>Mutasi</a:t>
          </a:r>
          <a:endParaRPr lang="en-US" sz="1200" kern="1200" dirty="0"/>
        </a:p>
      </dsp:txBody>
      <dsp:txXfrm rot="-5400000">
        <a:off x="1881337" y="82615"/>
        <a:ext cx="3321664" cy="423956"/>
      </dsp:txXfrm>
    </dsp:sp>
    <dsp:sp modelId="{6EF8813A-BB33-41F7-8B3A-F7B532E3DF4F}">
      <dsp:nvSpPr>
        <dsp:cNvPr id="0" name=""/>
        <dsp:cNvSpPr/>
      </dsp:nvSpPr>
      <dsp:spPr>
        <a:xfrm>
          <a:off x="0" y="951"/>
          <a:ext cx="1881336" cy="5872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Informasi</a:t>
          </a:r>
          <a:endParaRPr lang="en-US" sz="2300" kern="1200" dirty="0"/>
        </a:p>
      </dsp:txBody>
      <dsp:txXfrm>
        <a:off x="28669" y="29620"/>
        <a:ext cx="1823998" cy="529945"/>
      </dsp:txXfrm>
    </dsp:sp>
    <dsp:sp modelId="{911D5946-B7AD-4D33-AD49-C0C90F55D6FB}">
      <dsp:nvSpPr>
        <dsp:cNvPr id="0" name=""/>
        <dsp:cNvSpPr/>
      </dsp:nvSpPr>
      <dsp:spPr>
        <a:xfrm rot="5400000">
          <a:off x="3318723" y="-761059"/>
          <a:ext cx="469826" cy="334459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Tambah</a:t>
          </a:r>
          <a:r>
            <a:rPr lang="en-US" sz="1200" kern="1200" dirty="0"/>
            <a:t> </a:t>
          </a:r>
          <a:r>
            <a:rPr lang="en-US" sz="1200" kern="1200" dirty="0" err="1"/>
            <a:t>Rek</a:t>
          </a:r>
          <a:r>
            <a:rPr lang="en-US" sz="1200" kern="1200" dirty="0"/>
            <a:t>. </a:t>
          </a:r>
          <a:r>
            <a:rPr lang="en-US" sz="1200" kern="1200" dirty="0" err="1"/>
            <a:t>Nasabah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Hapus</a:t>
          </a:r>
          <a:r>
            <a:rPr lang="en-US" sz="1200" kern="1200" dirty="0"/>
            <a:t> </a:t>
          </a:r>
          <a:r>
            <a:rPr lang="en-US" sz="1200" kern="1200" dirty="0" err="1"/>
            <a:t>Rek</a:t>
          </a:r>
          <a:r>
            <a:rPr lang="en-US" sz="1200" kern="1200" dirty="0"/>
            <a:t>. </a:t>
          </a:r>
          <a:r>
            <a:rPr lang="en-US" sz="1200" kern="1200" dirty="0" err="1"/>
            <a:t>Nasabah</a:t>
          </a:r>
          <a:endParaRPr lang="en-US" sz="1200" kern="1200" dirty="0"/>
        </a:p>
      </dsp:txBody>
      <dsp:txXfrm rot="-5400000">
        <a:off x="1881337" y="699262"/>
        <a:ext cx="3321664" cy="423956"/>
      </dsp:txXfrm>
    </dsp:sp>
    <dsp:sp modelId="{2AED236C-9E36-408E-83FC-F0C9EB7A10D4}">
      <dsp:nvSpPr>
        <dsp:cNvPr id="0" name=""/>
        <dsp:cNvSpPr/>
      </dsp:nvSpPr>
      <dsp:spPr>
        <a:xfrm>
          <a:off x="0" y="617598"/>
          <a:ext cx="1881336" cy="5872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Pendaftaran</a:t>
          </a:r>
          <a:endParaRPr lang="en-US" sz="2300" kern="1200" dirty="0"/>
        </a:p>
      </dsp:txBody>
      <dsp:txXfrm>
        <a:off x="28669" y="646267"/>
        <a:ext cx="1823998" cy="529945"/>
      </dsp:txXfrm>
    </dsp:sp>
    <dsp:sp modelId="{5EFF718B-46B4-410D-9C75-54681AB13473}">
      <dsp:nvSpPr>
        <dsp:cNvPr id="0" name=""/>
        <dsp:cNvSpPr/>
      </dsp:nvSpPr>
      <dsp:spPr>
        <a:xfrm rot="5400000">
          <a:off x="3318723" y="-149781"/>
          <a:ext cx="469826" cy="334459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Setoran</a:t>
          </a:r>
          <a:r>
            <a:rPr lang="en-US" sz="1200" kern="1200" dirty="0"/>
            <a:t> </a:t>
          </a:r>
          <a:r>
            <a:rPr lang="en-US" sz="1200" kern="1200" dirty="0" err="1"/>
            <a:t>Tunai</a:t>
          </a:r>
          <a:r>
            <a:rPr lang="en-US" sz="1200" kern="1200" dirty="0"/>
            <a:t>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Tarikan</a:t>
          </a:r>
          <a:r>
            <a:rPr lang="en-US" sz="1200" kern="1200" dirty="0"/>
            <a:t> </a:t>
          </a:r>
          <a:r>
            <a:rPr lang="en-US" sz="1200" kern="1200" dirty="0" err="1"/>
            <a:t>Tunai</a:t>
          </a:r>
          <a:endParaRPr lang="en-US" sz="1200" kern="1200" dirty="0"/>
        </a:p>
      </dsp:txBody>
      <dsp:txXfrm rot="-5400000">
        <a:off x="1881337" y="1310540"/>
        <a:ext cx="3321664" cy="423956"/>
      </dsp:txXfrm>
    </dsp:sp>
    <dsp:sp modelId="{EE820946-AE96-4621-B9D4-9679601736DA}">
      <dsp:nvSpPr>
        <dsp:cNvPr id="0" name=""/>
        <dsp:cNvSpPr/>
      </dsp:nvSpPr>
      <dsp:spPr>
        <a:xfrm>
          <a:off x="0" y="1234246"/>
          <a:ext cx="1881336" cy="5872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Tunai</a:t>
          </a:r>
          <a:endParaRPr lang="en-US" sz="2300" kern="1200" dirty="0"/>
        </a:p>
      </dsp:txBody>
      <dsp:txXfrm>
        <a:off x="28669" y="1262915"/>
        <a:ext cx="1823998" cy="529945"/>
      </dsp:txXfrm>
    </dsp:sp>
    <dsp:sp modelId="{743178C9-046A-45C0-A44C-3C1E9A80ED08}">
      <dsp:nvSpPr>
        <dsp:cNvPr id="0" name=""/>
        <dsp:cNvSpPr/>
      </dsp:nvSpPr>
      <dsp:spPr>
        <a:xfrm rot="5400000">
          <a:off x="3318723" y="472235"/>
          <a:ext cx="469826" cy="334459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Transfer Bank </a:t>
          </a:r>
          <a:r>
            <a:rPr lang="en-US" sz="1200" kern="1200" dirty="0" err="1"/>
            <a:t>Jateng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Transfer Bank lain</a:t>
          </a:r>
        </a:p>
      </dsp:txBody>
      <dsp:txXfrm rot="-5400000">
        <a:off x="1881337" y="1932557"/>
        <a:ext cx="3321664" cy="423956"/>
      </dsp:txXfrm>
    </dsp:sp>
    <dsp:sp modelId="{2CC49B46-A734-438B-AA01-EE19FBD0E8B5}">
      <dsp:nvSpPr>
        <dsp:cNvPr id="0" name=""/>
        <dsp:cNvSpPr/>
      </dsp:nvSpPr>
      <dsp:spPr>
        <a:xfrm>
          <a:off x="0" y="1850893"/>
          <a:ext cx="1881336" cy="5872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Transfer</a:t>
          </a:r>
        </a:p>
      </dsp:txBody>
      <dsp:txXfrm>
        <a:off x="28669" y="1879562"/>
        <a:ext cx="1823998" cy="529945"/>
      </dsp:txXfrm>
    </dsp:sp>
    <dsp:sp modelId="{B35096A7-417B-4A96-9D1C-4D8AFB68EFB7}">
      <dsp:nvSpPr>
        <dsp:cNvPr id="0" name=""/>
        <dsp:cNvSpPr/>
      </dsp:nvSpPr>
      <dsp:spPr>
        <a:xfrm rot="5400000">
          <a:off x="3318723" y="1088883"/>
          <a:ext cx="469826" cy="334459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Voucher </a:t>
          </a:r>
          <a:r>
            <a:rPr lang="en-US" sz="1200" kern="1200" dirty="0" err="1"/>
            <a:t>Hp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Token </a:t>
          </a:r>
          <a:r>
            <a:rPr lang="en-US" sz="1200" kern="1200" dirty="0" err="1"/>
            <a:t>Listrik</a:t>
          </a:r>
          <a:endParaRPr lang="en-US" sz="1200" kern="1200" dirty="0"/>
        </a:p>
      </dsp:txBody>
      <dsp:txXfrm rot="-5400000">
        <a:off x="1881337" y="2549205"/>
        <a:ext cx="3321664" cy="423956"/>
      </dsp:txXfrm>
    </dsp:sp>
    <dsp:sp modelId="{91DDA115-CDA9-43DA-86F9-F81BB6E82B8B}">
      <dsp:nvSpPr>
        <dsp:cNvPr id="0" name=""/>
        <dsp:cNvSpPr/>
      </dsp:nvSpPr>
      <dsp:spPr>
        <a:xfrm>
          <a:off x="0" y="2467541"/>
          <a:ext cx="1881336" cy="5872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Pembelian</a:t>
          </a:r>
          <a:endParaRPr lang="en-US" sz="2300" kern="1200" dirty="0"/>
        </a:p>
      </dsp:txBody>
      <dsp:txXfrm>
        <a:off x="28669" y="2496210"/>
        <a:ext cx="1823998" cy="529945"/>
      </dsp:txXfrm>
    </dsp:sp>
    <dsp:sp modelId="{2C826937-929E-4D48-A419-015876D8E7A5}">
      <dsp:nvSpPr>
        <dsp:cNvPr id="0" name=""/>
        <dsp:cNvSpPr/>
      </dsp:nvSpPr>
      <dsp:spPr>
        <a:xfrm rot="5400000">
          <a:off x="3269841" y="1729289"/>
          <a:ext cx="601194" cy="3310993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Pendidikan      PBB             Listrik PLN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PDAM	            </a:t>
          </a:r>
          <a:r>
            <a:rPr lang="en-US" sz="1200" kern="1200" dirty="0" err="1"/>
            <a:t>Pajak</a:t>
          </a:r>
          <a:r>
            <a:rPr lang="en-US" sz="1200" kern="1200" dirty="0"/>
            <a:t>          BPJS </a:t>
          </a:r>
          <a:r>
            <a:rPr lang="en-US" sz="1200" kern="1200" dirty="0" err="1"/>
            <a:t>Kesehatan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Rumash</a:t>
          </a:r>
          <a:r>
            <a:rPr lang="en-US" sz="1200" kern="1200" dirty="0"/>
            <a:t> </a:t>
          </a:r>
          <a:r>
            <a:rPr lang="en-US" sz="1200" kern="1200" dirty="0" err="1"/>
            <a:t>Sakit</a:t>
          </a:r>
          <a:r>
            <a:rPr lang="en-US" sz="1200" kern="1200" dirty="0"/>
            <a:t>   Top Up VA   Multipayment</a:t>
          </a:r>
        </a:p>
      </dsp:txBody>
      <dsp:txXfrm rot="-5400000">
        <a:off x="1914942" y="3113536"/>
        <a:ext cx="3281645" cy="542498"/>
      </dsp:txXfrm>
    </dsp:sp>
    <dsp:sp modelId="{7D900009-5E25-4A7C-BB9A-E20E990BBEF2}">
      <dsp:nvSpPr>
        <dsp:cNvPr id="0" name=""/>
        <dsp:cNvSpPr/>
      </dsp:nvSpPr>
      <dsp:spPr>
        <a:xfrm>
          <a:off x="0" y="3091144"/>
          <a:ext cx="1879499" cy="5872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Pembayaran</a:t>
          </a:r>
          <a:endParaRPr lang="en-US" sz="2300" kern="1200" dirty="0"/>
        </a:p>
      </dsp:txBody>
      <dsp:txXfrm>
        <a:off x="28669" y="3119813"/>
        <a:ext cx="1822161" cy="529945"/>
      </dsp:txXfrm>
    </dsp:sp>
    <dsp:sp modelId="{9FB46DE3-609D-466D-A1E1-C4EBB5737FA0}">
      <dsp:nvSpPr>
        <dsp:cNvPr id="0" name=""/>
        <dsp:cNvSpPr/>
      </dsp:nvSpPr>
      <dsp:spPr>
        <a:xfrm rot="5400000">
          <a:off x="3318723" y="2336089"/>
          <a:ext cx="469826" cy="334459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Registrasi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Nasabah</a:t>
          </a:r>
          <a:r>
            <a:rPr lang="en-US" sz="1200" kern="1200" dirty="0"/>
            <a:t> </a:t>
          </a:r>
          <a:r>
            <a:rPr lang="en-US" sz="1200" kern="1200" dirty="0" err="1"/>
            <a:t>Agen</a:t>
          </a:r>
          <a:endParaRPr lang="en-US" sz="1200" kern="1200" dirty="0"/>
        </a:p>
      </dsp:txBody>
      <dsp:txXfrm rot="-5400000">
        <a:off x="1881337" y="3796411"/>
        <a:ext cx="3321664" cy="423956"/>
      </dsp:txXfrm>
    </dsp:sp>
    <dsp:sp modelId="{DC2FEF3A-9034-4CA0-A47B-BA7B0FE4EFD4}">
      <dsp:nvSpPr>
        <dsp:cNvPr id="0" name=""/>
        <dsp:cNvSpPr/>
      </dsp:nvSpPr>
      <dsp:spPr>
        <a:xfrm>
          <a:off x="0" y="3714747"/>
          <a:ext cx="1881336" cy="5872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BSA</a:t>
          </a:r>
        </a:p>
      </dsp:txBody>
      <dsp:txXfrm>
        <a:off x="28669" y="3743416"/>
        <a:ext cx="1823998" cy="529945"/>
      </dsp:txXfrm>
    </dsp:sp>
    <dsp:sp modelId="{A95124D9-7990-4E4B-A823-2AE504527F77}">
      <dsp:nvSpPr>
        <dsp:cNvPr id="0" name=""/>
        <dsp:cNvSpPr/>
      </dsp:nvSpPr>
      <dsp:spPr>
        <a:xfrm rot="5400000">
          <a:off x="3318723" y="2952737"/>
          <a:ext cx="469826" cy="334459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Riwayat</a:t>
          </a:r>
          <a:r>
            <a:rPr lang="en-US" sz="1200" kern="1200" dirty="0"/>
            <a:t> </a:t>
          </a:r>
          <a:r>
            <a:rPr lang="en-US" sz="1200" kern="1200" dirty="0" err="1"/>
            <a:t>Transaksi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Riwayat</a:t>
          </a:r>
          <a:r>
            <a:rPr lang="en-US" sz="1200" kern="1200" dirty="0"/>
            <a:t> </a:t>
          </a:r>
          <a:r>
            <a:rPr lang="en-US" sz="1200" kern="1200" dirty="0" err="1"/>
            <a:t>Transaksi</a:t>
          </a:r>
          <a:r>
            <a:rPr lang="en-US" sz="1200" kern="1200" dirty="0"/>
            <a:t> Hari </a:t>
          </a:r>
          <a:r>
            <a:rPr lang="en-US" sz="1200" kern="1200" dirty="0" err="1"/>
            <a:t>ini</a:t>
          </a:r>
          <a:endParaRPr lang="en-US" sz="1200" kern="1200" dirty="0"/>
        </a:p>
      </dsp:txBody>
      <dsp:txXfrm rot="-5400000">
        <a:off x="1881337" y="4413059"/>
        <a:ext cx="3321664" cy="423956"/>
      </dsp:txXfrm>
    </dsp:sp>
    <dsp:sp modelId="{E03AE1DD-AAE7-4E63-A5C6-60D73C0E33EB}">
      <dsp:nvSpPr>
        <dsp:cNvPr id="0" name=""/>
        <dsp:cNvSpPr/>
      </dsp:nvSpPr>
      <dsp:spPr>
        <a:xfrm>
          <a:off x="0" y="4331395"/>
          <a:ext cx="1881336" cy="5872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Riwayat</a:t>
          </a:r>
          <a:endParaRPr lang="en-US" sz="2300" kern="1200" dirty="0"/>
        </a:p>
      </dsp:txBody>
      <dsp:txXfrm>
        <a:off x="28669" y="4360064"/>
        <a:ext cx="1823998" cy="529945"/>
      </dsp:txXfrm>
    </dsp:sp>
    <dsp:sp modelId="{29E7DFCF-6C0B-4407-BCC6-72B174C49843}">
      <dsp:nvSpPr>
        <dsp:cNvPr id="0" name=""/>
        <dsp:cNvSpPr/>
      </dsp:nvSpPr>
      <dsp:spPr>
        <a:xfrm rot="5400000">
          <a:off x="3318723" y="3569384"/>
          <a:ext cx="469826" cy="334459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Ubah</a:t>
          </a:r>
          <a:r>
            <a:rPr lang="en-US" sz="1200" kern="1200" dirty="0"/>
            <a:t> Password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Ubah</a:t>
          </a:r>
          <a:r>
            <a:rPr lang="en-US" sz="1200" kern="1200" dirty="0"/>
            <a:t> PIN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Logout</a:t>
          </a:r>
        </a:p>
      </dsp:txBody>
      <dsp:txXfrm rot="-5400000">
        <a:off x="1881337" y="5029706"/>
        <a:ext cx="3321664" cy="423956"/>
      </dsp:txXfrm>
    </dsp:sp>
    <dsp:sp modelId="{5BF04ED7-66C0-415A-B381-AC7555ADD86B}">
      <dsp:nvSpPr>
        <dsp:cNvPr id="0" name=""/>
        <dsp:cNvSpPr/>
      </dsp:nvSpPr>
      <dsp:spPr>
        <a:xfrm>
          <a:off x="0" y="4948042"/>
          <a:ext cx="1881336" cy="5872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Utilitas</a:t>
          </a:r>
          <a:endParaRPr lang="en-US" sz="2300" kern="1200" dirty="0"/>
        </a:p>
      </dsp:txBody>
      <dsp:txXfrm>
        <a:off x="28669" y="4976711"/>
        <a:ext cx="1823998" cy="5299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1E799A-3CFC-419D-8AE3-5B81D46B0A8F}">
      <dsp:nvSpPr>
        <dsp:cNvPr id="0" name=""/>
        <dsp:cNvSpPr/>
      </dsp:nvSpPr>
      <dsp:spPr>
        <a:xfrm rot="5400000">
          <a:off x="5817944" y="-80665"/>
          <a:ext cx="1219065" cy="1384691"/>
        </a:xfrm>
        <a:prstGeom prst="hexagon">
          <a:avLst>
            <a:gd name="adj" fmla="val 25000"/>
            <a:gd name="vf" fmla="val 115470"/>
          </a:avLst>
        </a:prstGeom>
        <a:solidFill>
          <a:schemeClr val="accent4"/>
        </a:solidFill>
        <a:ln w="15875" cap="flat" cmpd="sng" algn="ctr">
          <a:solidFill>
            <a:srgbClr val="00B0F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Mendapat</a:t>
          </a:r>
          <a:r>
            <a:rPr lang="en-US" sz="1400" kern="1200" dirty="0"/>
            <a:t> </a:t>
          </a:r>
          <a:r>
            <a:rPr lang="en-US" sz="1400" kern="1200" dirty="0" err="1"/>
            <a:t>bunga</a:t>
          </a:r>
          <a:r>
            <a:rPr lang="en-US" sz="1400" kern="1200" dirty="0"/>
            <a:t> </a:t>
          </a:r>
          <a:r>
            <a:rPr lang="en-US" sz="1400" kern="1200" dirty="0" err="1"/>
            <a:t>dari</a:t>
          </a:r>
          <a:r>
            <a:rPr lang="en-US" sz="1400" kern="1200" dirty="0"/>
            <a:t> </a:t>
          </a:r>
          <a:r>
            <a:rPr lang="en-US" sz="1400" kern="1200" dirty="0" err="1"/>
            <a:t>saldo</a:t>
          </a:r>
          <a:r>
            <a:rPr lang="en-US" sz="1400" kern="1200" dirty="0"/>
            <a:t> </a:t>
          </a:r>
          <a:r>
            <a:rPr lang="en-US" sz="1400" kern="1200" dirty="0" err="1"/>
            <a:t>rekening</a:t>
          </a:r>
          <a:r>
            <a:rPr lang="en-US" sz="1400" kern="1200" dirty="0"/>
            <a:t> Rp1,-</a:t>
          </a:r>
          <a:endParaRPr lang="en-ID" sz="1400" kern="1200" dirty="0"/>
        </a:p>
      </dsp:txBody>
      <dsp:txXfrm rot="-5400000">
        <a:off x="5965914" y="205326"/>
        <a:ext cx="923127" cy="812710"/>
      </dsp:txXfrm>
    </dsp:sp>
    <dsp:sp modelId="{9A40577F-5285-45BF-812F-25E2C2D71D1C}">
      <dsp:nvSpPr>
        <dsp:cNvPr id="0" name=""/>
        <dsp:cNvSpPr/>
      </dsp:nvSpPr>
      <dsp:spPr>
        <a:xfrm>
          <a:off x="6989953" y="245961"/>
          <a:ext cx="1360476" cy="73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8CA236-0FAC-4787-85CD-6E8680EBF066}">
      <dsp:nvSpPr>
        <dsp:cNvPr id="0" name=""/>
        <dsp:cNvSpPr/>
      </dsp:nvSpPr>
      <dsp:spPr>
        <a:xfrm rot="5400000">
          <a:off x="4406436" y="-60852"/>
          <a:ext cx="1097658" cy="1364498"/>
        </a:xfrm>
        <a:prstGeom prst="hexagon">
          <a:avLst>
            <a:gd name="adj" fmla="val 25000"/>
            <a:gd name="vf" fmla="val 115470"/>
          </a:avLst>
        </a:prstGeom>
        <a:solidFill>
          <a:srgbClr val="008080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/>
            <a:t>WNI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 err="1"/>
            <a:t>Perorangan</a:t>
          </a:r>
          <a:endParaRPr lang="en-ID" sz="1400" kern="1200" dirty="0"/>
        </a:p>
      </dsp:txBody>
      <dsp:txXfrm rot="-5400000">
        <a:off x="4500432" y="255511"/>
        <a:ext cx="909666" cy="731772"/>
      </dsp:txXfrm>
    </dsp:sp>
    <dsp:sp modelId="{47B95B52-E855-438A-9A69-162D424D4D5B}">
      <dsp:nvSpPr>
        <dsp:cNvPr id="0" name=""/>
        <dsp:cNvSpPr/>
      </dsp:nvSpPr>
      <dsp:spPr>
        <a:xfrm rot="5400000">
          <a:off x="5016290" y="901689"/>
          <a:ext cx="1219065" cy="1259309"/>
        </a:xfrm>
        <a:prstGeom prst="hexagon">
          <a:avLst>
            <a:gd name="adj" fmla="val 25000"/>
            <a:gd name="vf" fmla="val 1154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Tanpa</a:t>
          </a:r>
          <a:r>
            <a:rPr lang="en-US" sz="1400" kern="1200" dirty="0"/>
            <a:t>  </a:t>
          </a:r>
          <a:r>
            <a:rPr lang="en-US" sz="1400" kern="1200" dirty="0" err="1"/>
            <a:t>batas</a:t>
          </a:r>
          <a:r>
            <a:rPr lang="en-US" sz="1400" kern="1200" dirty="0"/>
            <a:t> min </a:t>
          </a:r>
          <a:r>
            <a:rPr lang="en-US" sz="1400" kern="1200" dirty="0" err="1"/>
            <a:t>saldo</a:t>
          </a:r>
          <a:r>
            <a:rPr lang="en-US" sz="1400" kern="1200" dirty="0"/>
            <a:t> </a:t>
          </a:r>
          <a:r>
            <a:rPr lang="en-US" sz="1400" kern="1200" dirty="0" err="1"/>
            <a:t>rekening</a:t>
          </a:r>
          <a:endParaRPr lang="en-ID" sz="1400" kern="1200" dirty="0"/>
        </a:p>
      </dsp:txBody>
      <dsp:txXfrm rot="-5400000">
        <a:off x="5206054" y="1124989"/>
        <a:ext cx="839539" cy="812710"/>
      </dsp:txXfrm>
    </dsp:sp>
    <dsp:sp modelId="{D654BA97-DE4E-49C5-86D6-7890ACDA37B7}">
      <dsp:nvSpPr>
        <dsp:cNvPr id="0" name=""/>
        <dsp:cNvSpPr/>
      </dsp:nvSpPr>
      <dsp:spPr>
        <a:xfrm>
          <a:off x="3961795" y="1280703"/>
          <a:ext cx="1316590" cy="73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F0E4A1-2D52-408A-916D-AC1B47B065AD}">
      <dsp:nvSpPr>
        <dsp:cNvPr id="0" name=""/>
        <dsp:cNvSpPr/>
      </dsp:nvSpPr>
      <dsp:spPr>
        <a:xfrm rot="5400000">
          <a:off x="6674146" y="939096"/>
          <a:ext cx="1219065" cy="1176668"/>
        </a:xfrm>
        <a:prstGeom prst="hexagon">
          <a:avLst>
            <a:gd name="adj" fmla="val 25000"/>
            <a:gd name="vf" fmla="val 115470"/>
          </a:avLst>
        </a:prstGeom>
        <a:solidFill>
          <a:schemeClr val="accent4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 err="1"/>
            <a:t>Tanpa</a:t>
          </a:r>
          <a:r>
            <a:rPr lang="en-US" sz="1400" kern="1200" dirty="0"/>
            <a:t>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 err="1"/>
            <a:t>batas</a:t>
          </a:r>
          <a:r>
            <a:rPr lang="en-US" sz="1400" kern="1200" dirty="0"/>
            <a:t> min </a:t>
          </a:r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 err="1"/>
            <a:t>Setoran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/>
            <a:t> </a:t>
          </a:r>
          <a:r>
            <a:rPr lang="en-US" sz="1400" kern="1200" dirty="0" err="1"/>
            <a:t>awal</a:t>
          </a:r>
          <a:endParaRPr lang="en-ID" sz="1400" kern="1200" dirty="0"/>
        </a:p>
      </dsp:txBody>
      <dsp:txXfrm rot="-5400000">
        <a:off x="6888045" y="1117542"/>
        <a:ext cx="791266" cy="819777"/>
      </dsp:txXfrm>
    </dsp:sp>
    <dsp:sp modelId="{90F82E70-3CFF-4A3A-87B4-17D606FA4C81}">
      <dsp:nvSpPr>
        <dsp:cNvPr id="0" name=""/>
        <dsp:cNvSpPr/>
      </dsp:nvSpPr>
      <dsp:spPr>
        <a:xfrm rot="5400000">
          <a:off x="5715721" y="1897609"/>
          <a:ext cx="1636497" cy="1558383"/>
        </a:xfrm>
        <a:prstGeom prst="hexagon">
          <a:avLst>
            <a:gd name="adj" fmla="val 25000"/>
            <a:gd name="vf" fmla="val 115470"/>
          </a:avLst>
        </a:prstGeom>
        <a:solidFill>
          <a:srgbClr val="003399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maks</a:t>
          </a:r>
          <a:r>
            <a:rPr lang="en-US" sz="1400" kern="1200" dirty="0"/>
            <a:t> </a:t>
          </a:r>
          <a:r>
            <a:rPr lang="en-US" sz="1400" kern="1200" dirty="0" err="1"/>
            <a:t>kumulatif</a:t>
          </a:r>
          <a:r>
            <a:rPr lang="en-US" sz="1400" kern="1200" dirty="0"/>
            <a:t> </a:t>
          </a:r>
          <a:r>
            <a:rPr lang="en-US" sz="1400" kern="1200" dirty="0" err="1"/>
            <a:t>transaksi</a:t>
          </a:r>
          <a:endParaRPr lang="en-US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Debet</a:t>
          </a:r>
          <a:r>
            <a:rPr lang="en-US" sz="1400" kern="1200" dirty="0"/>
            <a:t> </a:t>
          </a:r>
          <a:r>
            <a:rPr lang="en-US" sz="1400" kern="1200" dirty="0" err="1"/>
            <a:t>rekening</a:t>
          </a:r>
          <a:r>
            <a:rPr lang="en-US" sz="1400" kern="1200" dirty="0"/>
            <a:t> Rp5 </a:t>
          </a:r>
          <a:r>
            <a:rPr lang="en-US" sz="1400" kern="1200" dirty="0" err="1"/>
            <a:t>jt</a:t>
          </a:r>
          <a:r>
            <a:rPr lang="en-US" sz="1400" kern="1200" dirty="0"/>
            <a:t>/</a:t>
          </a:r>
          <a:r>
            <a:rPr lang="en-US" sz="1400" kern="1200" dirty="0" err="1"/>
            <a:t>bln</a:t>
          </a:r>
          <a:r>
            <a:rPr lang="en-US" sz="1400" kern="1200" dirty="0"/>
            <a:t> </a:t>
          </a:r>
          <a:endParaRPr lang="en-ID" sz="1400" kern="1200" dirty="0"/>
        </a:p>
      </dsp:txBody>
      <dsp:txXfrm rot="-5400000">
        <a:off x="6008310" y="2124792"/>
        <a:ext cx="1051319" cy="1104017"/>
      </dsp:txXfrm>
    </dsp:sp>
    <dsp:sp modelId="{576840AC-69BA-4905-A96F-E82E3858C44F}">
      <dsp:nvSpPr>
        <dsp:cNvPr id="0" name=""/>
        <dsp:cNvSpPr/>
      </dsp:nvSpPr>
      <dsp:spPr>
        <a:xfrm>
          <a:off x="6989953" y="2524162"/>
          <a:ext cx="1360476" cy="7314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E19F02-33AD-4498-B25D-E2D6B560F2ED}">
      <dsp:nvSpPr>
        <dsp:cNvPr id="0" name=""/>
        <dsp:cNvSpPr/>
      </dsp:nvSpPr>
      <dsp:spPr>
        <a:xfrm rot="5400000">
          <a:off x="4087392" y="1982013"/>
          <a:ext cx="1600437" cy="1467353"/>
        </a:xfrm>
        <a:prstGeom prst="hexagon">
          <a:avLst>
            <a:gd name="adj" fmla="val 25000"/>
            <a:gd name="vf" fmla="val 115470"/>
          </a:avLst>
        </a:prstGeom>
        <a:solidFill>
          <a:srgbClr val="003399"/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maks</a:t>
          </a:r>
          <a:r>
            <a:rPr lang="en-US" sz="1400" kern="1200" dirty="0"/>
            <a:t> </a:t>
          </a:r>
          <a:r>
            <a:rPr lang="en-US" sz="1400" kern="1200" dirty="0" err="1"/>
            <a:t>saldo</a:t>
          </a:r>
          <a:r>
            <a:rPr lang="en-US" sz="1400" kern="1200" dirty="0"/>
            <a:t> </a:t>
          </a:r>
          <a:r>
            <a:rPr lang="en-US" sz="1400" kern="1200" dirty="0" err="1"/>
            <a:t>rekening</a:t>
          </a:r>
          <a:r>
            <a:rPr lang="en-US" sz="1400" kern="1200" dirty="0"/>
            <a:t> </a:t>
          </a:r>
          <a:r>
            <a:rPr lang="en-US" sz="1400" kern="1200" dirty="0" err="1"/>
            <a:t>ditetapkan</a:t>
          </a:r>
          <a:r>
            <a:rPr lang="en-US" sz="1400" kern="1200" dirty="0"/>
            <a:t> paling </a:t>
          </a:r>
          <a:r>
            <a:rPr lang="en-US" sz="1400" kern="1200" dirty="0" err="1"/>
            <a:t>banyak</a:t>
          </a:r>
          <a:r>
            <a:rPr lang="en-US" sz="1400" kern="1200" dirty="0"/>
            <a:t>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Rp20 </a:t>
          </a:r>
          <a:r>
            <a:rPr lang="en-US" sz="1400" kern="1200" dirty="0" err="1"/>
            <a:t>juta</a:t>
          </a:r>
          <a:endParaRPr lang="en-ID" sz="1400" kern="1200" dirty="0"/>
        </a:p>
      </dsp:txBody>
      <dsp:txXfrm rot="-5400000">
        <a:off x="4388325" y="2171120"/>
        <a:ext cx="998571" cy="10891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2E9995-F696-483B-A11B-5A7862D02F1B}">
      <dsp:nvSpPr>
        <dsp:cNvPr id="0" name=""/>
        <dsp:cNvSpPr/>
      </dsp:nvSpPr>
      <dsp:spPr>
        <a:xfrm>
          <a:off x="1322" y="678920"/>
          <a:ext cx="5157638" cy="309458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51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Laporan</a:t>
          </a:r>
          <a:r>
            <a:rPr lang="en-US" sz="51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51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Realisasi</a:t>
          </a:r>
          <a:r>
            <a:rPr lang="en-US" sz="51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51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Penyelenggaraan</a:t>
          </a:r>
          <a:r>
            <a:rPr lang="en-US" sz="51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51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Laku</a:t>
          </a:r>
          <a:r>
            <a:rPr lang="en-US" sz="5100" kern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 </a:t>
          </a:r>
          <a:r>
            <a:rPr lang="en-US" sz="5100" kern="1200" dirty="0" err="1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Pandai</a:t>
          </a:r>
          <a:endParaRPr lang="en-ID" sz="5100" kern="1200" dirty="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1322" y="678920"/>
        <a:ext cx="5157638" cy="3094583"/>
      </dsp:txXfrm>
    </dsp:sp>
    <dsp:sp modelId="{E2788CCE-F865-402F-89EA-D5893718EBE6}">
      <dsp:nvSpPr>
        <dsp:cNvPr id="0" name=""/>
        <dsp:cNvSpPr/>
      </dsp:nvSpPr>
      <dsp:spPr>
        <a:xfrm>
          <a:off x="5674724" y="678920"/>
          <a:ext cx="5157638" cy="3094583"/>
        </a:xfrm>
        <a:prstGeom prst="rect">
          <a:avLst/>
        </a:prstGeom>
        <a:solidFill>
          <a:schemeClr val="accent5">
            <a:hueOff val="15387812"/>
            <a:satOff val="-5496"/>
            <a:lumOff val="882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ctr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5100" kern="1200">
              <a:effectLst/>
              <a:latin typeface="Times New Roman" panose="02020603050405020304" pitchFamily="18" charset="0"/>
              <a:ea typeface="Times New Roman" panose="02020603050405020304" pitchFamily="18" charset="0"/>
            </a:rPr>
            <a:t>Laporan Perkembangan Penyelenggaraan Laku Pandai</a:t>
          </a:r>
          <a:endParaRPr lang="en-ID" sz="5100" kern="1200">
            <a:effectLst/>
            <a:latin typeface="Times New Roman" panose="02020603050405020304" pitchFamily="18" charset="0"/>
            <a:ea typeface="Times New Roman" panose="02020603050405020304" pitchFamily="18" charset="0"/>
          </a:endParaRPr>
        </a:p>
      </dsp:txBody>
      <dsp:txXfrm>
        <a:off x="5674724" y="678920"/>
        <a:ext cx="5157638" cy="30945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D87E75-DD45-46E4-A4F5-1E9DDBB5AA21}" type="datetimeFigureOut">
              <a:rPr lang="en-ID" smtClean="0"/>
              <a:t>07/09/2022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CA00EE-EB3F-4C67-889D-F2375F1E11D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38666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Penyesuaian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Bank </a:t>
            </a:r>
            <a:r>
              <a:rPr lang="en-US" dirty="0" err="1"/>
              <a:t>Penyelenggara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 </a:t>
            </a:r>
            <a:r>
              <a:rPr lang="en-US" dirty="0" err="1"/>
              <a:t>Laku</a:t>
            </a:r>
            <a:r>
              <a:rPr lang="en-US" dirty="0"/>
              <a:t> </a:t>
            </a:r>
            <a:r>
              <a:rPr lang="en-US" dirty="0" err="1"/>
              <a:t>Pandai</a:t>
            </a:r>
            <a:r>
              <a:rPr lang="en-US" dirty="0"/>
              <a:t> paling lama 3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sejak</a:t>
            </a:r>
            <a:r>
              <a:rPr lang="en-US" dirty="0"/>
              <a:t> </a:t>
            </a:r>
            <a:r>
              <a:rPr lang="en-US" dirty="0" err="1"/>
              <a:t>berlakunya</a:t>
            </a:r>
            <a:r>
              <a:rPr lang="en-US" dirty="0"/>
              <a:t> POJK yang </a:t>
            </a:r>
            <a:r>
              <a:rPr lang="en-US" dirty="0" err="1"/>
              <a:t>terbaru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2022, </a:t>
            </a:r>
            <a:r>
              <a:rPr lang="en-US" dirty="0" err="1"/>
              <a:t>sehingga</a:t>
            </a:r>
            <a:endParaRPr lang="en-US" dirty="0"/>
          </a:p>
          <a:p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segera</a:t>
            </a:r>
            <a:r>
              <a:rPr lang="en-US" dirty="0"/>
              <a:t> </a:t>
            </a:r>
            <a:r>
              <a:rPr lang="en-US" dirty="0" err="1"/>
              <a:t>disesuaiakan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 </a:t>
            </a:r>
            <a:r>
              <a:rPr lang="en-US" dirty="0" err="1"/>
              <a:t>Laku</a:t>
            </a:r>
            <a:r>
              <a:rPr lang="en-US" dirty="0"/>
              <a:t> </a:t>
            </a:r>
            <a:r>
              <a:rPr lang="en-US" dirty="0" err="1"/>
              <a:t>Pandai</a:t>
            </a:r>
            <a:r>
              <a:rPr lang="en-US" dirty="0"/>
              <a:t> Bank </a:t>
            </a:r>
            <a:r>
              <a:rPr lang="en-US" dirty="0" err="1"/>
              <a:t>Jateng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12159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Pembayaran</a:t>
            </a:r>
            <a:r>
              <a:rPr lang="en-ID" dirty="0"/>
              <a:t> : PBB, </a:t>
            </a:r>
            <a:r>
              <a:rPr lang="en-ID" dirty="0" err="1"/>
              <a:t>Listrik</a:t>
            </a:r>
            <a:r>
              <a:rPr lang="en-ID" dirty="0"/>
              <a:t>/PLN,</a:t>
            </a:r>
            <a:r>
              <a:rPr lang="en-ID" baseline="0" dirty="0"/>
              <a:t> </a:t>
            </a:r>
            <a:r>
              <a:rPr lang="en-ID" baseline="0" dirty="0" err="1"/>
              <a:t>Telepon</a:t>
            </a:r>
            <a:r>
              <a:rPr lang="en-ID" baseline="0" dirty="0"/>
              <a:t>, PDAM, </a:t>
            </a:r>
            <a:r>
              <a:rPr lang="en-ID" baseline="0" dirty="0" err="1"/>
              <a:t>Pendidikan</a:t>
            </a:r>
            <a:r>
              <a:rPr lang="en-ID" baseline="0" dirty="0"/>
              <a:t>, BPJS </a:t>
            </a:r>
            <a:r>
              <a:rPr lang="en-ID" baseline="0" dirty="0" err="1"/>
              <a:t>Kesehatan</a:t>
            </a:r>
            <a:r>
              <a:rPr lang="en-ID" baseline="0" dirty="0"/>
              <a:t>, </a:t>
            </a:r>
            <a:r>
              <a:rPr lang="en-ID" baseline="0" dirty="0" err="1"/>
              <a:t>Multipayment</a:t>
            </a:r>
            <a:r>
              <a:rPr lang="en-ID" baseline="0" dirty="0"/>
              <a:t> </a:t>
            </a:r>
            <a:r>
              <a:rPr lang="en-ID" baseline="0" dirty="0" err="1"/>
              <a:t>dll</a:t>
            </a:r>
            <a:endParaRPr lang="en-ID" baseline="0" dirty="0"/>
          </a:p>
          <a:p>
            <a:r>
              <a:rPr lang="en-ID" baseline="0" dirty="0" err="1"/>
              <a:t>Pembelian</a:t>
            </a:r>
            <a:r>
              <a:rPr lang="en-ID" baseline="0" dirty="0"/>
              <a:t> : </a:t>
            </a:r>
            <a:r>
              <a:rPr lang="en-ID" baseline="0" dirty="0" err="1"/>
              <a:t>Pulsa</a:t>
            </a:r>
            <a:r>
              <a:rPr lang="en-ID" baseline="0" dirty="0"/>
              <a:t> HP; Token </a:t>
            </a:r>
            <a:r>
              <a:rPr lang="en-ID" baseline="0" dirty="0" err="1"/>
              <a:t>Listrik</a:t>
            </a:r>
            <a:r>
              <a:rPr lang="en-ID" baseline="0" dirty="0"/>
              <a:t> </a:t>
            </a:r>
          </a:p>
          <a:p>
            <a:r>
              <a:rPr lang="en-ID" baseline="0" dirty="0" err="1"/>
              <a:t>Intinya</a:t>
            </a:r>
            <a:r>
              <a:rPr lang="en-ID" baseline="0" dirty="0"/>
              <a:t> : </a:t>
            </a:r>
            <a:r>
              <a:rPr lang="en-ID" baseline="0" dirty="0" err="1"/>
              <a:t>Laku</a:t>
            </a:r>
            <a:r>
              <a:rPr lang="en-ID" baseline="0" dirty="0"/>
              <a:t> </a:t>
            </a:r>
            <a:r>
              <a:rPr lang="en-ID" baseline="0" dirty="0" err="1"/>
              <a:t>Pandai</a:t>
            </a:r>
            <a:r>
              <a:rPr lang="en-ID" baseline="0" dirty="0"/>
              <a:t> </a:t>
            </a:r>
            <a:r>
              <a:rPr lang="en-ID" baseline="0" dirty="0" err="1"/>
              <a:t>itu</a:t>
            </a:r>
            <a:r>
              <a:rPr lang="en-ID" baseline="0" dirty="0"/>
              <a:t> </a:t>
            </a:r>
            <a:r>
              <a:rPr lang="en-ID" baseline="0" dirty="0" err="1"/>
              <a:t>adalah</a:t>
            </a:r>
            <a:r>
              <a:rPr lang="en-ID" baseline="0" dirty="0"/>
              <a:t> </a:t>
            </a:r>
            <a:r>
              <a:rPr lang="en-ID" baseline="0" dirty="0" err="1"/>
              <a:t>layanan</a:t>
            </a:r>
            <a:r>
              <a:rPr lang="en-ID" baseline="0" dirty="0"/>
              <a:t> yang </a:t>
            </a:r>
            <a:r>
              <a:rPr lang="en-ID" baseline="0" dirty="0" err="1"/>
              <a:t>diberikan</a:t>
            </a:r>
            <a:r>
              <a:rPr lang="en-ID" baseline="0" dirty="0"/>
              <a:t> bank </a:t>
            </a:r>
            <a:r>
              <a:rPr lang="en-ID" baseline="0" dirty="0" err="1"/>
              <a:t>kepada</a:t>
            </a:r>
            <a:r>
              <a:rPr lang="en-ID" baseline="0" dirty="0"/>
              <a:t> </a:t>
            </a:r>
            <a:r>
              <a:rPr lang="en-ID" baseline="0" dirty="0" err="1"/>
              <a:t>masyarakat</a:t>
            </a:r>
            <a:r>
              <a:rPr lang="en-ID" baseline="0" dirty="0"/>
              <a:t> yang </a:t>
            </a:r>
            <a:r>
              <a:rPr lang="en-ID" baseline="0" dirty="0" err="1"/>
              <a:t>belum</a:t>
            </a:r>
            <a:r>
              <a:rPr lang="en-ID" baseline="0" dirty="0"/>
              <a:t> </a:t>
            </a:r>
            <a:r>
              <a:rPr lang="en-ID" baseline="0" dirty="0" err="1"/>
              <a:t>dapat</a:t>
            </a:r>
            <a:r>
              <a:rPr lang="en-ID" baseline="0" dirty="0"/>
              <a:t> </a:t>
            </a:r>
            <a:r>
              <a:rPr lang="en-ID" baseline="0" dirty="0" err="1"/>
              <a:t>terjangkau</a:t>
            </a:r>
            <a:r>
              <a:rPr lang="en-ID" baseline="0" dirty="0"/>
              <a:t> </a:t>
            </a:r>
            <a:r>
              <a:rPr lang="en-ID" baseline="0" dirty="0" err="1"/>
              <a:t>oleh</a:t>
            </a:r>
            <a:r>
              <a:rPr lang="en-ID" baseline="0" dirty="0"/>
              <a:t> Bank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869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PERORANGAN</a:t>
            </a:r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 err="1"/>
              <a:t>Kemampuan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…….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pemahaman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</a:t>
            </a:r>
            <a:r>
              <a:rPr lang="en-US" dirty="0" err="1"/>
              <a:t>kelembagaan</a:t>
            </a:r>
            <a:r>
              <a:rPr lang="en-US" dirty="0"/>
              <a:t> bank, </a:t>
            </a:r>
            <a:r>
              <a:rPr lang="en-US" dirty="0" err="1"/>
              <a:t>produk</a:t>
            </a:r>
            <a:r>
              <a:rPr lang="en-US" dirty="0"/>
              <a:t>/</a:t>
            </a:r>
            <a:r>
              <a:rPr lang="en-US" dirty="0" err="1"/>
              <a:t>jasa</a:t>
            </a:r>
            <a:r>
              <a:rPr lang="en-US" dirty="0"/>
              <a:t> bank,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electronic device </a:t>
            </a:r>
            <a:r>
              <a:rPr lang="en-US" dirty="0" err="1"/>
              <a:t>utk</a:t>
            </a:r>
            <a:r>
              <a:rPr lang="en-US" dirty="0"/>
              <a:t> </a:t>
            </a:r>
            <a:r>
              <a:rPr lang="en-US" dirty="0" err="1"/>
              <a:t>melayani</a:t>
            </a:r>
            <a:r>
              <a:rPr lang="en-US" dirty="0"/>
              <a:t> </a:t>
            </a:r>
            <a:r>
              <a:rPr lang="en-US" dirty="0" err="1"/>
              <a:t>nsbh</a:t>
            </a:r>
            <a:r>
              <a:rPr lang="en-US" dirty="0"/>
              <a:t> &amp;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penggunaannya</a:t>
            </a:r>
            <a:r>
              <a:rPr lang="en-US" dirty="0"/>
              <a:t>,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pembukuan</a:t>
            </a:r>
            <a:r>
              <a:rPr lang="en-US" dirty="0"/>
              <a:t> </a:t>
            </a:r>
            <a:r>
              <a:rPr lang="en-US" dirty="0" err="1"/>
              <a:t>sederhana</a:t>
            </a:r>
            <a:r>
              <a:rPr lang="en-US" dirty="0"/>
              <a:t>/</a:t>
            </a:r>
            <a:r>
              <a:rPr lang="en-US" dirty="0" err="1"/>
              <a:t>debet</a:t>
            </a:r>
            <a:r>
              <a:rPr lang="en-US" dirty="0"/>
              <a:t> </a:t>
            </a:r>
            <a:r>
              <a:rPr lang="en-US" dirty="0" err="1"/>
              <a:t>kredit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perbankan</a:t>
            </a:r>
            <a:r>
              <a:rPr lang="en-US" dirty="0"/>
              <a:t>,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menempatkan</a:t>
            </a:r>
            <a:r>
              <a:rPr lang="en-US" dirty="0"/>
              <a:t> </a:t>
            </a:r>
            <a:r>
              <a:rPr lang="en-US" dirty="0" err="1"/>
              <a:t>sejumlah</a:t>
            </a:r>
            <a:r>
              <a:rPr lang="en-US" dirty="0"/>
              <a:t> deposit </a:t>
            </a:r>
            <a:r>
              <a:rPr lang="en-US" dirty="0" err="1"/>
              <a:t>utk</a:t>
            </a:r>
            <a:r>
              <a:rPr lang="en-US" dirty="0"/>
              <a:t> </a:t>
            </a:r>
            <a:r>
              <a:rPr lang="en-US" dirty="0" err="1"/>
              <a:t>jaminan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 err="1"/>
              <a:t>Reputasi</a:t>
            </a:r>
            <a:r>
              <a:rPr lang="en-US" dirty="0"/>
              <a:t> yang </a:t>
            </a:r>
            <a:r>
              <a:rPr lang="en-US" dirty="0" err="1"/>
              <a:t>baik</a:t>
            </a:r>
            <a:r>
              <a:rPr lang="en-US" dirty="0"/>
              <a:t>……</a:t>
            </a:r>
            <a:r>
              <a:rPr lang="en-US" dirty="0" err="1"/>
              <a:t>masyarakat</a:t>
            </a:r>
            <a:r>
              <a:rPr lang="en-US" dirty="0"/>
              <a:t> </a:t>
            </a:r>
            <a:r>
              <a:rPr lang="en-US" dirty="0" err="1"/>
              <a:t>sekitar</a:t>
            </a:r>
            <a:r>
              <a:rPr lang="en-US" dirty="0"/>
              <a:t> </a:t>
            </a:r>
            <a:r>
              <a:rPr lang="en-US" dirty="0" err="1"/>
              <a:t>mengenal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pribadi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baik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 err="1"/>
              <a:t>Kredibilitas</a:t>
            </a:r>
            <a:r>
              <a:rPr lang="en-US" dirty="0"/>
              <a:t> &amp; </a:t>
            </a:r>
            <a:r>
              <a:rPr lang="en-US" dirty="0" err="1"/>
              <a:t>integritas</a:t>
            </a:r>
            <a:r>
              <a:rPr lang="en-US" dirty="0"/>
              <a:t> yang </a:t>
            </a:r>
            <a:r>
              <a:rPr lang="en-US" dirty="0" err="1"/>
              <a:t>baik</a:t>
            </a:r>
            <a:r>
              <a:rPr lang="en-US" dirty="0"/>
              <a:t>……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rekam</a:t>
            </a:r>
            <a:r>
              <a:rPr lang="en-US" dirty="0"/>
              <a:t> </a:t>
            </a:r>
            <a:r>
              <a:rPr lang="en-US" dirty="0" err="1"/>
              <a:t>jejak</a:t>
            </a:r>
            <a:r>
              <a:rPr lang="en-US" dirty="0"/>
              <a:t> yang </a:t>
            </a:r>
            <a:r>
              <a:rPr lang="en-US" dirty="0" err="1"/>
              <a:t>baik</a:t>
            </a:r>
            <a:r>
              <a:rPr lang="en-US" dirty="0"/>
              <a:t> (</a:t>
            </a:r>
            <a:r>
              <a:rPr lang="en-US" dirty="0" err="1"/>
              <a:t>tdk</a:t>
            </a:r>
            <a:r>
              <a:rPr lang="en-US" dirty="0"/>
              <a:t> </a:t>
            </a:r>
            <a:r>
              <a:rPr lang="en-US" dirty="0" err="1"/>
              <a:t>pernah</a:t>
            </a:r>
            <a:r>
              <a:rPr lang="en-US" dirty="0"/>
              <a:t> </a:t>
            </a:r>
            <a:r>
              <a:rPr lang="en-US" dirty="0" err="1"/>
              <a:t>ingkar</a:t>
            </a:r>
            <a:r>
              <a:rPr lang="en-US" dirty="0"/>
              <a:t> </a:t>
            </a:r>
            <a:r>
              <a:rPr lang="en-US" dirty="0" err="1"/>
              <a:t>memenuhi</a:t>
            </a:r>
            <a:r>
              <a:rPr lang="en-US" dirty="0"/>
              <a:t> </a:t>
            </a:r>
            <a:r>
              <a:rPr lang="en-US" dirty="0" err="1"/>
              <a:t>kewajiban</a:t>
            </a:r>
            <a:r>
              <a:rPr lang="en-US" dirty="0"/>
              <a:t>/</a:t>
            </a:r>
            <a:r>
              <a:rPr lang="en-US" dirty="0" err="1"/>
              <a:t>tdk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kredit</a:t>
            </a:r>
            <a:r>
              <a:rPr lang="en-US" dirty="0"/>
              <a:t> </a:t>
            </a:r>
            <a:r>
              <a:rPr lang="en-US" dirty="0" err="1"/>
              <a:t>macet</a:t>
            </a:r>
            <a:r>
              <a:rPr lang="en-US" dirty="0"/>
              <a:t>, </a:t>
            </a:r>
            <a:r>
              <a:rPr lang="en-US" dirty="0" err="1"/>
              <a:t>tdk</a:t>
            </a:r>
            <a:r>
              <a:rPr lang="en-US" dirty="0"/>
              <a:t> </a:t>
            </a:r>
            <a:r>
              <a:rPr lang="en-US" dirty="0" err="1"/>
              <a:t>tercantum</a:t>
            </a:r>
            <a:r>
              <a:rPr lang="en-US" dirty="0"/>
              <a:t> </a:t>
            </a:r>
            <a:r>
              <a:rPr lang="en-US" dirty="0" err="1"/>
              <a:t>dlm</a:t>
            </a:r>
            <a:r>
              <a:rPr lang="en-US" dirty="0"/>
              <a:t> DHN, </a:t>
            </a:r>
            <a:r>
              <a:rPr lang="en-US" dirty="0" err="1"/>
              <a:t>tdk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tindak</a:t>
            </a:r>
            <a:r>
              <a:rPr lang="en-US" dirty="0"/>
              <a:t> </a:t>
            </a:r>
            <a:r>
              <a:rPr lang="en-US" dirty="0" err="1"/>
              <a:t>pidana</a:t>
            </a:r>
            <a:r>
              <a:rPr lang="en-US" dirty="0"/>
              <a:t>; </a:t>
            </a:r>
            <a:r>
              <a:rPr lang="en-US" dirty="0" err="1"/>
              <a:t>tdk</a:t>
            </a:r>
            <a:r>
              <a:rPr lang="en-US" dirty="0"/>
              <a:t>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pailit</a:t>
            </a:r>
            <a:r>
              <a:rPr lang="en-US" dirty="0"/>
              <a:t>;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komitmen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tinggi</a:t>
            </a:r>
            <a:r>
              <a:rPr lang="en-US" dirty="0"/>
              <a:t> </a:t>
            </a:r>
            <a:r>
              <a:rPr lang="en-US" dirty="0" err="1"/>
              <a:t>utk</a:t>
            </a:r>
            <a:r>
              <a:rPr lang="en-US" dirty="0"/>
              <a:t> </a:t>
            </a:r>
            <a:r>
              <a:rPr lang="en-US" dirty="0" err="1"/>
              <a:t>patuh</a:t>
            </a:r>
            <a:r>
              <a:rPr lang="en-US" dirty="0"/>
              <a:t> pd UU; </a:t>
            </a:r>
            <a:r>
              <a:rPr lang="en-US" dirty="0" err="1"/>
              <a:t>tdk</a:t>
            </a:r>
            <a:r>
              <a:rPr lang="en-US" dirty="0"/>
              <a:t> </a:t>
            </a:r>
            <a:r>
              <a:rPr lang="en-US" dirty="0" err="1"/>
              <a:t>melanggar</a:t>
            </a:r>
            <a:r>
              <a:rPr lang="en-US" dirty="0"/>
              <a:t> </a:t>
            </a:r>
            <a:r>
              <a:rPr lang="en-US" dirty="0" err="1"/>
              <a:t>ketentuan</a:t>
            </a:r>
            <a:r>
              <a:rPr lang="en-US" dirty="0"/>
              <a:t> yang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ditempat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penghasilan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, </a:t>
            </a:r>
            <a:r>
              <a:rPr lang="en-US" dirty="0" err="1"/>
              <a:t>memiliki</a:t>
            </a:r>
            <a:r>
              <a:rPr lang="en-US" dirty="0"/>
              <a:t> modal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cukup</a:t>
            </a:r>
            <a:endParaRPr lang="en-US" dirty="0"/>
          </a:p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dirty="0"/>
              <a:t>BADAN HUKUM </a:t>
            </a:r>
            <a:r>
              <a:rPr lang="en-US" dirty="0" err="1"/>
              <a:t>intinya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AGEN PERORANGAN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7724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mendapat</a:t>
            </a:r>
            <a:r>
              <a:rPr lang="en-US" dirty="0"/>
              <a:t> </a:t>
            </a:r>
            <a:r>
              <a:rPr lang="en-US" dirty="0" err="1"/>
              <a:t>pinjaman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Bank? Karena </a:t>
            </a:r>
            <a:r>
              <a:rPr lang="en-US" dirty="0" err="1"/>
              <a:t>Agen</a:t>
            </a:r>
            <a:r>
              <a:rPr lang="en-US" dirty="0"/>
              <a:t> </a:t>
            </a:r>
            <a:r>
              <a:rPr lang="en-US" dirty="0" err="1"/>
              <a:t>sering</a:t>
            </a:r>
            <a:r>
              <a:rPr lang="en-US" dirty="0"/>
              <a:t> </a:t>
            </a:r>
            <a:r>
              <a:rPr lang="en-US" dirty="0" err="1"/>
              <a:t>berkoordinasi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Bank,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Petugas</a:t>
            </a:r>
            <a:r>
              <a:rPr lang="en-US" dirty="0"/>
              <a:t> Bank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terbiasa</a:t>
            </a:r>
            <a:r>
              <a:rPr lang="en-US" dirty="0"/>
              <a:t> dan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mempunyai</a:t>
            </a:r>
            <a:r>
              <a:rPr lang="en-US" dirty="0"/>
              <a:t> chemistry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. </a:t>
            </a:r>
            <a:r>
              <a:rPr lang="en-US" dirty="0" err="1"/>
              <a:t>Petugas</a:t>
            </a:r>
            <a:r>
              <a:rPr lang="en-US" dirty="0"/>
              <a:t> Bank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karakterikstik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 </a:t>
            </a:r>
            <a:r>
              <a:rPr lang="en-US" dirty="0" err="1"/>
              <a:t>sebagi</a:t>
            </a:r>
            <a:r>
              <a:rPr lang="en-US" dirty="0"/>
              <a:t> </a:t>
            </a:r>
            <a:r>
              <a:rPr lang="en-US" dirty="0" err="1"/>
              <a:t>Nasabah</a:t>
            </a:r>
            <a:r>
              <a:rPr lang="en-US" dirty="0"/>
              <a:t>, Data2 </a:t>
            </a:r>
            <a:r>
              <a:rPr lang="en-US" dirty="0" err="1"/>
              <a:t>Agen</a:t>
            </a:r>
            <a:r>
              <a:rPr lang="en-US" dirty="0"/>
              <a:t>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informs data </a:t>
            </a:r>
            <a:r>
              <a:rPr lang="en-US" dirty="0" err="1"/>
              <a:t>pribadi</a:t>
            </a:r>
            <a:r>
              <a:rPr lang="en-US" dirty="0"/>
              <a:t>, </a:t>
            </a:r>
            <a:r>
              <a:rPr lang="en-US" dirty="0" err="1"/>
              <a:t>penghasilan</a:t>
            </a:r>
            <a:r>
              <a:rPr lang="en-US" dirty="0"/>
              <a:t>, Usaha yang </a:t>
            </a:r>
            <a:r>
              <a:rPr lang="en-US" dirty="0" err="1"/>
              <a:t>sedang</a:t>
            </a:r>
            <a:r>
              <a:rPr lang="en-US" dirty="0"/>
              <a:t> </a:t>
            </a:r>
            <a:r>
              <a:rPr lang="en-US" dirty="0" err="1"/>
              <a:t>dijalankan</a:t>
            </a:r>
            <a:r>
              <a:rPr lang="en-US" dirty="0"/>
              <a:t>, </a:t>
            </a:r>
            <a:r>
              <a:rPr lang="en-US" dirty="0" err="1"/>
              <a:t>kondisi</a:t>
            </a:r>
            <a:r>
              <a:rPr lang="en-US" dirty="0"/>
              <a:t> </a:t>
            </a:r>
            <a:r>
              <a:rPr lang="en-US" dirty="0" err="1"/>
              <a:t>keuangan</a:t>
            </a:r>
            <a:r>
              <a:rPr lang="en-US" dirty="0"/>
              <a:t> </a:t>
            </a:r>
            <a:r>
              <a:rPr lang="en-US" dirty="0" err="1"/>
              <a:t>dll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pinjaman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terbentuk</a:t>
            </a:r>
            <a:r>
              <a:rPr lang="en-US" dirty="0"/>
              <a:t> </a:t>
            </a:r>
            <a:r>
              <a:rPr lang="en-US" dirty="0" err="1"/>
              <a:t>kepercayaan</a:t>
            </a:r>
            <a:r>
              <a:rPr lang="en-US" dirty="0"/>
              <a:t> Bank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.</a:t>
            </a:r>
          </a:p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2187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100" dirty="0" err="1"/>
              <a:t>Yg</a:t>
            </a:r>
            <a:r>
              <a:rPr lang="en-US" sz="1100" dirty="0"/>
              <a:t> </a:t>
            </a:r>
            <a:r>
              <a:rPr lang="en-US" sz="1100" dirty="0" err="1"/>
              <a:t>hrs</a:t>
            </a:r>
            <a:r>
              <a:rPr lang="en-US" sz="1100" dirty="0"/>
              <a:t> </a:t>
            </a:r>
            <a:r>
              <a:rPr lang="en-US" sz="1100" dirty="0" err="1"/>
              <a:t>diperhatikan</a:t>
            </a:r>
            <a:r>
              <a:rPr lang="en-US" sz="1100" dirty="0"/>
              <a:t> oleh </a:t>
            </a:r>
            <a:r>
              <a:rPr lang="en-US" sz="1100" dirty="0" err="1"/>
              <a:t>Agen</a:t>
            </a:r>
            <a:r>
              <a:rPr lang="en-US" sz="1100" dirty="0"/>
              <a:t> Duta yang </a:t>
            </a:r>
            <a:r>
              <a:rPr lang="en-US" sz="1100" dirty="0" err="1"/>
              <a:t>bertindak</a:t>
            </a:r>
            <a:r>
              <a:rPr lang="en-US" sz="1100" dirty="0"/>
              <a:t> </a:t>
            </a:r>
            <a:r>
              <a:rPr lang="en-US" sz="1100" dirty="0" err="1"/>
              <a:t>sebagai</a:t>
            </a:r>
            <a:r>
              <a:rPr lang="en-US" sz="1100" dirty="0"/>
              <a:t> </a:t>
            </a:r>
            <a:r>
              <a:rPr lang="en-US" sz="1100" dirty="0" err="1"/>
              <a:t>referal</a:t>
            </a:r>
            <a:r>
              <a:rPr lang="en-US" sz="1100" dirty="0"/>
              <a:t> </a:t>
            </a:r>
            <a:r>
              <a:rPr lang="en-US" sz="1100" dirty="0" err="1"/>
              <a:t>diantaranya</a:t>
            </a:r>
            <a:r>
              <a:rPr lang="en-US" sz="1100" dirty="0"/>
              <a:t>………</a:t>
            </a:r>
            <a:r>
              <a:rPr lang="en-US" sz="1100" dirty="0" err="1"/>
              <a:t>hanya</a:t>
            </a:r>
            <a:r>
              <a:rPr lang="en-US" sz="1100" dirty="0"/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sarana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permohonan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fasilitas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pinjaman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kredit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tanpa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menjanjikan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permohonan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pinjaman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disampaikan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Duta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diterima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ditolak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dilarang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memungut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dari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permohonan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pinjaman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harus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menatausahakan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form referral &amp; Form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Permohonan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kredit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bank;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Meregister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mencatat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semua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penyerahan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berkas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permohonan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pinjaman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Bank; Bank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wajib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menindaklanjuti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permohonan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kredit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melalui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mengarsip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form referral;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CDD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sederhana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kepada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nasabah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Kredit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kelengkapan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persayaratan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pengisian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pinjaman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Kebenaran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usaha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nasabah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tempat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bekerja</a:t>
            </a:r>
            <a:r>
              <a:rPr lang="en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W</a:t>
            </a:r>
            <a:r>
              <a:rPr lang="id-ID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awancara singkat dengan Nasabah terkait informasi data diri, keberlangsungan usaha Nasabah, prospek usaha di masa depan, modal usaha, dll untuk lebih mengetahui karakteristik nasabah.</a:t>
            </a:r>
            <a:endParaRPr lang="en-ID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ID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3306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 DUTA </a:t>
            </a:r>
            <a:r>
              <a:rPr lang="en-US" dirty="0" err="1"/>
              <a:t>antara</a:t>
            </a:r>
            <a:r>
              <a:rPr lang="en-US" dirty="0"/>
              <a:t> lain </a:t>
            </a:r>
            <a:r>
              <a:rPr lang="en-US" dirty="0" err="1"/>
              <a:t>berupa</a:t>
            </a:r>
            <a:r>
              <a:rPr lang="en-US" dirty="0"/>
              <a:t> sign board/signage/MMT/banner </a:t>
            </a:r>
            <a:r>
              <a:rPr lang="en-US" dirty="0" err="1"/>
              <a:t>layanan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 </a:t>
            </a:r>
            <a:r>
              <a:rPr lang="en-US" dirty="0" err="1"/>
              <a:t>Laku</a:t>
            </a:r>
            <a:r>
              <a:rPr lang="en-US" dirty="0"/>
              <a:t> </a:t>
            </a:r>
            <a:r>
              <a:rPr lang="en-US" dirty="0" err="1"/>
              <a:t>Pandai</a:t>
            </a:r>
            <a:r>
              <a:rPr lang="en-US" dirty="0"/>
              <a:t>.</a:t>
            </a:r>
          </a:p>
          <a:p>
            <a:r>
              <a:rPr lang="en-US" dirty="0"/>
              <a:t>Divisi </a:t>
            </a:r>
            <a:r>
              <a:rPr lang="en-US" dirty="0" err="1"/>
              <a:t>operasional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mengirim</a:t>
            </a:r>
            <a:r>
              <a:rPr lang="en-US" dirty="0"/>
              <a:t> </a:t>
            </a:r>
            <a:r>
              <a:rPr lang="en-US" dirty="0" err="1"/>
              <a:t>surat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Kantor </a:t>
            </a:r>
            <a:r>
              <a:rPr lang="en-US" dirty="0" err="1"/>
              <a:t>Cabang</a:t>
            </a:r>
            <a:r>
              <a:rPr lang="en-US" dirty="0"/>
              <a:t> </a:t>
            </a:r>
            <a:r>
              <a:rPr lang="en-US" dirty="0" err="1"/>
              <a:t>terkait</a:t>
            </a:r>
            <a:r>
              <a:rPr lang="en-US" dirty="0"/>
              <a:t> </a:t>
            </a:r>
            <a:r>
              <a:rPr lang="en-US" dirty="0" err="1"/>
              <a:t>pemasangan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laku</a:t>
            </a:r>
            <a:r>
              <a:rPr lang="en-US" dirty="0"/>
              <a:t> </a:t>
            </a:r>
            <a:r>
              <a:rPr lang="en-US" dirty="0" err="1"/>
              <a:t>pandai</a:t>
            </a:r>
            <a:r>
              <a:rPr lang="en-US" dirty="0"/>
              <a:t> dan Kantor </a:t>
            </a:r>
            <a:r>
              <a:rPr lang="en-US" dirty="0" err="1"/>
              <a:t>cabang</a:t>
            </a:r>
            <a:r>
              <a:rPr lang="en-US" dirty="0"/>
              <a:t>/</a:t>
            </a:r>
            <a:r>
              <a:rPr lang="en-US" dirty="0" err="1"/>
              <a:t>cepm</a:t>
            </a:r>
            <a:r>
              <a:rPr lang="en-US" dirty="0"/>
              <a:t> </a:t>
            </a:r>
            <a:r>
              <a:rPr lang="en-US" dirty="0" err="1"/>
              <a:t>diminta</a:t>
            </a:r>
            <a:r>
              <a:rPr lang="en-US" dirty="0"/>
              <a:t> </a:t>
            </a:r>
            <a:r>
              <a:rPr lang="en-US" dirty="0" err="1"/>
              <a:t>utk</a:t>
            </a:r>
            <a:r>
              <a:rPr lang="en-US" dirty="0"/>
              <a:t> </a:t>
            </a:r>
            <a:r>
              <a:rPr lang="en-US" dirty="0" err="1"/>
              <a:t>mengisi</a:t>
            </a:r>
            <a:r>
              <a:rPr lang="en-US" dirty="0"/>
              <a:t> link,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dipasang</a:t>
            </a:r>
            <a:r>
              <a:rPr lang="en-US" dirty="0"/>
              <a:t> di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.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Kantor </a:t>
            </a:r>
            <a:r>
              <a:rPr lang="en-US" dirty="0" err="1"/>
              <a:t>Cabang</a:t>
            </a:r>
            <a:r>
              <a:rPr lang="en-US" dirty="0"/>
              <a:t> yang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mengisi</a:t>
            </a:r>
            <a:r>
              <a:rPr lang="en-US" dirty="0"/>
              <a:t> link </a:t>
            </a:r>
            <a:r>
              <a:rPr lang="en-US" dirty="0" err="1"/>
              <a:t>tersebut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6108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berulang</a:t>
            </a:r>
            <a:r>
              <a:rPr lang="en-US" dirty="0"/>
              <a:t> yang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utk</a:t>
            </a:r>
            <a:r>
              <a:rPr lang="en-US" dirty="0"/>
              <a:t> 10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dikeculaikan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 </a:t>
            </a:r>
            <a:r>
              <a:rPr lang="en-US" dirty="0" err="1"/>
              <a:t>laku</a:t>
            </a:r>
            <a:r>
              <a:rPr lang="en-US" dirty="0"/>
              <a:t> </a:t>
            </a:r>
            <a:r>
              <a:rPr lang="en-US" dirty="0" err="1"/>
              <a:t>Pandai</a:t>
            </a:r>
            <a:r>
              <a:rPr lang="en-US" dirty="0"/>
              <a:t> yang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melakukan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transaksi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untuk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kepentingan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pembayaran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pajak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daerah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retribusi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daerah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penerimaan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Negara.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5317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Maksud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insentif</a:t>
            </a:r>
            <a:r>
              <a:rPr lang="en-US" dirty="0"/>
              <a:t> </a:t>
            </a:r>
            <a:r>
              <a:rPr lang="en-US" dirty="0" err="1"/>
              <a:t>diantaranya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penghasilan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 yang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  </a:t>
            </a:r>
            <a:r>
              <a:rPr lang="en-US" dirty="0" err="1"/>
              <a:t>utk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insentif</a:t>
            </a:r>
            <a:r>
              <a:rPr lang="en-US" dirty="0"/>
              <a:t> </a:t>
            </a:r>
            <a:r>
              <a:rPr lang="en-US" dirty="0" err="1"/>
              <a:t>sebesar</a:t>
            </a:r>
            <a:r>
              <a:rPr lang="en-US" dirty="0"/>
              <a:t> Rp3,750,000,-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Memangkas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Kantor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yang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insentif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.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171450" indent="-171450">
              <a:buFontTx/>
              <a:buChar char="-"/>
            </a:pP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5370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Maksud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perubahan</a:t>
            </a:r>
            <a:r>
              <a:rPr lang="en-US" dirty="0"/>
              <a:t> </a:t>
            </a:r>
            <a:r>
              <a:rPr lang="en-US" dirty="0" err="1"/>
              <a:t>insentif</a:t>
            </a:r>
            <a:r>
              <a:rPr lang="en-US" dirty="0"/>
              <a:t> </a:t>
            </a:r>
            <a:r>
              <a:rPr lang="en-US" dirty="0" err="1"/>
              <a:t>diantaranya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penghasilan</a:t>
            </a:r>
            <a:r>
              <a:rPr lang="en-US" dirty="0"/>
              <a:t>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Agen</a:t>
            </a:r>
            <a:r>
              <a:rPr lang="en-US" dirty="0"/>
              <a:t> yang </a:t>
            </a:r>
            <a:r>
              <a:rPr lang="en-US" dirty="0" err="1"/>
              <a:t>mau</a:t>
            </a:r>
            <a:r>
              <a:rPr lang="en-US" dirty="0"/>
              <a:t> </a:t>
            </a:r>
            <a:r>
              <a:rPr lang="en-US" dirty="0" err="1"/>
              <a:t>meningkatkan</a:t>
            </a:r>
            <a:r>
              <a:rPr lang="en-US" dirty="0"/>
              <a:t> </a:t>
            </a:r>
            <a:r>
              <a:rPr lang="en-US" dirty="0" err="1"/>
              <a:t>transaksi</a:t>
            </a:r>
            <a:r>
              <a:rPr lang="en-US" dirty="0"/>
              <a:t> </a:t>
            </a:r>
            <a:r>
              <a:rPr lang="en-US" dirty="0" err="1"/>
              <a:t>nya</a:t>
            </a:r>
            <a:r>
              <a:rPr lang="en-US" dirty="0"/>
              <a:t>  </a:t>
            </a:r>
            <a:r>
              <a:rPr lang="en-US" dirty="0" err="1"/>
              <a:t>utk</a:t>
            </a:r>
            <a:r>
              <a:rPr lang="en-US" dirty="0"/>
              <a:t>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insentif</a:t>
            </a:r>
            <a:r>
              <a:rPr lang="en-US" dirty="0"/>
              <a:t> </a:t>
            </a:r>
            <a:r>
              <a:rPr lang="en-US" dirty="0" err="1"/>
              <a:t>sebesar</a:t>
            </a:r>
            <a:r>
              <a:rPr lang="en-US" dirty="0"/>
              <a:t> Rp3,750,000,-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Memangkas</a:t>
            </a:r>
            <a:r>
              <a:rPr lang="en-US" dirty="0"/>
              <a:t> </a:t>
            </a:r>
            <a:r>
              <a:rPr lang="en-US" dirty="0" err="1"/>
              <a:t>biaya</a:t>
            </a:r>
            <a:r>
              <a:rPr lang="en-US" dirty="0"/>
              <a:t> Kantor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frekuensi</a:t>
            </a:r>
            <a:r>
              <a:rPr lang="en-US" dirty="0"/>
              <a:t> yang </a:t>
            </a:r>
            <a:r>
              <a:rPr lang="en-US" dirty="0" err="1"/>
              <a:t>mendapatkan</a:t>
            </a:r>
            <a:r>
              <a:rPr lang="en-US" dirty="0"/>
              <a:t> </a:t>
            </a:r>
            <a:r>
              <a:rPr lang="en-US" dirty="0" err="1"/>
              <a:t>insentif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.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171450" indent="-171450">
              <a:buFontTx/>
              <a:buChar char="-"/>
            </a:pP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39623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Yang </a:t>
            </a:r>
            <a:r>
              <a:rPr lang="en-US" dirty="0" err="1"/>
              <a:t>dimaksud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cukup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r>
              <a:rPr lang="en-US" dirty="0"/>
              <a:t>1 </a:t>
            </a:r>
            <a:r>
              <a:rPr lang="en-US" dirty="0" err="1"/>
              <a:t>Rekening</a:t>
            </a:r>
            <a:r>
              <a:rPr lang="en-US" dirty="0"/>
              <a:t> Tabungan </a:t>
            </a:r>
            <a:r>
              <a:rPr lang="en-US" dirty="0" err="1"/>
              <a:t>utk</a:t>
            </a:r>
            <a:r>
              <a:rPr lang="en-US" dirty="0"/>
              <a:t> </a:t>
            </a:r>
            <a:r>
              <a:rPr lang="en-US" dirty="0" err="1"/>
              <a:t>operasional</a:t>
            </a:r>
            <a:endParaRPr lang="en-US" dirty="0"/>
          </a:p>
          <a:p>
            <a:r>
              <a:rPr lang="en-US" dirty="0"/>
              <a:t>1 email yang </a:t>
            </a:r>
            <a:r>
              <a:rPr lang="en-US" dirty="0" err="1"/>
              <a:t>aktif</a:t>
            </a:r>
            <a:endParaRPr lang="en-US" dirty="0"/>
          </a:p>
          <a:p>
            <a:r>
              <a:rPr lang="en-US" dirty="0"/>
              <a:t>1 </a:t>
            </a:r>
            <a:r>
              <a:rPr lang="en-US" dirty="0" err="1"/>
              <a:t>No.Hp</a:t>
            </a:r>
            <a:r>
              <a:rPr lang="en-US" dirty="0"/>
              <a:t> yang </a:t>
            </a:r>
            <a:r>
              <a:rPr lang="en-US" dirty="0" err="1"/>
              <a:t>aktif</a:t>
            </a:r>
            <a:endParaRPr lang="en-US" dirty="0"/>
          </a:p>
          <a:p>
            <a:r>
              <a:rPr lang="en-US" dirty="0"/>
              <a:t>1 </a:t>
            </a:r>
            <a:r>
              <a:rPr lang="en-US" dirty="0" err="1"/>
              <a:t>Kartu</a:t>
            </a:r>
            <a:r>
              <a:rPr lang="en-US" dirty="0"/>
              <a:t> ATM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21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48138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23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0201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Laporan</a:t>
            </a:r>
            <a:r>
              <a:rPr lang="en-US" dirty="0"/>
              <a:t> </a:t>
            </a:r>
            <a:r>
              <a:rPr lang="en-US" dirty="0" err="1"/>
              <a:t>Realisasi</a:t>
            </a:r>
            <a:r>
              <a:rPr lang="en-US" dirty="0"/>
              <a:t> 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CA00EE-EB3F-4C67-889D-F2375F1E11D1}" type="slidenum">
              <a:rPr lang="en-ID" smtClean="0"/>
              <a:t>26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1122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8"/>
            <a:ext cx="8689977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3"/>
            <a:ext cx="8689977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195" indent="0" algn="ctr">
              <a:buNone/>
              <a:defRPr sz="2000"/>
            </a:lvl2pPr>
            <a:lvl3pPr marL="914388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5" indent="0" algn="ctr">
              <a:buNone/>
              <a:defRPr sz="1600"/>
            </a:lvl7pPr>
            <a:lvl8pPr marL="3200360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4B2CC-60D6-464A-A2BE-171BB0883CB0}" type="datetimeFigureOut">
              <a:rPr lang="en-US" smtClean="0"/>
              <a:t>9/7/2022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D31F1A-C85E-4F97-A5EF-4A1F7548ED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98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7" y="2367095"/>
            <a:ext cx="10363828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3420480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9" y="828566"/>
            <a:ext cx="10351753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9" y="3657460"/>
            <a:ext cx="10351753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19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8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5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49573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20"/>
            <a:ext cx="10364452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5"/>
            <a:ext cx="5106027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199" y="2367095"/>
            <a:ext cx="5105401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6386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6" y="618520"/>
            <a:ext cx="10364452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9" y="2371018"/>
            <a:ext cx="4873476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195" indent="0">
              <a:buNone/>
              <a:defRPr sz="2000" b="1"/>
            </a:lvl2pPr>
            <a:lvl3pPr marL="914388" indent="0">
              <a:buNone/>
              <a:defRPr sz="1800" b="1"/>
            </a:lvl3pPr>
            <a:lvl4pPr marL="1371583" indent="0">
              <a:buNone/>
              <a:defRPr sz="1600" b="1"/>
            </a:lvl4pPr>
            <a:lvl5pPr marL="1828777" indent="0">
              <a:buNone/>
              <a:defRPr sz="1600" b="1"/>
            </a:lvl5pPr>
            <a:lvl6pPr marL="2285971" indent="0">
              <a:buNone/>
              <a:defRPr sz="1600" b="1"/>
            </a:lvl6pPr>
            <a:lvl7pPr marL="2743165" indent="0">
              <a:buNone/>
              <a:defRPr sz="1600" b="1"/>
            </a:lvl7pPr>
            <a:lvl8pPr marL="3200360" indent="0">
              <a:buNone/>
              <a:defRPr sz="1600" b="1"/>
            </a:lvl8pPr>
            <a:lvl9pPr marL="365755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6" y="3051015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8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195" indent="0">
              <a:buNone/>
              <a:defRPr sz="2000" b="1"/>
            </a:lvl2pPr>
            <a:lvl3pPr marL="914388" indent="0">
              <a:buNone/>
              <a:defRPr sz="1800" b="1"/>
            </a:lvl3pPr>
            <a:lvl4pPr marL="1371583" indent="0">
              <a:buNone/>
              <a:defRPr sz="1600" b="1"/>
            </a:lvl4pPr>
            <a:lvl5pPr marL="1828777" indent="0">
              <a:buNone/>
              <a:defRPr sz="1600" b="1"/>
            </a:lvl5pPr>
            <a:lvl6pPr marL="2285971" indent="0">
              <a:buNone/>
              <a:defRPr sz="1600" b="1"/>
            </a:lvl6pPr>
            <a:lvl7pPr marL="2743165" indent="0">
              <a:buNone/>
              <a:defRPr sz="1600" b="1"/>
            </a:lvl7pPr>
            <a:lvl8pPr marL="3200360" indent="0">
              <a:buNone/>
              <a:defRPr sz="1600" b="1"/>
            </a:lvl8pPr>
            <a:lvl9pPr marL="365755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1" y="3051015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261602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5095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994752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9" y="609601"/>
            <a:ext cx="3935689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4" y="609603"/>
            <a:ext cx="6200164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0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195" indent="0">
              <a:buNone/>
              <a:defRPr sz="1400"/>
            </a:lvl2pPr>
            <a:lvl3pPr marL="914388" indent="0">
              <a:buNone/>
              <a:defRPr sz="1200"/>
            </a:lvl3pPr>
            <a:lvl4pPr marL="1371583" indent="0">
              <a:buNone/>
              <a:defRPr sz="1000"/>
            </a:lvl4pPr>
            <a:lvl5pPr marL="1828777" indent="0">
              <a:buNone/>
              <a:defRPr sz="1000"/>
            </a:lvl5pPr>
            <a:lvl6pPr marL="2285971" indent="0">
              <a:buNone/>
              <a:defRPr sz="1000"/>
            </a:lvl6pPr>
            <a:lvl7pPr marL="2743165" indent="0">
              <a:buNone/>
              <a:defRPr sz="1000"/>
            </a:lvl7pPr>
            <a:lvl8pPr marL="3200360" indent="0">
              <a:buNone/>
              <a:defRPr sz="1000"/>
            </a:lvl8pPr>
            <a:lvl9pPr marL="365755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7746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8" y="609602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195" indent="0">
              <a:buNone/>
              <a:defRPr sz="2800"/>
            </a:lvl2pPr>
            <a:lvl3pPr marL="914388" indent="0">
              <a:buNone/>
              <a:defRPr sz="2400"/>
            </a:lvl3pPr>
            <a:lvl4pPr marL="1371583" indent="0">
              <a:buNone/>
              <a:defRPr sz="2000"/>
            </a:lvl4pPr>
            <a:lvl5pPr marL="1828777" indent="0">
              <a:buNone/>
              <a:defRPr sz="2000"/>
            </a:lvl5pPr>
            <a:lvl6pPr marL="2285971" indent="0">
              <a:buNone/>
              <a:defRPr sz="2000"/>
            </a:lvl6pPr>
            <a:lvl7pPr marL="2743165" indent="0">
              <a:buNone/>
              <a:defRPr sz="2000"/>
            </a:lvl7pPr>
            <a:lvl8pPr marL="3200360" indent="0">
              <a:buNone/>
              <a:defRPr sz="2000"/>
            </a:lvl8pPr>
            <a:lvl9pPr marL="3657555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800" y="2632855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195" indent="0">
              <a:buNone/>
              <a:defRPr sz="1400"/>
            </a:lvl2pPr>
            <a:lvl3pPr marL="914388" indent="0">
              <a:buNone/>
              <a:defRPr sz="1200"/>
            </a:lvl3pPr>
            <a:lvl4pPr marL="1371583" indent="0">
              <a:buNone/>
              <a:defRPr sz="1000"/>
            </a:lvl4pPr>
            <a:lvl5pPr marL="1828777" indent="0">
              <a:buNone/>
              <a:defRPr sz="1000"/>
            </a:lvl5pPr>
            <a:lvl6pPr marL="2285971" indent="0">
              <a:buNone/>
              <a:defRPr sz="1000"/>
            </a:lvl6pPr>
            <a:lvl7pPr marL="2743165" indent="0">
              <a:buNone/>
              <a:defRPr sz="1000"/>
            </a:lvl7pPr>
            <a:lvl8pPr marL="3200360" indent="0">
              <a:buNone/>
              <a:defRPr sz="1000"/>
            </a:lvl8pPr>
            <a:lvl9pPr marL="365755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864358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0" y="4289375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5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195" indent="0">
              <a:buNone/>
              <a:defRPr sz="2800"/>
            </a:lvl2pPr>
            <a:lvl3pPr marL="914388" indent="0">
              <a:buNone/>
              <a:defRPr sz="2400"/>
            </a:lvl3pPr>
            <a:lvl4pPr marL="1371583" indent="0">
              <a:buNone/>
              <a:defRPr sz="2000"/>
            </a:lvl4pPr>
            <a:lvl5pPr marL="1828777" indent="0">
              <a:buNone/>
              <a:defRPr sz="2000"/>
            </a:lvl5pPr>
            <a:lvl6pPr marL="2285971" indent="0">
              <a:buNone/>
              <a:defRPr sz="2000"/>
            </a:lvl6pPr>
            <a:lvl7pPr marL="2743165" indent="0">
              <a:buNone/>
              <a:defRPr sz="2000"/>
            </a:lvl7pPr>
            <a:lvl8pPr marL="3200360" indent="0">
              <a:buNone/>
              <a:defRPr sz="2000"/>
            </a:lvl8pPr>
            <a:lvl9pPr marL="3657555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5108729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195" indent="0">
              <a:buNone/>
              <a:defRPr sz="1400"/>
            </a:lvl2pPr>
            <a:lvl3pPr marL="914388" indent="0">
              <a:buNone/>
              <a:defRPr sz="1200"/>
            </a:lvl3pPr>
            <a:lvl4pPr marL="1371583" indent="0">
              <a:buNone/>
              <a:defRPr sz="1000"/>
            </a:lvl4pPr>
            <a:lvl5pPr marL="1828777" indent="0">
              <a:buNone/>
              <a:defRPr sz="1000"/>
            </a:lvl5pPr>
            <a:lvl6pPr marL="2285971" indent="0">
              <a:buNone/>
              <a:defRPr sz="1000"/>
            </a:lvl6pPr>
            <a:lvl7pPr marL="2743165" indent="0">
              <a:buNone/>
              <a:defRPr sz="1000"/>
            </a:lvl7pPr>
            <a:lvl8pPr marL="3200360" indent="0">
              <a:buNone/>
              <a:defRPr sz="1000"/>
            </a:lvl8pPr>
            <a:lvl9pPr marL="365755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794123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609602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195" indent="0">
              <a:buNone/>
              <a:defRPr sz="1400"/>
            </a:lvl2pPr>
            <a:lvl3pPr marL="914388" indent="0">
              <a:buNone/>
              <a:defRPr sz="1200"/>
            </a:lvl3pPr>
            <a:lvl4pPr marL="1371583" indent="0">
              <a:buNone/>
              <a:defRPr sz="1000"/>
            </a:lvl4pPr>
            <a:lvl5pPr marL="1828777" indent="0">
              <a:buNone/>
              <a:defRPr sz="1000"/>
            </a:lvl5pPr>
            <a:lvl6pPr marL="2285971" indent="0">
              <a:buNone/>
              <a:defRPr sz="1000"/>
            </a:lvl6pPr>
            <a:lvl7pPr marL="2743165" indent="0">
              <a:buNone/>
              <a:defRPr sz="1000"/>
            </a:lvl7pPr>
            <a:lvl8pPr marL="3200360" indent="0">
              <a:buNone/>
              <a:defRPr sz="1000"/>
            </a:lvl8pPr>
            <a:lvl9pPr marL="365755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1619603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5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95" indent="0">
              <a:buNone/>
              <a:defRPr sz="1400"/>
            </a:lvl2pPr>
            <a:lvl3pPr marL="914388" indent="0">
              <a:buNone/>
              <a:defRPr sz="1200"/>
            </a:lvl3pPr>
            <a:lvl4pPr marL="1371583" indent="0">
              <a:buNone/>
              <a:defRPr sz="1000"/>
            </a:lvl4pPr>
            <a:lvl5pPr marL="1828777" indent="0">
              <a:buNone/>
              <a:defRPr sz="1000"/>
            </a:lvl5pPr>
            <a:lvl6pPr marL="2285971" indent="0">
              <a:buNone/>
              <a:defRPr sz="1000"/>
            </a:lvl6pPr>
            <a:lvl7pPr marL="2743165" indent="0">
              <a:buNone/>
              <a:defRPr sz="1000"/>
            </a:lvl7pPr>
            <a:lvl8pPr marL="3200360" indent="0">
              <a:buNone/>
              <a:defRPr sz="1000"/>
            </a:lvl8pPr>
            <a:lvl9pPr marL="365755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372798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195" indent="0">
              <a:buNone/>
              <a:defRPr sz="1400"/>
            </a:lvl2pPr>
            <a:lvl3pPr marL="914388" indent="0">
              <a:buNone/>
              <a:defRPr sz="1200"/>
            </a:lvl3pPr>
            <a:lvl4pPr marL="1371583" indent="0">
              <a:buNone/>
              <a:defRPr sz="1000"/>
            </a:lvl4pPr>
            <a:lvl5pPr marL="1828777" indent="0">
              <a:buNone/>
              <a:defRPr sz="1000"/>
            </a:lvl5pPr>
            <a:lvl6pPr marL="2285971" indent="0">
              <a:buNone/>
              <a:defRPr sz="1000"/>
            </a:lvl6pPr>
            <a:lvl7pPr marL="2743165" indent="0">
              <a:buNone/>
              <a:defRPr sz="1000"/>
            </a:lvl7pPr>
            <a:lvl8pPr marL="3200360" indent="0">
              <a:buNone/>
              <a:defRPr sz="1000"/>
            </a:lvl8pPr>
            <a:lvl9pPr marL="365755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9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161431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6" y="2138723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6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195" indent="0">
              <a:buNone/>
              <a:defRPr sz="1400"/>
            </a:lvl2pPr>
            <a:lvl3pPr marL="914388" indent="0">
              <a:buNone/>
              <a:defRPr sz="1200"/>
            </a:lvl3pPr>
            <a:lvl4pPr marL="1371583" indent="0">
              <a:buNone/>
              <a:defRPr sz="1000"/>
            </a:lvl4pPr>
            <a:lvl5pPr marL="1828777" indent="0">
              <a:buNone/>
              <a:defRPr sz="1000"/>
            </a:lvl5pPr>
            <a:lvl6pPr marL="2285971" indent="0">
              <a:buNone/>
              <a:defRPr sz="1000"/>
            </a:lvl6pPr>
            <a:lvl7pPr marL="2743165" indent="0">
              <a:buNone/>
              <a:defRPr sz="1000"/>
            </a:lvl7pPr>
            <a:lvl8pPr marL="3200360" indent="0">
              <a:buNone/>
              <a:defRPr sz="1000"/>
            </a:lvl8pPr>
            <a:lvl9pPr marL="3657555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23635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6" y="609601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195" indent="0">
              <a:buNone/>
              <a:defRPr sz="2000" b="1"/>
            </a:lvl2pPr>
            <a:lvl3pPr marL="914388" indent="0">
              <a:buNone/>
              <a:defRPr sz="1800" b="1"/>
            </a:lvl3pPr>
            <a:lvl4pPr marL="1371583" indent="0">
              <a:buNone/>
              <a:defRPr sz="1600" b="1"/>
            </a:lvl4pPr>
            <a:lvl5pPr marL="1828777" indent="0">
              <a:buNone/>
              <a:defRPr sz="1600" b="1"/>
            </a:lvl5pPr>
            <a:lvl6pPr marL="2285971" indent="0">
              <a:buNone/>
              <a:defRPr sz="1600" b="1"/>
            </a:lvl6pPr>
            <a:lvl7pPr marL="2743165" indent="0">
              <a:buNone/>
              <a:defRPr sz="1600" b="1"/>
            </a:lvl7pPr>
            <a:lvl8pPr marL="3200360" indent="0">
              <a:buNone/>
              <a:defRPr sz="1600" b="1"/>
            </a:lvl8pPr>
            <a:lvl9pPr marL="365755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7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95" indent="0">
              <a:buNone/>
              <a:defRPr sz="1200"/>
            </a:lvl2pPr>
            <a:lvl3pPr marL="914388" indent="0">
              <a:buNone/>
              <a:defRPr sz="1000"/>
            </a:lvl3pPr>
            <a:lvl4pPr marL="1371583" indent="0">
              <a:buNone/>
              <a:defRPr sz="900"/>
            </a:lvl4pPr>
            <a:lvl5pPr marL="1828777" indent="0">
              <a:buNone/>
              <a:defRPr sz="900"/>
            </a:lvl5pPr>
            <a:lvl6pPr marL="2285971" indent="0">
              <a:buNone/>
              <a:defRPr sz="900"/>
            </a:lvl6pPr>
            <a:lvl7pPr marL="2743165" indent="0">
              <a:buNone/>
              <a:defRPr sz="900"/>
            </a:lvl7pPr>
            <a:lvl8pPr marL="3200360" indent="0">
              <a:buNone/>
              <a:defRPr sz="900"/>
            </a:lvl8pPr>
            <a:lvl9pPr marL="365755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94" y="2367093"/>
            <a:ext cx="329152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195" indent="0">
              <a:buNone/>
              <a:defRPr sz="2000" b="1"/>
            </a:lvl2pPr>
            <a:lvl3pPr marL="914388" indent="0">
              <a:buNone/>
              <a:defRPr sz="1800" b="1"/>
            </a:lvl3pPr>
            <a:lvl4pPr marL="1371583" indent="0">
              <a:buNone/>
              <a:defRPr sz="1600" b="1"/>
            </a:lvl4pPr>
            <a:lvl5pPr marL="1828777" indent="0">
              <a:buNone/>
              <a:defRPr sz="1600" b="1"/>
            </a:lvl5pPr>
            <a:lvl6pPr marL="2285971" indent="0">
              <a:buNone/>
              <a:defRPr sz="1600" b="1"/>
            </a:lvl6pPr>
            <a:lvl7pPr marL="2743165" indent="0">
              <a:buNone/>
              <a:defRPr sz="1600" b="1"/>
            </a:lvl7pPr>
            <a:lvl8pPr marL="3200360" indent="0">
              <a:buNone/>
              <a:defRPr sz="1600" b="1"/>
            </a:lvl8pPr>
            <a:lvl9pPr marL="365755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56" y="2943357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95" indent="0">
              <a:buNone/>
              <a:defRPr sz="1200"/>
            </a:lvl2pPr>
            <a:lvl3pPr marL="914388" indent="0">
              <a:buNone/>
              <a:defRPr sz="1000"/>
            </a:lvl3pPr>
            <a:lvl4pPr marL="1371583" indent="0">
              <a:buNone/>
              <a:defRPr sz="900"/>
            </a:lvl4pPr>
            <a:lvl5pPr marL="1828777" indent="0">
              <a:buNone/>
              <a:defRPr sz="900"/>
            </a:lvl5pPr>
            <a:lvl6pPr marL="2285971" indent="0">
              <a:buNone/>
              <a:defRPr sz="900"/>
            </a:lvl6pPr>
            <a:lvl7pPr marL="2743165" indent="0">
              <a:buNone/>
              <a:defRPr sz="900"/>
            </a:lvl7pPr>
            <a:lvl8pPr marL="3200360" indent="0">
              <a:buNone/>
              <a:defRPr sz="900"/>
            </a:lvl8pPr>
            <a:lvl9pPr marL="365755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300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195" indent="0">
              <a:buNone/>
              <a:defRPr sz="2000" b="1"/>
            </a:lvl2pPr>
            <a:lvl3pPr marL="914388" indent="0">
              <a:buNone/>
              <a:defRPr sz="1800" b="1"/>
            </a:lvl3pPr>
            <a:lvl4pPr marL="1371583" indent="0">
              <a:buNone/>
              <a:defRPr sz="1600" b="1"/>
            </a:lvl4pPr>
            <a:lvl5pPr marL="1828777" indent="0">
              <a:buNone/>
              <a:defRPr sz="1600" b="1"/>
            </a:lvl5pPr>
            <a:lvl6pPr marL="2285971" indent="0">
              <a:buNone/>
              <a:defRPr sz="1600" b="1"/>
            </a:lvl6pPr>
            <a:lvl7pPr marL="2743165" indent="0">
              <a:buNone/>
              <a:defRPr sz="1600" b="1"/>
            </a:lvl7pPr>
            <a:lvl8pPr marL="3200360" indent="0">
              <a:buNone/>
              <a:defRPr sz="1600" b="1"/>
            </a:lvl8pPr>
            <a:lvl9pPr marL="365755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300" y="2943357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95" indent="0">
              <a:buNone/>
              <a:defRPr sz="1200"/>
            </a:lvl2pPr>
            <a:lvl3pPr marL="914388" indent="0">
              <a:buNone/>
              <a:defRPr sz="1000"/>
            </a:lvl3pPr>
            <a:lvl4pPr marL="1371583" indent="0">
              <a:buNone/>
              <a:defRPr sz="900"/>
            </a:lvl4pPr>
            <a:lvl5pPr marL="1828777" indent="0">
              <a:buNone/>
              <a:defRPr sz="900"/>
            </a:lvl5pPr>
            <a:lvl6pPr marL="2285971" indent="0">
              <a:buNone/>
              <a:defRPr sz="900"/>
            </a:lvl6pPr>
            <a:lvl7pPr marL="2743165" indent="0">
              <a:buNone/>
              <a:defRPr sz="900"/>
            </a:lvl7pPr>
            <a:lvl8pPr marL="3200360" indent="0">
              <a:buNone/>
              <a:defRPr sz="900"/>
            </a:lvl8pPr>
            <a:lvl9pPr marL="365755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961780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6" y="610773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6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195" indent="0">
              <a:buNone/>
              <a:defRPr sz="2000" b="1"/>
            </a:lvl2pPr>
            <a:lvl3pPr marL="914388" indent="0">
              <a:buNone/>
              <a:defRPr sz="1800" b="1"/>
            </a:lvl3pPr>
            <a:lvl4pPr marL="1371583" indent="0">
              <a:buNone/>
              <a:defRPr sz="1600" b="1"/>
            </a:lvl4pPr>
            <a:lvl5pPr marL="1828777" indent="0">
              <a:buNone/>
              <a:defRPr sz="1600" b="1"/>
            </a:lvl5pPr>
            <a:lvl6pPr marL="2285971" indent="0">
              <a:buNone/>
              <a:defRPr sz="1600" b="1"/>
            </a:lvl6pPr>
            <a:lvl7pPr marL="2743165" indent="0">
              <a:buNone/>
              <a:defRPr sz="1600" b="1"/>
            </a:lvl7pPr>
            <a:lvl8pPr marL="3200360" indent="0">
              <a:buNone/>
              <a:defRPr sz="1600" b="1"/>
            </a:lvl8pPr>
            <a:lvl9pPr marL="365755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6" y="2367094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95" indent="0">
              <a:buNone/>
              <a:defRPr sz="1600"/>
            </a:lvl2pPr>
            <a:lvl3pPr marL="914388" indent="0">
              <a:buNone/>
              <a:defRPr sz="1600"/>
            </a:lvl3pPr>
            <a:lvl4pPr marL="1371583" indent="0">
              <a:buNone/>
              <a:defRPr sz="1600"/>
            </a:lvl4pPr>
            <a:lvl5pPr marL="1828777" indent="0">
              <a:buNone/>
              <a:defRPr sz="1600"/>
            </a:lvl5pPr>
            <a:lvl6pPr marL="2285971" indent="0">
              <a:buNone/>
              <a:defRPr sz="1600"/>
            </a:lvl6pPr>
            <a:lvl7pPr marL="2743165" indent="0">
              <a:buNone/>
              <a:defRPr sz="1600"/>
            </a:lvl7pPr>
            <a:lvl8pPr marL="3200360" indent="0">
              <a:buNone/>
              <a:defRPr sz="1600"/>
            </a:lvl8pPr>
            <a:lvl9pPr marL="3657555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6" y="4781083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95" indent="0">
              <a:buNone/>
              <a:defRPr sz="1200"/>
            </a:lvl2pPr>
            <a:lvl3pPr marL="914388" indent="0">
              <a:buNone/>
              <a:defRPr sz="1000"/>
            </a:lvl3pPr>
            <a:lvl4pPr marL="1371583" indent="0">
              <a:buNone/>
              <a:defRPr sz="900"/>
            </a:lvl4pPr>
            <a:lvl5pPr marL="1828777" indent="0">
              <a:buNone/>
              <a:defRPr sz="900"/>
            </a:lvl5pPr>
            <a:lvl6pPr marL="2285971" indent="0">
              <a:buNone/>
              <a:defRPr sz="900"/>
            </a:lvl6pPr>
            <a:lvl7pPr marL="2743165" indent="0">
              <a:buNone/>
              <a:defRPr sz="900"/>
            </a:lvl7pPr>
            <a:lvl8pPr marL="3200360" indent="0">
              <a:buNone/>
              <a:defRPr sz="900"/>
            </a:lvl8pPr>
            <a:lvl9pPr marL="365755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195" indent="0">
              <a:buNone/>
              <a:defRPr sz="2000" b="1"/>
            </a:lvl2pPr>
            <a:lvl3pPr marL="914388" indent="0">
              <a:buNone/>
              <a:defRPr sz="1800" b="1"/>
            </a:lvl3pPr>
            <a:lvl4pPr marL="1371583" indent="0">
              <a:buNone/>
              <a:defRPr sz="1600" b="1"/>
            </a:lvl4pPr>
            <a:lvl5pPr marL="1828777" indent="0">
              <a:buNone/>
              <a:defRPr sz="1600" b="1"/>
            </a:lvl5pPr>
            <a:lvl6pPr marL="2285971" indent="0">
              <a:buNone/>
              <a:defRPr sz="1600" b="1"/>
            </a:lvl6pPr>
            <a:lvl7pPr marL="2743165" indent="0">
              <a:buNone/>
              <a:defRPr sz="1600" b="1"/>
            </a:lvl7pPr>
            <a:lvl8pPr marL="3200360" indent="0">
              <a:buNone/>
              <a:defRPr sz="1600" b="1"/>
            </a:lvl8pPr>
            <a:lvl9pPr marL="365755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4"/>
            <a:ext cx="3303353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95" indent="0">
              <a:buNone/>
              <a:defRPr sz="1600"/>
            </a:lvl2pPr>
            <a:lvl3pPr marL="914388" indent="0">
              <a:buNone/>
              <a:defRPr sz="1600"/>
            </a:lvl3pPr>
            <a:lvl4pPr marL="1371583" indent="0">
              <a:buNone/>
              <a:defRPr sz="1600"/>
            </a:lvl4pPr>
            <a:lvl5pPr marL="1828777" indent="0">
              <a:buNone/>
              <a:defRPr sz="1600"/>
            </a:lvl5pPr>
            <a:lvl6pPr marL="2285971" indent="0">
              <a:buNone/>
              <a:defRPr sz="1600"/>
            </a:lvl6pPr>
            <a:lvl7pPr marL="2743165" indent="0">
              <a:buNone/>
              <a:defRPr sz="1600"/>
            </a:lvl7pPr>
            <a:lvl8pPr marL="3200360" indent="0">
              <a:buNone/>
              <a:defRPr sz="1600"/>
            </a:lvl8pPr>
            <a:lvl9pPr marL="3657555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3"/>
            <a:ext cx="3303353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95" indent="0">
              <a:buNone/>
              <a:defRPr sz="1200"/>
            </a:lvl2pPr>
            <a:lvl3pPr marL="914388" indent="0">
              <a:buNone/>
              <a:defRPr sz="1000"/>
            </a:lvl3pPr>
            <a:lvl4pPr marL="1371583" indent="0">
              <a:buNone/>
              <a:defRPr sz="900"/>
            </a:lvl4pPr>
            <a:lvl5pPr marL="1828777" indent="0">
              <a:buNone/>
              <a:defRPr sz="900"/>
            </a:lvl5pPr>
            <a:lvl6pPr marL="2285971" indent="0">
              <a:buNone/>
              <a:defRPr sz="900"/>
            </a:lvl6pPr>
            <a:lvl7pPr marL="2743165" indent="0">
              <a:buNone/>
              <a:defRPr sz="900"/>
            </a:lvl7pPr>
            <a:lvl8pPr marL="3200360" indent="0">
              <a:buNone/>
              <a:defRPr sz="900"/>
            </a:lvl8pPr>
            <a:lvl9pPr marL="365755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306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195" indent="0">
              <a:buNone/>
              <a:defRPr sz="2000" b="1"/>
            </a:lvl2pPr>
            <a:lvl3pPr marL="914388" indent="0">
              <a:buNone/>
              <a:defRPr sz="1800" b="1"/>
            </a:lvl3pPr>
            <a:lvl4pPr marL="1371583" indent="0">
              <a:buNone/>
              <a:defRPr sz="1600" b="1"/>
            </a:lvl4pPr>
            <a:lvl5pPr marL="1828777" indent="0">
              <a:buNone/>
              <a:defRPr sz="1600" b="1"/>
            </a:lvl5pPr>
            <a:lvl6pPr marL="2285971" indent="0">
              <a:buNone/>
              <a:defRPr sz="1600" b="1"/>
            </a:lvl6pPr>
            <a:lvl7pPr marL="2743165" indent="0">
              <a:buNone/>
              <a:defRPr sz="1600" b="1"/>
            </a:lvl7pPr>
            <a:lvl8pPr marL="3200360" indent="0">
              <a:buNone/>
              <a:defRPr sz="1600" b="1"/>
            </a:lvl8pPr>
            <a:lvl9pPr marL="3657555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300" y="2367094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95" indent="0">
              <a:buNone/>
              <a:defRPr sz="1600"/>
            </a:lvl2pPr>
            <a:lvl3pPr marL="914388" indent="0">
              <a:buNone/>
              <a:defRPr sz="1600"/>
            </a:lvl3pPr>
            <a:lvl4pPr marL="1371583" indent="0">
              <a:buNone/>
              <a:defRPr sz="1600"/>
            </a:lvl4pPr>
            <a:lvl5pPr marL="1828777" indent="0">
              <a:buNone/>
              <a:defRPr sz="1600"/>
            </a:lvl5pPr>
            <a:lvl6pPr marL="2285971" indent="0">
              <a:buNone/>
              <a:defRPr sz="1600"/>
            </a:lvl6pPr>
            <a:lvl7pPr marL="2743165" indent="0">
              <a:buNone/>
              <a:defRPr sz="1600"/>
            </a:lvl7pPr>
            <a:lvl8pPr marL="3200360" indent="0">
              <a:buNone/>
              <a:defRPr sz="1600"/>
            </a:lvl8pPr>
            <a:lvl9pPr marL="3657555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5" y="4781082"/>
            <a:ext cx="3305052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195" indent="0">
              <a:buNone/>
              <a:defRPr sz="1200"/>
            </a:lvl2pPr>
            <a:lvl3pPr marL="914388" indent="0">
              <a:buNone/>
              <a:defRPr sz="1000"/>
            </a:lvl3pPr>
            <a:lvl4pPr marL="1371583" indent="0">
              <a:buNone/>
              <a:defRPr sz="900"/>
            </a:lvl4pPr>
            <a:lvl5pPr marL="1828777" indent="0">
              <a:buNone/>
              <a:defRPr sz="900"/>
            </a:lvl5pPr>
            <a:lvl6pPr marL="2285971" indent="0">
              <a:buNone/>
              <a:defRPr sz="900"/>
            </a:lvl6pPr>
            <a:lvl7pPr marL="2743165" indent="0">
              <a:buNone/>
              <a:defRPr sz="900"/>
            </a:lvl7pPr>
            <a:lvl8pPr marL="3200360" indent="0">
              <a:buNone/>
              <a:defRPr sz="900"/>
            </a:lvl8pPr>
            <a:lvl9pPr marL="3657555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171365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2367096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4179243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09603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6" y="609603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234120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78"/>
          <a:stretch>
            <a:fillRect/>
          </a:stretch>
        </p:blipFill>
        <p:spPr bwMode="auto">
          <a:xfrm>
            <a:off x="2" y="589883"/>
            <a:ext cx="12177714" cy="625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 userDrawn="1"/>
        </p:nvSpPr>
        <p:spPr>
          <a:xfrm>
            <a:off x="10261602" y="609601"/>
            <a:ext cx="595314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3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 userDrawn="1"/>
        </p:nvSpPr>
        <p:spPr>
          <a:xfrm>
            <a:off x="304806" y="6553203"/>
            <a:ext cx="858839" cy="35401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91438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id-ID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16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2" y="128590"/>
            <a:ext cx="1206500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3316" y="193801"/>
            <a:ext cx="7503886" cy="792162"/>
          </a:xfrm>
        </p:spPr>
        <p:txBody>
          <a:bodyPr>
            <a:normAutofit/>
          </a:bodyPr>
          <a:lstStyle>
            <a:lvl1pPr algn="r">
              <a:defRPr sz="4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295405"/>
            <a:ext cx="11480800" cy="46481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 rtl="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412753" y="6111878"/>
            <a:ext cx="10356852" cy="365125"/>
          </a:xfrm>
        </p:spPr>
        <p:txBody>
          <a:bodyPr/>
          <a:lstStyle>
            <a:lvl1pPr algn="l">
              <a:defRPr/>
            </a:lvl1pPr>
          </a:lstStyle>
          <a:p>
            <a:pPr defTabSz="914388">
              <a:defRPr/>
            </a:pPr>
            <a:endParaRPr lang="en-US" sz="1200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700991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4445878" y="611387"/>
            <a:ext cx="3633940" cy="3633938"/>
          </a:xfrm>
          <a:custGeom>
            <a:avLst/>
            <a:gdLst>
              <a:gd name="connsiteX0" fmla="*/ 3633938 w 7267875"/>
              <a:gd name="connsiteY0" fmla="*/ 0 h 7267876"/>
              <a:gd name="connsiteX1" fmla="*/ 7263148 w 7267875"/>
              <a:gd name="connsiteY1" fmla="*/ 3446936 h 7267876"/>
              <a:gd name="connsiteX2" fmla="*/ 7267875 w 7267875"/>
              <a:gd name="connsiteY2" fmla="*/ 3633900 h 7267876"/>
              <a:gd name="connsiteX3" fmla="*/ 7267875 w 7267875"/>
              <a:gd name="connsiteY3" fmla="*/ 3633977 h 7267876"/>
              <a:gd name="connsiteX4" fmla="*/ 7263148 w 7267875"/>
              <a:gd name="connsiteY4" fmla="*/ 3820940 h 7267876"/>
              <a:gd name="connsiteX5" fmla="*/ 3633938 w 7267875"/>
              <a:gd name="connsiteY5" fmla="*/ 7267876 h 7267876"/>
              <a:gd name="connsiteX6" fmla="*/ 0 w 7267875"/>
              <a:gd name="connsiteY6" fmla="*/ 3633938 h 7267876"/>
              <a:gd name="connsiteX7" fmla="*/ 3633938 w 7267875"/>
              <a:gd name="connsiteY7" fmla="*/ 0 h 7267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67875" h="7267876">
                <a:moveTo>
                  <a:pt x="3633938" y="0"/>
                </a:moveTo>
                <a:cubicBezTo>
                  <a:pt x="5578189" y="0"/>
                  <a:pt x="7165819" y="1526872"/>
                  <a:pt x="7263148" y="3446936"/>
                </a:cubicBezTo>
                <a:lnTo>
                  <a:pt x="7267875" y="3633900"/>
                </a:lnTo>
                <a:lnTo>
                  <a:pt x="7267875" y="3633977"/>
                </a:lnTo>
                <a:lnTo>
                  <a:pt x="7263148" y="3820940"/>
                </a:lnTo>
                <a:cubicBezTo>
                  <a:pt x="7165819" y="5741004"/>
                  <a:pt x="5578189" y="7267876"/>
                  <a:pt x="3633938" y="7267876"/>
                </a:cubicBezTo>
                <a:cubicBezTo>
                  <a:pt x="1626969" y="7267876"/>
                  <a:pt x="0" y="5640907"/>
                  <a:pt x="0" y="3633938"/>
                </a:cubicBezTo>
                <a:cubicBezTo>
                  <a:pt x="0" y="1626969"/>
                  <a:pt x="1626969" y="0"/>
                  <a:pt x="36339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6"/>
          </p:nvPr>
        </p:nvSpPr>
        <p:spPr>
          <a:xfrm>
            <a:off x="1786601" y="2839029"/>
            <a:ext cx="1761401" cy="1761401"/>
          </a:xfrm>
          <a:custGeom>
            <a:avLst/>
            <a:gdLst>
              <a:gd name="connsiteX0" fmla="*/ 3633938 w 7267875"/>
              <a:gd name="connsiteY0" fmla="*/ 0 h 7267876"/>
              <a:gd name="connsiteX1" fmla="*/ 7263148 w 7267875"/>
              <a:gd name="connsiteY1" fmla="*/ 3446936 h 7267876"/>
              <a:gd name="connsiteX2" fmla="*/ 7267875 w 7267875"/>
              <a:gd name="connsiteY2" fmla="*/ 3633900 h 7267876"/>
              <a:gd name="connsiteX3" fmla="*/ 7267875 w 7267875"/>
              <a:gd name="connsiteY3" fmla="*/ 3633977 h 7267876"/>
              <a:gd name="connsiteX4" fmla="*/ 7263148 w 7267875"/>
              <a:gd name="connsiteY4" fmla="*/ 3820940 h 7267876"/>
              <a:gd name="connsiteX5" fmla="*/ 3633938 w 7267875"/>
              <a:gd name="connsiteY5" fmla="*/ 7267876 h 7267876"/>
              <a:gd name="connsiteX6" fmla="*/ 0 w 7267875"/>
              <a:gd name="connsiteY6" fmla="*/ 3633938 h 7267876"/>
              <a:gd name="connsiteX7" fmla="*/ 3633938 w 7267875"/>
              <a:gd name="connsiteY7" fmla="*/ 0 h 7267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67875" h="7267876">
                <a:moveTo>
                  <a:pt x="3633938" y="0"/>
                </a:moveTo>
                <a:cubicBezTo>
                  <a:pt x="5578189" y="0"/>
                  <a:pt x="7165819" y="1526872"/>
                  <a:pt x="7263148" y="3446936"/>
                </a:cubicBezTo>
                <a:lnTo>
                  <a:pt x="7267875" y="3633900"/>
                </a:lnTo>
                <a:lnTo>
                  <a:pt x="7267875" y="3633977"/>
                </a:lnTo>
                <a:lnTo>
                  <a:pt x="7263148" y="3820940"/>
                </a:lnTo>
                <a:cubicBezTo>
                  <a:pt x="7165819" y="5741004"/>
                  <a:pt x="5578189" y="7267876"/>
                  <a:pt x="3633938" y="7267876"/>
                </a:cubicBezTo>
                <a:cubicBezTo>
                  <a:pt x="1626969" y="7267876"/>
                  <a:pt x="0" y="5640907"/>
                  <a:pt x="0" y="3633938"/>
                </a:cubicBezTo>
                <a:cubicBezTo>
                  <a:pt x="0" y="1626969"/>
                  <a:pt x="1626969" y="0"/>
                  <a:pt x="36339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2" name="图片占位符 11"/>
          <p:cNvSpPr>
            <a:spLocks noGrp="1"/>
          </p:cNvSpPr>
          <p:nvPr>
            <p:ph type="pic" sz="quarter" idx="17"/>
          </p:nvPr>
        </p:nvSpPr>
        <p:spPr>
          <a:xfrm>
            <a:off x="9182050" y="2839029"/>
            <a:ext cx="1761401" cy="1761401"/>
          </a:xfrm>
          <a:custGeom>
            <a:avLst/>
            <a:gdLst>
              <a:gd name="connsiteX0" fmla="*/ 3633938 w 7267875"/>
              <a:gd name="connsiteY0" fmla="*/ 0 h 7267876"/>
              <a:gd name="connsiteX1" fmla="*/ 7263148 w 7267875"/>
              <a:gd name="connsiteY1" fmla="*/ 3446936 h 7267876"/>
              <a:gd name="connsiteX2" fmla="*/ 7267875 w 7267875"/>
              <a:gd name="connsiteY2" fmla="*/ 3633900 h 7267876"/>
              <a:gd name="connsiteX3" fmla="*/ 7267875 w 7267875"/>
              <a:gd name="connsiteY3" fmla="*/ 3633977 h 7267876"/>
              <a:gd name="connsiteX4" fmla="*/ 7263148 w 7267875"/>
              <a:gd name="connsiteY4" fmla="*/ 3820940 h 7267876"/>
              <a:gd name="connsiteX5" fmla="*/ 3633938 w 7267875"/>
              <a:gd name="connsiteY5" fmla="*/ 7267876 h 7267876"/>
              <a:gd name="connsiteX6" fmla="*/ 0 w 7267875"/>
              <a:gd name="connsiteY6" fmla="*/ 3633938 h 7267876"/>
              <a:gd name="connsiteX7" fmla="*/ 3633938 w 7267875"/>
              <a:gd name="connsiteY7" fmla="*/ 0 h 7267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67875" h="7267876">
                <a:moveTo>
                  <a:pt x="3633938" y="0"/>
                </a:moveTo>
                <a:cubicBezTo>
                  <a:pt x="5578189" y="0"/>
                  <a:pt x="7165819" y="1526872"/>
                  <a:pt x="7263148" y="3446936"/>
                </a:cubicBezTo>
                <a:lnTo>
                  <a:pt x="7267875" y="3633900"/>
                </a:lnTo>
                <a:lnTo>
                  <a:pt x="7267875" y="3633977"/>
                </a:lnTo>
                <a:lnTo>
                  <a:pt x="7263148" y="3820940"/>
                </a:lnTo>
                <a:cubicBezTo>
                  <a:pt x="7165819" y="5741004"/>
                  <a:pt x="5578189" y="7267876"/>
                  <a:pt x="3633938" y="7267876"/>
                </a:cubicBezTo>
                <a:cubicBezTo>
                  <a:pt x="1626969" y="7267876"/>
                  <a:pt x="0" y="5640907"/>
                  <a:pt x="0" y="3633938"/>
                </a:cubicBezTo>
                <a:cubicBezTo>
                  <a:pt x="0" y="1626969"/>
                  <a:pt x="1626969" y="0"/>
                  <a:pt x="363393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91439" tIns="45719" rIns="91439" bIns="45719" anchor="t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144898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3"/>
          </p:nvPr>
        </p:nvSpPr>
        <p:spPr>
          <a:xfrm>
            <a:off x="4035376" y="2336433"/>
            <a:ext cx="1812932" cy="2360452"/>
          </a:xfrm>
          <a:custGeom>
            <a:avLst/>
            <a:gdLst>
              <a:gd name="connsiteX0" fmla="*/ 1812931 w 3625861"/>
              <a:gd name="connsiteY0" fmla="*/ 0 h 4720903"/>
              <a:gd name="connsiteX1" fmla="*/ 3625861 w 3625861"/>
              <a:gd name="connsiteY1" fmla="*/ 4720903 h 4720903"/>
              <a:gd name="connsiteX2" fmla="*/ 0 w 3625861"/>
              <a:gd name="connsiteY2" fmla="*/ 4720903 h 4720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5861" h="4720903">
                <a:moveTo>
                  <a:pt x="1812931" y="0"/>
                </a:moveTo>
                <a:lnTo>
                  <a:pt x="3625861" y="4720903"/>
                </a:lnTo>
                <a:lnTo>
                  <a:pt x="0" y="472090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91439" tIns="45719" rIns="91439" bIns="45719" anchor="t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93858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8333734"/>
            <a:ext cx="2844800" cy="36512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64188" y="6540501"/>
            <a:ext cx="296556" cy="287258"/>
          </a:xfrm>
        </p:spPr>
        <p:txBody>
          <a:bodyPr/>
          <a:lstStyle/>
          <a:p>
            <a:fld id="{D60D1EDE-7116-2443-9BDD-368CE5B37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06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-1"/>
            <a:ext cx="12192004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6" y="618520"/>
            <a:ext cx="10364452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6" y="2367096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8" y="58832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0B50157-C4FF-463C-AEA7-CFCD675292FD}" type="datetimeFigureOut">
              <a:rPr lang="en-ID" smtClean="0"/>
              <a:t>07/09/2022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81" y="5883278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9" y="5883278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770FA59-48B6-4F49-8696-0F92FF9F7335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6991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  <p:sldLayoutId id="2147483749" r:id="rId19"/>
    <p:sldLayoutId id="2147483750" r:id="rId20"/>
    <p:sldLayoutId id="2147483751" r:id="rId21"/>
  </p:sldLayoutIdLst>
  <p:txStyles>
    <p:titleStyle>
      <a:lvl1pPr algn="ctr" defTabSz="914388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597" indent="-228597" algn="l" defTabSz="914388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792" indent="-228597" algn="l" defTabSz="914388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2985" indent="-228597" algn="l" defTabSz="914388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180" indent="-228597" algn="l" defTabSz="914388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375" indent="-228597" algn="l" defTabSz="914388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569" indent="-228597" algn="l" defTabSz="914388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763" indent="-228597" algn="l" defTabSz="914388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8957" indent="-228597" algn="l" defTabSz="914388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152" indent="-228597" algn="l" defTabSz="914388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8" algn="l" defTabSz="9143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5" algn="l" defTabSz="9143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0" algn="l" defTabSz="9143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10" Type="http://schemas.openxmlformats.org/officeDocument/2006/relationships/image" Target="../media/image18.jpg"/><Relationship Id="rId4" Type="http://schemas.openxmlformats.org/officeDocument/2006/relationships/diagramData" Target="../diagrams/data1.xml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Document.docx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jpg"/><Relationship Id="rId7" Type="http://schemas.openxmlformats.org/officeDocument/2006/relationships/image" Target="../media/image3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ibanking.bankjateng.co.id/bpduta" TargetMode="Externa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41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7.jp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18">
            <a:extLst>
              <a:ext uri="{FF2B5EF4-FFF2-40B4-BE49-F238E27FC236}">
                <a16:creationId xmlns:a16="http://schemas.microsoft.com/office/drawing/2014/main" id="{C36BDDD1-26D4-4693-B7A5-5A19AAD21157}"/>
              </a:ext>
            </a:extLst>
          </p:cNvPr>
          <p:cNvGrpSpPr/>
          <p:nvPr/>
        </p:nvGrpSpPr>
        <p:grpSpPr>
          <a:xfrm>
            <a:off x="3" y="734637"/>
            <a:ext cx="12191999" cy="3791036"/>
            <a:chOff x="0" y="-1"/>
            <a:chExt cx="4114800" cy="4395505"/>
          </a:xfrm>
        </p:grpSpPr>
        <p:sp>
          <p:nvSpPr>
            <p:cNvPr id="5" name="object 19">
              <a:extLst>
                <a:ext uri="{FF2B5EF4-FFF2-40B4-BE49-F238E27FC236}">
                  <a16:creationId xmlns:a16="http://schemas.microsoft.com/office/drawing/2014/main" id="{338A15F8-69A2-4C7C-8895-5AA1199CFFFB}"/>
                </a:ext>
              </a:extLst>
            </p:cNvPr>
            <p:cNvSpPr/>
            <p:nvPr/>
          </p:nvSpPr>
          <p:spPr>
            <a:xfrm>
              <a:off x="0" y="-1"/>
              <a:ext cx="4114800" cy="4395505"/>
            </a:xfrm>
            <a:custGeom>
              <a:avLst/>
              <a:gdLst/>
              <a:ahLst/>
              <a:cxnLst/>
              <a:rect l="l" t="t" r="r" b="b"/>
              <a:pathLst>
                <a:path w="4114800" h="4038600">
                  <a:moveTo>
                    <a:pt x="0" y="4038600"/>
                  </a:moveTo>
                  <a:lnTo>
                    <a:pt x="4114800" y="40386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4038600"/>
                  </a:lnTo>
                  <a:close/>
                </a:path>
              </a:pathLst>
            </a:custGeom>
            <a:solidFill>
              <a:srgbClr val="A2171E"/>
            </a:solidFill>
          </p:spPr>
          <p:txBody>
            <a:bodyPr wrap="square" lIns="0" tIns="0" rIns="0" bIns="0" rtlCol="0"/>
            <a:lstStyle/>
            <a:p>
              <a:pPr defTabSz="457195"/>
              <a:endParaRPr dirty="0">
                <a:solidFill>
                  <a:prstClr val="black"/>
                </a:solidFill>
                <a:latin typeface="Gill Sans MT" panose="020B0502020104020203"/>
              </a:endParaRPr>
            </a:p>
          </p:txBody>
        </p:sp>
        <p:sp>
          <p:nvSpPr>
            <p:cNvPr id="6" name="object 20">
              <a:extLst>
                <a:ext uri="{FF2B5EF4-FFF2-40B4-BE49-F238E27FC236}">
                  <a16:creationId xmlns:a16="http://schemas.microsoft.com/office/drawing/2014/main" id="{37CDAE88-89B5-4C2D-9438-B50CFDE28EE7}"/>
                </a:ext>
              </a:extLst>
            </p:cNvPr>
            <p:cNvSpPr/>
            <p:nvPr/>
          </p:nvSpPr>
          <p:spPr>
            <a:xfrm>
              <a:off x="679987" y="1124869"/>
              <a:ext cx="3433251" cy="3137586"/>
            </a:xfrm>
            <a:custGeom>
              <a:avLst/>
              <a:gdLst/>
              <a:ahLst/>
              <a:cxnLst/>
              <a:rect l="l" t="t" r="r" b="b"/>
              <a:pathLst>
                <a:path w="3505200" h="3248660">
                  <a:moveTo>
                    <a:pt x="1244399" y="0"/>
                  </a:moveTo>
                  <a:lnTo>
                    <a:pt x="1188726" y="748"/>
                  </a:lnTo>
                  <a:lnTo>
                    <a:pt x="1134187" y="2598"/>
                  </a:lnTo>
                  <a:lnTo>
                    <a:pt x="1080793" y="5537"/>
                  </a:lnTo>
                  <a:lnTo>
                    <a:pt x="1028552" y="9551"/>
                  </a:lnTo>
                  <a:lnTo>
                    <a:pt x="977476" y="14627"/>
                  </a:lnTo>
                  <a:lnTo>
                    <a:pt x="927575" y="20753"/>
                  </a:lnTo>
                  <a:lnTo>
                    <a:pt x="878860" y="27915"/>
                  </a:lnTo>
                  <a:lnTo>
                    <a:pt x="831339" y="36101"/>
                  </a:lnTo>
                  <a:lnTo>
                    <a:pt x="785024" y="45297"/>
                  </a:lnTo>
                  <a:lnTo>
                    <a:pt x="739925" y="55490"/>
                  </a:lnTo>
                  <a:lnTo>
                    <a:pt x="696052" y="66669"/>
                  </a:lnTo>
                  <a:lnTo>
                    <a:pt x="653416" y="78818"/>
                  </a:lnTo>
                  <a:lnTo>
                    <a:pt x="612026" y="91927"/>
                  </a:lnTo>
                  <a:lnTo>
                    <a:pt x="571892" y="105980"/>
                  </a:lnTo>
                  <a:lnTo>
                    <a:pt x="533026" y="120967"/>
                  </a:lnTo>
                  <a:lnTo>
                    <a:pt x="495437" y="136873"/>
                  </a:lnTo>
                  <a:lnTo>
                    <a:pt x="459136" y="153685"/>
                  </a:lnTo>
                  <a:lnTo>
                    <a:pt x="424132" y="171392"/>
                  </a:lnTo>
                  <a:lnTo>
                    <a:pt x="390436" y="189978"/>
                  </a:lnTo>
                  <a:lnTo>
                    <a:pt x="327010" y="229742"/>
                  </a:lnTo>
                  <a:lnTo>
                    <a:pt x="268939" y="272872"/>
                  </a:lnTo>
                  <a:lnTo>
                    <a:pt x="216304" y="319266"/>
                  </a:lnTo>
                  <a:lnTo>
                    <a:pt x="169188" y="368818"/>
                  </a:lnTo>
                  <a:lnTo>
                    <a:pt x="127673" y="421426"/>
                  </a:lnTo>
                  <a:lnTo>
                    <a:pt x="91840" y="476984"/>
                  </a:lnTo>
                  <a:lnTo>
                    <a:pt x="61772" y="535390"/>
                  </a:lnTo>
                  <a:lnTo>
                    <a:pt x="37551" y="596540"/>
                  </a:lnTo>
                  <a:lnTo>
                    <a:pt x="19258" y="660329"/>
                  </a:lnTo>
                  <a:lnTo>
                    <a:pt x="6975" y="726654"/>
                  </a:lnTo>
                  <a:lnTo>
                    <a:pt x="785" y="795411"/>
                  </a:lnTo>
                  <a:lnTo>
                    <a:pt x="0" y="830669"/>
                  </a:lnTo>
                  <a:lnTo>
                    <a:pt x="768" y="866496"/>
                  </a:lnTo>
                  <a:lnTo>
                    <a:pt x="7008" y="939806"/>
                  </a:lnTo>
                  <a:lnTo>
                    <a:pt x="19586" y="1015235"/>
                  </a:lnTo>
                  <a:lnTo>
                    <a:pt x="28277" y="1053712"/>
                  </a:lnTo>
                  <a:lnTo>
                    <a:pt x="38584" y="1092681"/>
                  </a:lnTo>
                  <a:lnTo>
                    <a:pt x="50515" y="1132127"/>
                  </a:lnTo>
                  <a:lnTo>
                    <a:pt x="64083" y="1172039"/>
                  </a:lnTo>
                  <a:lnTo>
                    <a:pt x="79297" y="1212403"/>
                  </a:lnTo>
                  <a:lnTo>
                    <a:pt x="96167" y="1253206"/>
                  </a:lnTo>
                  <a:lnTo>
                    <a:pt x="114703" y="1294435"/>
                  </a:lnTo>
                  <a:lnTo>
                    <a:pt x="134916" y="1336078"/>
                  </a:lnTo>
                  <a:lnTo>
                    <a:pt x="156816" y="1378121"/>
                  </a:lnTo>
                  <a:lnTo>
                    <a:pt x="180413" y="1420551"/>
                  </a:lnTo>
                  <a:lnTo>
                    <a:pt x="205717" y="1463355"/>
                  </a:lnTo>
                  <a:lnTo>
                    <a:pt x="232739" y="1506520"/>
                  </a:lnTo>
                  <a:lnTo>
                    <a:pt x="255340" y="1540918"/>
                  </a:lnTo>
                  <a:lnTo>
                    <a:pt x="278803" y="1575193"/>
                  </a:lnTo>
                  <a:lnTo>
                    <a:pt x="303114" y="1609339"/>
                  </a:lnTo>
                  <a:lnTo>
                    <a:pt x="328259" y="1643348"/>
                  </a:lnTo>
                  <a:lnTo>
                    <a:pt x="354224" y="1677212"/>
                  </a:lnTo>
                  <a:lnTo>
                    <a:pt x="380995" y="1710924"/>
                  </a:lnTo>
                  <a:lnTo>
                    <a:pt x="408556" y="1744476"/>
                  </a:lnTo>
                  <a:lnTo>
                    <a:pt x="436895" y="1777861"/>
                  </a:lnTo>
                  <a:lnTo>
                    <a:pt x="465997" y="1811071"/>
                  </a:lnTo>
                  <a:lnTo>
                    <a:pt x="495848" y="1844098"/>
                  </a:lnTo>
                  <a:lnTo>
                    <a:pt x="526433" y="1876936"/>
                  </a:lnTo>
                  <a:lnTo>
                    <a:pt x="557738" y="1909575"/>
                  </a:lnTo>
                  <a:lnTo>
                    <a:pt x="589749" y="1942010"/>
                  </a:lnTo>
                  <a:lnTo>
                    <a:pt x="622453" y="1974232"/>
                  </a:lnTo>
                  <a:lnTo>
                    <a:pt x="655834" y="2006234"/>
                  </a:lnTo>
                  <a:lnTo>
                    <a:pt x="689879" y="2038007"/>
                  </a:lnTo>
                  <a:lnTo>
                    <a:pt x="724573" y="2069546"/>
                  </a:lnTo>
                  <a:lnTo>
                    <a:pt x="759902" y="2100842"/>
                  </a:lnTo>
                  <a:lnTo>
                    <a:pt x="795852" y="2131887"/>
                  </a:lnTo>
                  <a:lnTo>
                    <a:pt x="832409" y="2162674"/>
                  </a:lnTo>
                  <a:lnTo>
                    <a:pt x="869558" y="2193196"/>
                  </a:lnTo>
                  <a:lnTo>
                    <a:pt x="907286" y="2223444"/>
                  </a:lnTo>
                  <a:lnTo>
                    <a:pt x="945578" y="2253412"/>
                  </a:lnTo>
                  <a:lnTo>
                    <a:pt x="984420" y="2283091"/>
                  </a:lnTo>
                  <a:lnTo>
                    <a:pt x="1023798" y="2312475"/>
                  </a:lnTo>
                  <a:lnTo>
                    <a:pt x="1063697" y="2341556"/>
                  </a:lnTo>
                  <a:lnTo>
                    <a:pt x="1104103" y="2370325"/>
                  </a:lnTo>
                  <a:lnTo>
                    <a:pt x="1145003" y="2398776"/>
                  </a:lnTo>
                  <a:lnTo>
                    <a:pt x="1186382" y="2426901"/>
                  </a:lnTo>
                  <a:lnTo>
                    <a:pt x="1228225" y="2454693"/>
                  </a:lnTo>
                  <a:lnTo>
                    <a:pt x="1270519" y="2482143"/>
                  </a:lnTo>
                  <a:lnTo>
                    <a:pt x="1313250" y="2509245"/>
                  </a:lnTo>
                  <a:lnTo>
                    <a:pt x="1356402" y="2535991"/>
                  </a:lnTo>
                  <a:lnTo>
                    <a:pt x="1399963" y="2562372"/>
                  </a:lnTo>
                  <a:lnTo>
                    <a:pt x="1443917" y="2588383"/>
                  </a:lnTo>
                  <a:lnTo>
                    <a:pt x="1488251" y="2614014"/>
                  </a:lnTo>
                  <a:lnTo>
                    <a:pt x="1532950" y="2639260"/>
                  </a:lnTo>
                  <a:lnTo>
                    <a:pt x="1578000" y="2664111"/>
                  </a:lnTo>
                  <a:lnTo>
                    <a:pt x="1623388" y="2688560"/>
                  </a:lnTo>
                  <a:lnTo>
                    <a:pt x="1669098" y="2712601"/>
                  </a:lnTo>
                  <a:lnTo>
                    <a:pt x="1715116" y="2736224"/>
                  </a:lnTo>
                  <a:lnTo>
                    <a:pt x="1761430" y="2759424"/>
                  </a:lnTo>
                  <a:lnTo>
                    <a:pt x="1808023" y="2782192"/>
                  </a:lnTo>
                  <a:lnTo>
                    <a:pt x="1854882" y="2804520"/>
                  </a:lnTo>
                  <a:lnTo>
                    <a:pt x="1901993" y="2826402"/>
                  </a:lnTo>
                  <a:lnTo>
                    <a:pt x="1949342" y="2847829"/>
                  </a:lnTo>
                  <a:lnTo>
                    <a:pt x="1996914" y="2868794"/>
                  </a:lnTo>
                  <a:lnTo>
                    <a:pt x="2044695" y="2889290"/>
                  </a:lnTo>
                  <a:lnTo>
                    <a:pt x="2092671" y="2909308"/>
                  </a:lnTo>
                  <a:lnTo>
                    <a:pt x="2140828" y="2928842"/>
                  </a:lnTo>
                  <a:lnTo>
                    <a:pt x="2189152" y="2947884"/>
                  </a:lnTo>
                  <a:lnTo>
                    <a:pt x="2237628" y="2966426"/>
                  </a:lnTo>
                  <a:lnTo>
                    <a:pt x="2286242" y="2984460"/>
                  </a:lnTo>
                  <a:lnTo>
                    <a:pt x="2334980" y="3001980"/>
                  </a:lnTo>
                  <a:lnTo>
                    <a:pt x="2383828" y="3018977"/>
                  </a:lnTo>
                  <a:lnTo>
                    <a:pt x="2432772" y="3035445"/>
                  </a:lnTo>
                  <a:lnTo>
                    <a:pt x="2481797" y="3051375"/>
                  </a:lnTo>
                  <a:lnTo>
                    <a:pt x="2530889" y="3066759"/>
                  </a:lnTo>
                  <a:lnTo>
                    <a:pt x="2580035" y="3081591"/>
                  </a:lnTo>
                  <a:lnTo>
                    <a:pt x="2629219" y="3095863"/>
                  </a:lnTo>
                  <a:lnTo>
                    <a:pt x="2678427" y="3109567"/>
                  </a:lnTo>
                  <a:lnTo>
                    <a:pt x="2727646" y="3122696"/>
                  </a:lnTo>
                  <a:lnTo>
                    <a:pt x="2776862" y="3135242"/>
                  </a:lnTo>
                  <a:lnTo>
                    <a:pt x="2826059" y="3147198"/>
                  </a:lnTo>
                  <a:lnTo>
                    <a:pt x="2875224" y="3158555"/>
                  </a:lnTo>
                  <a:lnTo>
                    <a:pt x="2924343" y="3169307"/>
                  </a:lnTo>
                  <a:lnTo>
                    <a:pt x="2973401" y="3179446"/>
                  </a:lnTo>
                  <a:lnTo>
                    <a:pt x="3022385" y="3188964"/>
                  </a:lnTo>
                  <a:lnTo>
                    <a:pt x="3071279" y="3197855"/>
                  </a:lnTo>
                  <a:lnTo>
                    <a:pt x="3120071" y="3206109"/>
                  </a:lnTo>
                  <a:lnTo>
                    <a:pt x="3168744" y="3213720"/>
                  </a:lnTo>
                  <a:lnTo>
                    <a:pt x="3217287" y="3220680"/>
                  </a:lnTo>
                  <a:lnTo>
                    <a:pt x="3265683" y="3226982"/>
                  </a:lnTo>
                  <a:lnTo>
                    <a:pt x="3313920" y="3232618"/>
                  </a:lnTo>
                  <a:lnTo>
                    <a:pt x="3361983" y="3237580"/>
                  </a:lnTo>
                  <a:lnTo>
                    <a:pt x="3409857" y="3241862"/>
                  </a:lnTo>
                  <a:lnTo>
                    <a:pt x="3457528" y="3245454"/>
                  </a:lnTo>
                  <a:lnTo>
                    <a:pt x="3504983" y="3248351"/>
                  </a:lnTo>
                  <a:lnTo>
                    <a:pt x="3503967" y="678988"/>
                  </a:lnTo>
                  <a:lnTo>
                    <a:pt x="3458739" y="652492"/>
                  </a:lnTo>
                  <a:lnTo>
                    <a:pt x="3413207" y="626448"/>
                  </a:lnTo>
                  <a:lnTo>
                    <a:pt x="3367384" y="600863"/>
                  </a:lnTo>
                  <a:lnTo>
                    <a:pt x="3321286" y="575740"/>
                  </a:lnTo>
                  <a:lnTo>
                    <a:pt x="3274927" y="551086"/>
                  </a:lnTo>
                  <a:lnTo>
                    <a:pt x="3228321" y="526903"/>
                  </a:lnTo>
                  <a:lnTo>
                    <a:pt x="3181483" y="503197"/>
                  </a:lnTo>
                  <a:lnTo>
                    <a:pt x="3134428" y="479973"/>
                  </a:lnTo>
                  <a:lnTo>
                    <a:pt x="3087169" y="457236"/>
                  </a:lnTo>
                  <a:lnTo>
                    <a:pt x="3039722" y="434989"/>
                  </a:lnTo>
                  <a:lnTo>
                    <a:pt x="2992101" y="413239"/>
                  </a:lnTo>
                  <a:lnTo>
                    <a:pt x="2944321" y="391989"/>
                  </a:lnTo>
                  <a:lnTo>
                    <a:pt x="2896396" y="371244"/>
                  </a:lnTo>
                  <a:lnTo>
                    <a:pt x="2848341" y="351009"/>
                  </a:lnTo>
                  <a:lnTo>
                    <a:pt x="2800169" y="331289"/>
                  </a:lnTo>
                  <a:lnTo>
                    <a:pt x="2751897" y="312089"/>
                  </a:lnTo>
                  <a:lnTo>
                    <a:pt x="2703538" y="293412"/>
                  </a:lnTo>
                  <a:lnTo>
                    <a:pt x="2655106" y="275265"/>
                  </a:lnTo>
                  <a:lnTo>
                    <a:pt x="2606617" y="257650"/>
                  </a:lnTo>
                  <a:lnTo>
                    <a:pt x="2558084" y="240575"/>
                  </a:lnTo>
                  <a:lnTo>
                    <a:pt x="2509523" y="224042"/>
                  </a:lnTo>
                  <a:lnTo>
                    <a:pt x="2460948" y="208056"/>
                  </a:lnTo>
                  <a:lnTo>
                    <a:pt x="2412373" y="192624"/>
                  </a:lnTo>
                  <a:lnTo>
                    <a:pt x="2363813" y="177748"/>
                  </a:lnTo>
                  <a:lnTo>
                    <a:pt x="2315282" y="163434"/>
                  </a:lnTo>
                  <a:lnTo>
                    <a:pt x="2266796" y="149687"/>
                  </a:lnTo>
                  <a:lnTo>
                    <a:pt x="2218368" y="136511"/>
                  </a:lnTo>
                  <a:lnTo>
                    <a:pt x="2170013" y="123911"/>
                  </a:lnTo>
                  <a:lnTo>
                    <a:pt x="2121745" y="111892"/>
                  </a:lnTo>
                  <a:lnTo>
                    <a:pt x="2073580" y="100458"/>
                  </a:lnTo>
                  <a:lnTo>
                    <a:pt x="2025531" y="89614"/>
                  </a:lnTo>
                  <a:lnTo>
                    <a:pt x="1977614" y="79365"/>
                  </a:lnTo>
                  <a:lnTo>
                    <a:pt x="1929842" y="69716"/>
                  </a:lnTo>
                  <a:lnTo>
                    <a:pt x="1882230" y="60671"/>
                  </a:lnTo>
                  <a:lnTo>
                    <a:pt x="1834793" y="52235"/>
                  </a:lnTo>
                  <a:lnTo>
                    <a:pt x="1787545" y="44412"/>
                  </a:lnTo>
                  <a:lnTo>
                    <a:pt x="1740501" y="37208"/>
                  </a:lnTo>
                  <a:lnTo>
                    <a:pt x="1693675" y="30627"/>
                  </a:lnTo>
                  <a:lnTo>
                    <a:pt x="1647083" y="24674"/>
                  </a:lnTo>
                  <a:lnTo>
                    <a:pt x="1600737" y="19354"/>
                  </a:lnTo>
                  <a:lnTo>
                    <a:pt x="1554653" y="14670"/>
                  </a:lnTo>
                  <a:lnTo>
                    <a:pt x="1508846" y="10629"/>
                  </a:lnTo>
                  <a:lnTo>
                    <a:pt x="1463330" y="7235"/>
                  </a:lnTo>
                  <a:lnTo>
                    <a:pt x="1418119" y="4491"/>
                  </a:lnTo>
                  <a:lnTo>
                    <a:pt x="1359106" y="1858"/>
                  </a:lnTo>
                  <a:lnTo>
                    <a:pt x="1301196" y="365"/>
                  </a:lnTo>
                  <a:lnTo>
                    <a:pt x="12443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457195"/>
              <a:r>
                <a:rPr lang="en-US" dirty="0">
                  <a:solidFill>
                    <a:prstClr val="black"/>
                  </a:solidFill>
                  <a:latin typeface="Gill Sans MT" panose="020B0502020104020203"/>
                </a:rPr>
                <a:t>                        </a:t>
              </a:r>
              <a:endParaRPr lang="en-US" b="1" dirty="0">
                <a:solidFill>
                  <a:prstClr val="black"/>
                </a:solidFill>
                <a:latin typeface="Gill Sans MT" panose="020B0502020104020203"/>
              </a:endParaRPr>
            </a:p>
            <a:p>
              <a:pPr defTabSz="457195"/>
              <a:r>
                <a:rPr lang="en-US" b="1" dirty="0">
                  <a:solidFill>
                    <a:prstClr val="black"/>
                  </a:solidFill>
                  <a:latin typeface="Gill Sans MT" panose="020B0502020104020203"/>
                </a:rPr>
                <a:t>				                                  </a:t>
              </a:r>
            </a:p>
            <a:p>
              <a:pPr algn="ctr" defTabSz="457195"/>
              <a:r>
                <a:rPr lang="en-US" sz="2800" b="1" dirty="0">
                  <a:solidFill>
                    <a:prstClr val="black"/>
                  </a:solidFill>
                  <a:latin typeface="Gill Sans MT" panose="020B0502020104020203"/>
                </a:rPr>
                <a:t>SOSIALISASI </a:t>
              </a:r>
            </a:p>
            <a:p>
              <a:pPr defTabSz="457195"/>
              <a:r>
                <a:rPr lang="en-US" sz="2800" b="1" dirty="0">
                  <a:solidFill>
                    <a:prstClr val="black"/>
                  </a:solidFill>
                  <a:latin typeface="Gill Sans MT" panose="020B0502020104020203"/>
                </a:rPr>
                <a:t>                PENINGKATAN KINERJA AGEN LAKU PANDAI</a:t>
              </a:r>
            </a:p>
            <a:p>
              <a:pPr defTabSz="457195"/>
              <a:r>
                <a:rPr lang="en-US" sz="2800" dirty="0">
                  <a:solidFill>
                    <a:prstClr val="black"/>
                  </a:solidFill>
                  <a:latin typeface="Gill Sans MT" panose="020B0502020104020203"/>
                </a:rPr>
                <a:t>		</a:t>
              </a:r>
              <a:endParaRPr sz="2800" dirty="0">
                <a:solidFill>
                  <a:prstClr val="black"/>
                </a:solidFill>
                <a:latin typeface="Gill Sans MT" panose="020B0502020104020203"/>
              </a:endParaRPr>
            </a:p>
          </p:txBody>
        </p:sp>
      </p:grpSp>
      <p:grpSp>
        <p:nvGrpSpPr>
          <p:cNvPr id="10" name="object 5">
            <a:extLst>
              <a:ext uri="{FF2B5EF4-FFF2-40B4-BE49-F238E27FC236}">
                <a16:creationId xmlns:a16="http://schemas.microsoft.com/office/drawing/2014/main" id="{99CEFA45-2CB2-4212-AFC1-309B7D20AB00}"/>
              </a:ext>
            </a:extLst>
          </p:cNvPr>
          <p:cNvGrpSpPr/>
          <p:nvPr/>
        </p:nvGrpSpPr>
        <p:grpSpPr>
          <a:xfrm>
            <a:off x="-4629" y="4533122"/>
            <a:ext cx="12191999" cy="2324246"/>
            <a:chOff x="0" y="4268749"/>
            <a:chExt cx="4114800" cy="1217649"/>
          </a:xfrm>
        </p:grpSpPr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70CEC184-454B-43C8-B87D-4BCF4EEB88C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268749"/>
              <a:ext cx="4114800" cy="1217649"/>
            </a:xfrm>
            <a:prstGeom prst="rect">
              <a:avLst/>
            </a:prstGeom>
          </p:spPr>
        </p:pic>
        <p:sp>
          <p:nvSpPr>
            <p:cNvPr id="12" name="object 7">
              <a:extLst>
                <a:ext uri="{FF2B5EF4-FFF2-40B4-BE49-F238E27FC236}">
                  <a16:creationId xmlns:a16="http://schemas.microsoft.com/office/drawing/2014/main" id="{59A7B64D-28E5-4E74-8919-845DE7EBCC17}"/>
                </a:ext>
              </a:extLst>
            </p:cNvPr>
            <p:cNvSpPr/>
            <p:nvPr/>
          </p:nvSpPr>
          <p:spPr>
            <a:xfrm>
              <a:off x="1676400" y="4653652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431800" y="0"/>
                  </a:moveTo>
                  <a:lnTo>
                    <a:pt x="25400" y="0"/>
                  </a:lnTo>
                  <a:lnTo>
                    <a:pt x="15537" y="1997"/>
                  </a:lnTo>
                  <a:lnTo>
                    <a:pt x="7461" y="7442"/>
                  </a:lnTo>
                  <a:lnTo>
                    <a:pt x="2004" y="15516"/>
                  </a:lnTo>
                  <a:lnTo>
                    <a:pt x="0" y="25399"/>
                  </a:lnTo>
                  <a:lnTo>
                    <a:pt x="0" y="126999"/>
                  </a:lnTo>
                  <a:lnTo>
                    <a:pt x="2004" y="136889"/>
                  </a:lnTo>
                  <a:lnTo>
                    <a:pt x="7461" y="144962"/>
                  </a:lnTo>
                  <a:lnTo>
                    <a:pt x="15537" y="150404"/>
                  </a:lnTo>
                  <a:lnTo>
                    <a:pt x="25400" y="152399"/>
                  </a:lnTo>
                  <a:lnTo>
                    <a:pt x="431800" y="152399"/>
                  </a:lnTo>
                  <a:lnTo>
                    <a:pt x="441662" y="150404"/>
                  </a:lnTo>
                  <a:lnTo>
                    <a:pt x="449738" y="144962"/>
                  </a:lnTo>
                  <a:lnTo>
                    <a:pt x="455195" y="136889"/>
                  </a:lnTo>
                  <a:lnTo>
                    <a:pt x="457200" y="126999"/>
                  </a:lnTo>
                  <a:lnTo>
                    <a:pt x="457200" y="25399"/>
                  </a:lnTo>
                  <a:lnTo>
                    <a:pt x="455195" y="15516"/>
                  </a:lnTo>
                  <a:lnTo>
                    <a:pt x="449738" y="7442"/>
                  </a:lnTo>
                  <a:lnTo>
                    <a:pt x="441662" y="1997"/>
                  </a:lnTo>
                  <a:lnTo>
                    <a:pt x="431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ctr" defTabSz="457195"/>
              <a:r>
                <a:rPr lang="en-US" b="1" dirty="0">
                  <a:solidFill>
                    <a:prstClr val="black"/>
                  </a:solidFill>
                  <a:latin typeface="Gill Sans MT" panose="020B0502020104020203"/>
                </a:rPr>
                <a:t>O JK</a:t>
              </a:r>
              <a:endParaRPr b="1" dirty="0">
                <a:solidFill>
                  <a:prstClr val="black"/>
                </a:solidFill>
                <a:latin typeface="Gill Sans MT" panose="020B0502020104020203"/>
              </a:endParaRPr>
            </a:p>
          </p:txBody>
        </p:sp>
        <p:sp>
          <p:nvSpPr>
            <p:cNvPr id="13" name="object 8">
              <a:extLst>
                <a:ext uri="{FF2B5EF4-FFF2-40B4-BE49-F238E27FC236}">
                  <a16:creationId xmlns:a16="http://schemas.microsoft.com/office/drawing/2014/main" id="{3476DECA-5F56-4C9C-B6F0-2B035D26AD71}"/>
                </a:ext>
              </a:extLst>
            </p:cNvPr>
            <p:cNvSpPr/>
            <p:nvPr/>
          </p:nvSpPr>
          <p:spPr>
            <a:xfrm>
              <a:off x="1676400" y="4649749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0" y="25399"/>
                  </a:moveTo>
                  <a:lnTo>
                    <a:pt x="2004" y="15516"/>
                  </a:lnTo>
                  <a:lnTo>
                    <a:pt x="7461" y="7442"/>
                  </a:lnTo>
                  <a:lnTo>
                    <a:pt x="15537" y="1997"/>
                  </a:lnTo>
                  <a:lnTo>
                    <a:pt x="25400" y="0"/>
                  </a:lnTo>
                  <a:lnTo>
                    <a:pt x="431800" y="0"/>
                  </a:lnTo>
                  <a:lnTo>
                    <a:pt x="441662" y="1997"/>
                  </a:lnTo>
                  <a:lnTo>
                    <a:pt x="449738" y="7442"/>
                  </a:lnTo>
                  <a:lnTo>
                    <a:pt x="455195" y="15516"/>
                  </a:lnTo>
                  <a:lnTo>
                    <a:pt x="457200" y="25399"/>
                  </a:lnTo>
                  <a:lnTo>
                    <a:pt x="457200" y="126999"/>
                  </a:lnTo>
                  <a:lnTo>
                    <a:pt x="455195" y="136889"/>
                  </a:lnTo>
                  <a:lnTo>
                    <a:pt x="449738" y="144962"/>
                  </a:lnTo>
                  <a:lnTo>
                    <a:pt x="441662" y="150404"/>
                  </a:lnTo>
                  <a:lnTo>
                    <a:pt x="431800" y="152399"/>
                  </a:lnTo>
                  <a:lnTo>
                    <a:pt x="25400" y="152399"/>
                  </a:lnTo>
                  <a:lnTo>
                    <a:pt x="15537" y="150404"/>
                  </a:lnTo>
                  <a:lnTo>
                    <a:pt x="7461" y="144962"/>
                  </a:lnTo>
                  <a:lnTo>
                    <a:pt x="2004" y="136889"/>
                  </a:lnTo>
                  <a:lnTo>
                    <a:pt x="0" y="126999"/>
                  </a:lnTo>
                  <a:lnTo>
                    <a:pt x="0" y="25399"/>
                  </a:lnTo>
                  <a:close/>
                </a:path>
              </a:pathLst>
            </a:custGeom>
            <a:ln w="25400">
              <a:solidFill>
                <a:srgbClr val="7C3B49"/>
              </a:solidFill>
            </a:ln>
          </p:spPr>
          <p:txBody>
            <a:bodyPr wrap="square" lIns="0" tIns="0" rIns="0" bIns="0" rtlCol="0"/>
            <a:lstStyle/>
            <a:p>
              <a:pPr defTabSz="457195"/>
              <a:endParaRPr>
                <a:solidFill>
                  <a:prstClr val="black"/>
                </a:solidFill>
                <a:latin typeface="Gill Sans MT" panose="020B0502020104020203"/>
              </a:endParaRP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F4FB976-1E23-4E77-94C6-04E03F53BD45}"/>
              </a:ext>
            </a:extLst>
          </p:cNvPr>
          <p:cNvSpPr/>
          <p:nvPr/>
        </p:nvSpPr>
        <p:spPr>
          <a:xfrm>
            <a:off x="8961121" y="5904598"/>
            <a:ext cx="998807" cy="35169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AGEN</a:t>
            </a:r>
            <a:endParaRPr lang="en-ID" b="1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487BB77-BC67-4262-8E4B-406DDCCCF4B8}"/>
              </a:ext>
            </a:extLst>
          </p:cNvPr>
          <p:cNvSpPr/>
          <p:nvPr/>
        </p:nvSpPr>
        <p:spPr>
          <a:xfrm>
            <a:off x="2684321" y="5715256"/>
            <a:ext cx="998807" cy="351693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BANK</a:t>
            </a:r>
            <a:endParaRPr lang="en-ID" b="1" dirty="0">
              <a:solidFill>
                <a:schemeClr val="tx1"/>
              </a:solidFill>
            </a:endParaRPr>
          </a:p>
        </p:txBody>
      </p:sp>
      <p:pic>
        <p:nvPicPr>
          <p:cNvPr id="16" name="object 9">
            <a:extLst>
              <a:ext uri="{FF2B5EF4-FFF2-40B4-BE49-F238E27FC236}">
                <a16:creationId xmlns:a16="http://schemas.microsoft.com/office/drawing/2014/main" id="{F8A55AA8-0345-44F4-A5EF-6CAD74A9DB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1595" y="136129"/>
            <a:ext cx="1678813" cy="48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33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9">
            <a:extLst>
              <a:ext uri="{FF2B5EF4-FFF2-40B4-BE49-F238E27FC236}">
                <a16:creationId xmlns:a16="http://schemas.microsoft.com/office/drawing/2014/main" id="{F8A55AA8-0345-44F4-A5EF-6CAD74A9DB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1595" y="136129"/>
            <a:ext cx="1678813" cy="4837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B9C17D-30FB-46E0-B6C9-0105F2432A12}"/>
              </a:ext>
            </a:extLst>
          </p:cNvPr>
          <p:cNvSpPr txBox="1"/>
          <p:nvPr/>
        </p:nvSpPr>
        <p:spPr>
          <a:xfrm>
            <a:off x="5122278" y="358274"/>
            <a:ext cx="6831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LATAR BELAKANG PERUBAHAN</a:t>
            </a:r>
            <a:endParaRPr lang="en-ID" sz="3200" b="1" dirty="0"/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78794EE7-C478-4425-A56E-161B1AFF873A}"/>
              </a:ext>
            </a:extLst>
          </p:cNvPr>
          <p:cNvSpPr/>
          <p:nvPr/>
        </p:nvSpPr>
        <p:spPr>
          <a:xfrm>
            <a:off x="1773459" y="1502857"/>
            <a:ext cx="8539090" cy="1467811"/>
          </a:xfrm>
          <a:prstGeom prst="wedgeEllipseCallout">
            <a:avLst>
              <a:gd name="adj1" fmla="val 52832"/>
              <a:gd name="adj2" fmla="val -74553"/>
            </a:avLst>
          </a:prstGeom>
          <a:solidFill>
            <a:schemeClr val="accent4">
              <a:lumMod val="75000"/>
            </a:schemeClr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POJK </a:t>
            </a:r>
            <a:r>
              <a:rPr lang="en-US" sz="2400" dirty="0" err="1"/>
              <a:t>Nomor</a:t>
            </a:r>
            <a:r>
              <a:rPr lang="en-US" sz="2400" dirty="0"/>
              <a:t> 01/POJK.03/2022 </a:t>
            </a:r>
            <a:r>
              <a:rPr lang="en-US" sz="2400" dirty="0" err="1"/>
              <a:t>tentang</a:t>
            </a:r>
            <a:r>
              <a:rPr lang="en-US" sz="2400" dirty="0"/>
              <a:t> </a:t>
            </a:r>
            <a:r>
              <a:rPr lang="en-US" sz="2400" dirty="0" err="1"/>
              <a:t>Layanan</a:t>
            </a:r>
            <a:r>
              <a:rPr lang="en-US" sz="2400" dirty="0"/>
              <a:t> </a:t>
            </a:r>
            <a:r>
              <a:rPr lang="en-US" sz="2400" dirty="0" err="1"/>
              <a:t>Keuangan</a:t>
            </a:r>
            <a:r>
              <a:rPr lang="en-US" sz="2400" dirty="0"/>
              <a:t> </a:t>
            </a:r>
            <a:r>
              <a:rPr lang="en-US" sz="2400" dirty="0" err="1"/>
              <a:t>Tanpa</a:t>
            </a:r>
            <a:r>
              <a:rPr lang="en-US" sz="2400" dirty="0"/>
              <a:t> Kantor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Rangka</a:t>
            </a:r>
            <a:r>
              <a:rPr lang="en-US" sz="2400" dirty="0"/>
              <a:t> </a:t>
            </a:r>
            <a:r>
              <a:rPr lang="en-US" sz="2400" dirty="0" err="1"/>
              <a:t>Keuangan</a:t>
            </a:r>
            <a:r>
              <a:rPr lang="en-US" sz="2400" dirty="0"/>
              <a:t> </a:t>
            </a:r>
            <a:r>
              <a:rPr lang="en-US" sz="2400" dirty="0" err="1"/>
              <a:t>Inklusif</a:t>
            </a:r>
            <a:endParaRPr lang="en-ID" sz="2400" dirty="0"/>
          </a:p>
        </p:txBody>
      </p:sp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C8469431-48E9-4EF7-A3F5-C16DA972C837}"/>
              </a:ext>
            </a:extLst>
          </p:cNvPr>
          <p:cNvSpPr/>
          <p:nvPr/>
        </p:nvSpPr>
        <p:spPr>
          <a:xfrm>
            <a:off x="2368991" y="4458327"/>
            <a:ext cx="7877908" cy="1842868"/>
          </a:xfrm>
          <a:prstGeom prst="horizontalScroll">
            <a:avLst/>
          </a:prstGeom>
          <a:solidFill>
            <a:schemeClr val="accent6">
              <a:lumMod val="75000"/>
            </a:scheme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SK </a:t>
            </a:r>
            <a:r>
              <a:rPr lang="en-US" sz="2800" dirty="0" err="1"/>
              <a:t>Direksi</a:t>
            </a:r>
            <a:r>
              <a:rPr lang="en-US" sz="2800" dirty="0"/>
              <a:t> </a:t>
            </a:r>
            <a:r>
              <a:rPr lang="en-US" sz="2800" dirty="0" err="1"/>
              <a:t>Nomor</a:t>
            </a:r>
            <a:r>
              <a:rPr lang="en-US" sz="2800" dirty="0"/>
              <a:t> 0282/HT.01.01/OPR/2022 </a:t>
            </a:r>
            <a:r>
              <a:rPr lang="en-US" sz="2800" dirty="0" err="1"/>
              <a:t>Tanggal</a:t>
            </a:r>
            <a:r>
              <a:rPr lang="en-US" sz="2800" dirty="0"/>
              <a:t> 11 </a:t>
            </a:r>
            <a:r>
              <a:rPr lang="en-US" sz="2800" dirty="0" err="1"/>
              <a:t>Juli</a:t>
            </a:r>
            <a:r>
              <a:rPr lang="en-US" sz="2800" dirty="0"/>
              <a:t> 2022 </a:t>
            </a:r>
            <a:r>
              <a:rPr lang="en-US" sz="2800" dirty="0" err="1"/>
              <a:t>Tentang</a:t>
            </a:r>
            <a:r>
              <a:rPr lang="en-US" sz="2800" dirty="0"/>
              <a:t> </a:t>
            </a:r>
            <a:r>
              <a:rPr lang="en-US" sz="2800" dirty="0" err="1"/>
              <a:t>Laku</a:t>
            </a:r>
            <a:r>
              <a:rPr lang="en-US" sz="2800" dirty="0"/>
              <a:t> </a:t>
            </a:r>
            <a:r>
              <a:rPr lang="en-US" sz="2800" dirty="0" err="1"/>
              <a:t>Pandai</a:t>
            </a:r>
            <a:endParaRPr lang="en-ID" sz="2800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BB76DD7-7B1B-40A1-9832-B4F2DCEEFD91}"/>
              </a:ext>
            </a:extLst>
          </p:cNvPr>
          <p:cNvSpPr/>
          <p:nvPr/>
        </p:nvSpPr>
        <p:spPr>
          <a:xfrm>
            <a:off x="5122277" y="3262573"/>
            <a:ext cx="1947445" cy="1195754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4432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ject 9">
            <a:extLst>
              <a:ext uri="{FF2B5EF4-FFF2-40B4-BE49-F238E27FC236}">
                <a16:creationId xmlns:a16="http://schemas.microsoft.com/office/drawing/2014/main" id="{F8A55AA8-0345-44F4-A5EF-6CAD74A9DB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1595" y="136129"/>
            <a:ext cx="1678813" cy="483755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84CC3F04-1D2A-4A72-A3CF-8917F8EDF1FE}"/>
              </a:ext>
            </a:extLst>
          </p:cNvPr>
          <p:cNvSpPr/>
          <p:nvPr/>
        </p:nvSpPr>
        <p:spPr>
          <a:xfrm>
            <a:off x="479231" y="2482457"/>
            <a:ext cx="2756338" cy="20484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APA ITU LAKU PANDAI??</a:t>
            </a:r>
            <a:endParaRPr lang="en-ID" sz="3200" b="1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185D7C-7583-4BA1-B8D9-BA5E0D421177}"/>
              </a:ext>
            </a:extLst>
          </p:cNvPr>
          <p:cNvSpPr/>
          <p:nvPr/>
        </p:nvSpPr>
        <p:spPr>
          <a:xfrm>
            <a:off x="4248443" y="2363420"/>
            <a:ext cx="6963508" cy="19001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TUJUAN</a:t>
            </a:r>
          </a:p>
          <a:p>
            <a:pPr marL="100961" marR="6351" indent="-88897" algn="just">
              <a:buFont typeface="Arial MT"/>
              <a:buChar char="•"/>
              <a:tabLst>
                <a:tab pos="101597" algn="l"/>
              </a:tabLst>
            </a:pP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Menyediakan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produk-produk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keuangan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 yang </a:t>
            </a: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sederhana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, </a:t>
            </a:r>
            <a:r>
              <a:rPr lang="en-ID" sz="2000" spc="-5" dirty="0" err="1">
                <a:solidFill>
                  <a:prstClr val="black"/>
                </a:solidFill>
                <a:latin typeface="Calibri"/>
                <a:cs typeface="Calibri"/>
              </a:rPr>
              <a:t>mudah</a:t>
            </a:r>
            <a:r>
              <a:rPr lang="en-ID" sz="2000" spc="-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dipahami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spc="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spc="-5" dirty="0">
                <a:solidFill>
                  <a:prstClr val="black"/>
                </a:solidFill>
                <a:latin typeface="Calibri"/>
                <a:cs typeface="Calibri"/>
              </a:rPr>
              <a:t>dan </a:t>
            </a: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sesuai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dengan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kebutuhan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masyarakat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 yang </a:t>
            </a:r>
            <a:r>
              <a:rPr lang="en-ID" sz="2000" spc="-5" dirty="0" err="1">
                <a:solidFill>
                  <a:prstClr val="black"/>
                </a:solidFill>
                <a:latin typeface="Calibri"/>
                <a:cs typeface="Calibri"/>
              </a:rPr>
              <a:t>belum</a:t>
            </a:r>
            <a:r>
              <a:rPr lang="en-ID" sz="2000" spc="-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dapat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menjangkau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spc="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spc="-5" dirty="0" err="1">
                <a:solidFill>
                  <a:prstClr val="black"/>
                </a:solidFill>
                <a:latin typeface="Calibri"/>
                <a:cs typeface="Calibri"/>
              </a:rPr>
              <a:t>layanan</a:t>
            </a:r>
            <a:r>
              <a:rPr lang="en-ID" sz="2000" spc="1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spc="-5" dirty="0" err="1">
                <a:solidFill>
                  <a:prstClr val="black"/>
                </a:solidFill>
                <a:latin typeface="Calibri"/>
                <a:cs typeface="Calibri"/>
              </a:rPr>
              <a:t>keuangan</a:t>
            </a:r>
            <a:r>
              <a:rPr lang="en-ID" sz="2000" spc="31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prstClr val="black"/>
                </a:solidFill>
                <a:latin typeface="Calibri"/>
                <a:cs typeface="Calibri"/>
              </a:rPr>
              <a:t>saat</a:t>
            </a:r>
            <a:r>
              <a:rPr lang="en-ID" sz="2000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spc="-5" dirty="0" err="1">
                <a:solidFill>
                  <a:prstClr val="black"/>
                </a:solidFill>
                <a:latin typeface="Calibri"/>
                <a:cs typeface="Calibri"/>
              </a:rPr>
              <a:t>ini</a:t>
            </a:r>
            <a:r>
              <a:rPr lang="en-ID" sz="2000" spc="-5" dirty="0">
                <a:solidFill>
                  <a:prstClr val="black"/>
                </a:solidFill>
                <a:latin typeface="Calibri"/>
                <a:cs typeface="Calibri"/>
              </a:rPr>
              <a:t>.</a:t>
            </a:r>
            <a:endParaRPr lang="en-ID" sz="2000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100961" marR="5080" indent="-88897" algn="just">
              <a:buFont typeface="Arial MT"/>
              <a:buChar char="•"/>
              <a:tabLst>
                <a:tab pos="101597" algn="l"/>
              </a:tabLst>
            </a:pPr>
            <a:r>
              <a:rPr lang="en-ID" sz="2000" spc="-5" dirty="0" err="1">
                <a:solidFill>
                  <a:prstClr val="black"/>
                </a:solidFill>
                <a:latin typeface="Calibri"/>
                <a:cs typeface="Calibri"/>
              </a:rPr>
              <a:t>Mendorong</a:t>
            </a:r>
            <a:r>
              <a:rPr lang="en-ID" sz="2000" spc="-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spc="-5" dirty="0" err="1">
                <a:solidFill>
                  <a:prstClr val="black"/>
                </a:solidFill>
                <a:latin typeface="Calibri"/>
                <a:cs typeface="Calibri"/>
              </a:rPr>
              <a:t>Pertumbuhan</a:t>
            </a:r>
            <a:r>
              <a:rPr lang="en-ID" sz="2000" spc="-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r>
              <a:rPr lang="en-ID" sz="2000" spc="-5" dirty="0" err="1">
                <a:solidFill>
                  <a:prstClr val="black"/>
                </a:solidFill>
                <a:latin typeface="Calibri"/>
                <a:cs typeface="Calibri"/>
              </a:rPr>
              <a:t>ekonomi</a:t>
            </a:r>
            <a:r>
              <a:rPr lang="en-ID" sz="2000" spc="-5" dirty="0">
                <a:solidFill>
                  <a:prstClr val="black"/>
                </a:solidFill>
                <a:latin typeface="Calibri"/>
                <a:cs typeface="Calibri"/>
              </a:rPr>
              <a:t> </a:t>
            </a:r>
            <a:endParaRPr lang="en-ID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92FD5-D1DB-4A46-9379-4B3948604C2F}"/>
              </a:ext>
            </a:extLst>
          </p:cNvPr>
          <p:cNvSpPr/>
          <p:nvPr/>
        </p:nvSpPr>
        <p:spPr>
          <a:xfrm>
            <a:off x="4248443" y="558805"/>
            <a:ext cx="6930684" cy="153728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</a:rPr>
              <a:t>PENGERTIAN</a:t>
            </a:r>
          </a:p>
          <a:p>
            <a:pPr algn="just"/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Program 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penyediaan</a:t>
            </a:r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layanan</a:t>
            </a:r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perbankan</a:t>
            </a:r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 dan/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atau</a:t>
            </a:r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layanan</a:t>
            </a:r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keuangan</a:t>
            </a:r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lainnya</a:t>
            </a:r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melalui</a:t>
            </a:r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spc="-5" dirty="0" err="1">
                <a:solidFill>
                  <a:schemeClr val="tx1"/>
                </a:solidFill>
                <a:latin typeface="Calibri"/>
                <a:cs typeface="Calibri"/>
              </a:rPr>
              <a:t>kerjasama</a:t>
            </a:r>
            <a:r>
              <a:rPr lang="en-ID" sz="2000" spc="-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dengan</a:t>
            </a:r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pihak</a:t>
            </a:r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 lain (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agen</a:t>
            </a:r>
            <a:r>
              <a:rPr lang="en-ID" sz="2000" dirty="0">
                <a:solidFill>
                  <a:schemeClr val="tx1"/>
                </a:solidFill>
                <a:latin typeface="Calibri"/>
                <a:cs typeface="Calibri"/>
              </a:rPr>
              <a:t> bank) </a:t>
            </a:r>
            <a:r>
              <a:rPr lang="en-ID" sz="2000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spc="-5" dirty="0">
                <a:solidFill>
                  <a:schemeClr val="tx1"/>
                </a:solidFill>
                <a:latin typeface="Calibri"/>
                <a:cs typeface="Calibri"/>
              </a:rPr>
              <a:t>dan </a:t>
            </a:r>
            <a:r>
              <a:rPr lang="en-ID" sz="2000" spc="-5" dirty="0" err="1">
                <a:solidFill>
                  <a:schemeClr val="tx1"/>
                </a:solidFill>
                <a:latin typeface="Calibri"/>
                <a:cs typeface="Calibri"/>
              </a:rPr>
              <a:t>didukung</a:t>
            </a:r>
            <a:r>
              <a:rPr lang="en-ID" sz="2000" spc="3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spc="-5" dirty="0" err="1">
                <a:solidFill>
                  <a:schemeClr val="tx1"/>
                </a:solidFill>
                <a:latin typeface="Calibri"/>
                <a:cs typeface="Calibri"/>
              </a:rPr>
              <a:t>dengan</a:t>
            </a:r>
            <a:r>
              <a:rPr lang="en-ID" sz="2000" spc="3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spc="-5" dirty="0" err="1">
                <a:solidFill>
                  <a:schemeClr val="tx1"/>
                </a:solidFill>
                <a:latin typeface="Calibri"/>
                <a:cs typeface="Calibri"/>
              </a:rPr>
              <a:t>penggunaan</a:t>
            </a:r>
            <a:r>
              <a:rPr lang="en-ID" sz="2000" spc="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dirty="0" err="1">
                <a:solidFill>
                  <a:schemeClr val="tx1"/>
                </a:solidFill>
                <a:latin typeface="Calibri"/>
                <a:cs typeface="Calibri"/>
              </a:rPr>
              <a:t>sarana</a:t>
            </a:r>
            <a:r>
              <a:rPr lang="en-ID" sz="2000" spc="1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spc="-5" dirty="0" err="1">
                <a:solidFill>
                  <a:schemeClr val="tx1"/>
                </a:solidFill>
                <a:latin typeface="Calibri"/>
                <a:cs typeface="Calibri"/>
              </a:rPr>
              <a:t>teknologi</a:t>
            </a:r>
            <a:r>
              <a:rPr lang="en-ID" sz="2000" spc="31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ID" sz="2000" spc="-5" dirty="0" err="1">
                <a:solidFill>
                  <a:schemeClr val="tx1"/>
                </a:solidFill>
                <a:latin typeface="Calibri"/>
                <a:cs typeface="Calibri"/>
              </a:rPr>
              <a:t>informasi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55C5CE-11C2-41EE-8C8E-C7562E838F8E}"/>
              </a:ext>
            </a:extLst>
          </p:cNvPr>
          <p:cNvSpPr/>
          <p:nvPr/>
        </p:nvSpPr>
        <p:spPr>
          <a:xfrm>
            <a:off x="4248443" y="4530868"/>
            <a:ext cx="6963507" cy="190011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  <a:p>
            <a:r>
              <a:rPr lang="en-US" sz="20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LAYANAN YG DISEDIAKAN:</a:t>
            </a:r>
          </a:p>
          <a:p>
            <a:endParaRPr lang="en-US" sz="5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896" indent="-342896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Tabungan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Karakteristik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BSA</a:t>
            </a:r>
          </a:p>
          <a:p>
            <a:pPr marL="342896" indent="-342896"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Pembayaran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Pembelian</a:t>
            </a:r>
            <a:endParaRPr lang="en-ID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896" indent="-342896"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Pemindahbukuan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intern Bank (</a:t>
            </a:r>
            <a:r>
              <a:rPr lang="en-US" sz="20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 us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)/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antar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Bank</a:t>
            </a:r>
            <a:endParaRPr lang="en-ID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896" indent="-342896">
              <a:buFont typeface="Wingdings" panose="05000000000000000000" pitchFamily="2" charset="2"/>
              <a:buChar char="q"/>
            </a:pPr>
            <a:r>
              <a:rPr lang="en-US" sz="20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referral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memasarkan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kredit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20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pembiayaan</a:t>
            </a:r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Bank.</a:t>
            </a:r>
            <a:endParaRPr lang="en-ID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/>
          </a:p>
          <a:p>
            <a:pPr algn="ctr"/>
            <a:endParaRPr lang="en-ID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F0C5213-6533-43C9-9ABB-B94F093FEC3E}"/>
              </a:ext>
            </a:extLst>
          </p:cNvPr>
          <p:cNvSpPr/>
          <p:nvPr/>
        </p:nvSpPr>
        <p:spPr>
          <a:xfrm>
            <a:off x="3357988" y="3139484"/>
            <a:ext cx="768036" cy="6463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21A231F2-8DA3-46C5-BCE4-F0B05CC4EAC0}"/>
              </a:ext>
            </a:extLst>
          </p:cNvPr>
          <p:cNvSpPr/>
          <p:nvPr/>
        </p:nvSpPr>
        <p:spPr>
          <a:xfrm>
            <a:off x="3343920" y="1004280"/>
            <a:ext cx="768036" cy="6463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28AE093-6233-4FBA-BD74-AC275D95AF4A}"/>
              </a:ext>
            </a:extLst>
          </p:cNvPr>
          <p:cNvSpPr/>
          <p:nvPr/>
        </p:nvSpPr>
        <p:spPr>
          <a:xfrm>
            <a:off x="3336387" y="5259017"/>
            <a:ext cx="768036" cy="646331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6035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791CE-8829-441D-AD68-36F383880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281738"/>
            <a:ext cx="11480800" cy="4648199"/>
          </a:xfrm>
        </p:spPr>
        <p:txBody>
          <a:bodyPr/>
          <a:lstStyle/>
          <a:p>
            <a:pPr marL="0" indent="0">
              <a:buNone/>
            </a:pPr>
            <a:endParaRPr lang="en-US" cap="none" dirty="0"/>
          </a:p>
          <a:p>
            <a:pPr marL="0" indent="0">
              <a:buNone/>
            </a:pPr>
            <a:endParaRPr lang="en-US" cap="none" dirty="0"/>
          </a:p>
          <a:p>
            <a:pPr marL="0" indent="0">
              <a:buNone/>
            </a:pPr>
            <a:endParaRPr lang="en-US" cap="none" dirty="0"/>
          </a:p>
          <a:p>
            <a:pPr marL="0" indent="0">
              <a:buNone/>
            </a:pPr>
            <a:endParaRPr lang="en-US" cap="none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400" cap="none" dirty="0"/>
          </a:p>
          <a:p>
            <a:pPr marL="0" indent="0">
              <a:buNone/>
            </a:pPr>
            <a:endParaRPr lang="en-US" cap="none" dirty="0"/>
          </a:p>
          <a:p>
            <a:pPr marL="0" indent="0">
              <a:buNone/>
            </a:pPr>
            <a:endParaRPr lang="en-US" cap="none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28CE17-6E4E-4FA7-A496-9E4F1F33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5722" y="193675"/>
            <a:ext cx="6541477" cy="792163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SIAPAKAH AGEN LAKU PANDAI BANK JATENG?</a:t>
            </a:r>
            <a:endParaRPr lang="en-ID" sz="3200" dirty="0"/>
          </a:p>
        </p:txBody>
      </p:sp>
      <p:pic>
        <p:nvPicPr>
          <p:cNvPr id="17" name="object 9">
            <a:extLst>
              <a:ext uri="{FF2B5EF4-FFF2-40B4-BE49-F238E27FC236}">
                <a16:creationId xmlns:a16="http://schemas.microsoft.com/office/drawing/2014/main" id="{FE8B9281-6688-4EA8-AB47-D684D2BE676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46858" y="193675"/>
            <a:ext cx="1678813" cy="483755"/>
          </a:xfrm>
          <a:prstGeom prst="rect">
            <a:avLst/>
          </a:prstGeom>
        </p:spPr>
      </p:pic>
      <p:pic>
        <p:nvPicPr>
          <p:cNvPr id="18" name="object 9">
            <a:extLst>
              <a:ext uri="{FF2B5EF4-FFF2-40B4-BE49-F238E27FC236}">
                <a16:creationId xmlns:a16="http://schemas.microsoft.com/office/drawing/2014/main" id="{0808998B-3D25-49A0-96B3-980CC619562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1595" y="136129"/>
            <a:ext cx="1678813" cy="483755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B6D159A1-F32B-4489-87CC-102795A32334}"/>
              </a:ext>
            </a:extLst>
          </p:cNvPr>
          <p:cNvSpPr txBox="1">
            <a:spLocks/>
          </p:cNvSpPr>
          <p:nvPr/>
        </p:nvSpPr>
        <p:spPr bwMode="auto">
          <a:xfrm>
            <a:off x="564380" y="1070664"/>
            <a:ext cx="11063240" cy="1398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altLang="en-US" sz="2200" b="1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Definisi</a:t>
            </a:r>
            <a:r>
              <a:rPr kumimoji="0" lang="en-US" altLang="en-US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id-ID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Pihak (perorangan dan/atau badan hukum) yang bekerjasama dengan 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Bank </a:t>
            </a:r>
            <a:r>
              <a:rPr kumimoji="0" lang="en-US" alt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Jateng</a:t>
            </a:r>
            <a:r>
              <a:rPr kumimoji="0" lang="en-US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id-ID" altLang="en-US" sz="22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dan menjadi kepanjangan tangan bank untuk menyediakan layanan perbankan dan layanan keuangan lainnya.</a:t>
            </a:r>
          </a:p>
        </p:txBody>
      </p:sp>
      <p:grpSp>
        <p:nvGrpSpPr>
          <p:cNvPr id="38" name="object 13">
            <a:extLst>
              <a:ext uri="{FF2B5EF4-FFF2-40B4-BE49-F238E27FC236}">
                <a16:creationId xmlns:a16="http://schemas.microsoft.com/office/drawing/2014/main" id="{A92380C9-6ED5-434E-BD2C-204A3EF4FAF0}"/>
              </a:ext>
            </a:extLst>
          </p:cNvPr>
          <p:cNvGrpSpPr/>
          <p:nvPr/>
        </p:nvGrpSpPr>
        <p:grpSpPr>
          <a:xfrm>
            <a:off x="564380" y="3219614"/>
            <a:ext cx="5499746" cy="848994"/>
            <a:chOff x="57911" y="2360676"/>
            <a:chExt cx="4541520" cy="848994"/>
          </a:xfrm>
        </p:grpSpPr>
        <p:sp>
          <p:nvSpPr>
            <p:cNvPr id="39" name="object 14">
              <a:extLst>
                <a:ext uri="{FF2B5EF4-FFF2-40B4-BE49-F238E27FC236}">
                  <a16:creationId xmlns:a16="http://schemas.microsoft.com/office/drawing/2014/main" id="{097D7497-4A67-4760-A2F9-E1AE9C9105AD}"/>
                </a:ext>
              </a:extLst>
            </p:cNvPr>
            <p:cNvSpPr/>
            <p:nvPr/>
          </p:nvSpPr>
          <p:spPr>
            <a:xfrm>
              <a:off x="667512" y="2360675"/>
              <a:ext cx="3931920" cy="848994"/>
            </a:xfrm>
            <a:custGeom>
              <a:avLst/>
              <a:gdLst/>
              <a:ahLst/>
              <a:cxnLst/>
              <a:rect l="l" t="t" r="r" b="b"/>
              <a:pathLst>
                <a:path w="3931920" h="848994">
                  <a:moveTo>
                    <a:pt x="1466088" y="196469"/>
                  </a:moveTo>
                  <a:lnTo>
                    <a:pt x="1460106" y="166852"/>
                  </a:lnTo>
                  <a:lnTo>
                    <a:pt x="1443812" y="142671"/>
                  </a:lnTo>
                  <a:lnTo>
                    <a:pt x="1419631" y="126377"/>
                  </a:lnTo>
                  <a:lnTo>
                    <a:pt x="1390015" y="120396"/>
                  </a:lnTo>
                  <a:lnTo>
                    <a:pt x="76123" y="120396"/>
                  </a:lnTo>
                  <a:lnTo>
                    <a:pt x="46482" y="126377"/>
                  </a:lnTo>
                  <a:lnTo>
                    <a:pt x="22288" y="142671"/>
                  </a:lnTo>
                  <a:lnTo>
                    <a:pt x="5969" y="166852"/>
                  </a:lnTo>
                  <a:lnTo>
                    <a:pt x="0" y="196469"/>
                  </a:lnTo>
                  <a:lnTo>
                    <a:pt x="0" y="716407"/>
                  </a:lnTo>
                  <a:lnTo>
                    <a:pt x="5969" y="746036"/>
                  </a:lnTo>
                  <a:lnTo>
                    <a:pt x="22288" y="770216"/>
                  </a:lnTo>
                  <a:lnTo>
                    <a:pt x="46482" y="786511"/>
                  </a:lnTo>
                  <a:lnTo>
                    <a:pt x="76123" y="792480"/>
                  </a:lnTo>
                  <a:lnTo>
                    <a:pt x="1390015" y="792480"/>
                  </a:lnTo>
                  <a:lnTo>
                    <a:pt x="1419631" y="786511"/>
                  </a:lnTo>
                  <a:lnTo>
                    <a:pt x="1443812" y="770216"/>
                  </a:lnTo>
                  <a:lnTo>
                    <a:pt x="1460106" y="746036"/>
                  </a:lnTo>
                  <a:lnTo>
                    <a:pt x="1466088" y="716407"/>
                  </a:lnTo>
                  <a:lnTo>
                    <a:pt x="1466088" y="196469"/>
                  </a:lnTo>
                  <a:close/>
                </a:path>
                <a:path w="3931920" h="848994">
                  <a:moveTo>
                    <a:pt x="3931920" y="96139"/>
                  </a:moveTo>
                  <a:lnTo>
                    <a:pt x="3924363" y="58724"/>
                  </a:lnTo>
                  <a:lnTo>
                    <a:pt x="3903751" y="28168"/>
                  </a:lnTo>
                  <a:lnTo>
                    <a:pt x="3873195" y="7556"/>
                  </a:lnTo>
                  <a:lnTo>
                    <a:pt x="3835781" y="0"/>
                  </a:lnTo>
                  <a:lnTo>
                    <a:pt x="2191639" y="0"/>
                  </a:lnTo>
                  <a:lnTo>
                    <a:pt x="2154212" y="7556"/>
                  </a:lnTo>
                  <a:lnTo>
                    <a:pt x="2123656" y="28168"/>
                  </a:lnTo>
                  <a:lnTo>
                    <a:pt x="2103056" y="58724"/>
                  </a:lnTo>
                  <a:lnTo>
                    <a:pt x="2095500" y="96139"/>
                  </a:lnTo>
                  <a:lnTo>
                    <a:pt x="2095500" y="752729"/>
                  </a:lnTo>
                  <a:lnTo>
                    <a:pt x="2103056" y="790155"/>
                  </a:lnTo>
                  <a:lnTo>
                    <a:pt x="2123656" y="820712"/>
                  </a:lnTo>
                  <a:lnTo>
                    <a:pt x="2154212" y="841311"/>
                  </a:lnTo>
                  <a:lnTo>
                    <a:pt x="2191639" y="848868"/>
                  </a:lnTo>
                  <a:lnTo>
                    <a:pt x="3835781" y="848868"/>
                  </a:lnTo>
                  <a:lnTo>
                    <a:pt x="3873195" y="841311"/>
                  </a:lnTo>
                  <a:lnTo>
                    <a:pt x="3903751" y="820712"/>
                  </a:lnTo>
                  <a:lnTo>
                    <a:pt x="3924363" y="790155"/>
                  </a:lnTo>
                  <a:lnTo>
                    <a:pt x="3931920" y="752729"/>
                  </a:lnTo>
                  <a:lnTo>
                    <a:pt x="3931920" y="96139"/>
                  </a:lnTo>
                  <a:close/>
                </a:path>
              </a:pathLst>
            </a:custGeom>
            <a:solidFill>
              <a:srgbClr val="DCE6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15">
              <a:extLst>
                <a:ext uri="{FF2B5EF4-FFF2-40B4-BE49-F238E27FC236}">
                  <a16:creationId xmlns:a16="http://schemas.microsoft.com/office/drawing/2014/main" id="{1CD8EF70-7CFD-44D1-80C2-11707DCCAA5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11" y="2481072"/>
              <a:ext cx="682752" cy="681227"/>
            </a:xfrm>
            <a:prstGeom prst="rect">
              <a:avLst/>
            </a:prstGeom>
          </p:spPr>
        </p:pic>
        <p:pic>
          <p:nvPicPr>
            <p:cNvPr id="41" name="object 16">
              <a:extLst>
                <a:ext uri="{FF2B5EF4-FFF2-40B4-BE49-F238E27FC236}">
                  <a16:creationId xmlns:a16="http://schemas.microsoft.com/office/drawing/2014/main" id="{84056063-B836-4050-BE44-B6D555E905AD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27504" y="2442972"/>
              <a:ext cx="682751" cy="681227"/>
            </a:xfrm>
            <a:prstGeom prst="rect">
              <a:avLst/>
            </a:prstGeom>
          </p:spPr>
        </p:pic>
      </p:grpSp>
      <p:sp>
        <p:nvSpPr>
          <p:cNvPr id="44" name="object 20">
            <a:extLst>
              <a:ext uri="{FF2B5EF4-FFF2-40B4-BE49-F238E27FC236}">
                <a16:creationId xmlns:a16="http://schemas.microsoft.com/office/drawing/2014/main" id="{6534CDDE-1C9B-4058-BA58-A9E55F78C8EB}"/>
              </a:ext>
            </a:extLst>
          </p:cNvPr>
          <p:cNvSpPr/>
          <p:nvPr/>
        </p:nvSpPr>
        <p:spPr>
          <a:xfrm>
            <a:off x="2300883" y="2395690"/>
            <a:ext cx="1805304" cy="565785"/>
          </a:xfrm>
          <a:custGeom>
            <a:avLst/>
            <a:gdLst/>
            <a:ahLst/>
            <a:cxnLst/>
            <a:rect l="l" t="t" r="r" b="b"/>
            <a:pathLst>
              <a:path w="1981200" h="565785">
                <a:moveTo>
                  <a:pt x="1745869" y="0"/>
                </a:moveTo>
                <a:lnTo>
                  <a:pt x="235331" y="0"/>
                </a:lnTo>
                <a:lnTo>
                  <a:pt x="187917" y="4783"/>
                </a:lnTo>
                <a:lnTo>
                  <a:pt x="143750" y="18500"/>
                </a:lnTo>
                <a:lnTo>
                  <a:pt x="103776" y="40203"/>
                </a:lnTo>
                <a:lnTo>
                  <a:pt x="68945" y="68945"/>
                </a:lnTo>
                <a:lnTo>
                  <a:pt x="40203" y="103776"/>
                </a:lnTo>
                <a:lnTo>
                  <a:pt x="18500" y="143750"/>
                </a:lnTo>
                <a:lnTo>
                  <a:pt x="4783" y="187917"/>
                </a:lnTo>
                <a:lnTo>
                  <a:pt x="0" y="235330"/>
                </a:lnTo>
                <a:lnTo>
                  <a:pt x="0" y="330072"/>
                </a:lnTo>
                <a:lnTo>
                  <a:pt x="4783" y="377486"/>
                </a:lnTo>
                <a:lnTo>
                  <a:pt x="18500" y="421653"/>
                </a:lnTo>
                <a:lnTo>
                  <a:pt x="40203" y="461627"/>
                </a:lnTo>
                <a:lnTo>
                  <a:pt x="68945" y="496458"/>
                </a:lnTo>
                <a:lnTo>
                  <a:pt x="103776" y="525200"/>
                </a:lnTo>
                <a:lnTo>
                  <a:pt x="143750" y="546903"/>
                </a:lnTo>
                <a:lnTo>
                  <a:pt x="187917" y="560620"/>
                </a:lnTo>
                <a:lnTo>
                  <a:pt x="235331" y="565403"/>
                </a:lnTo>
                <a:lnTo>
                  <a:pt x="1745869" y="565403"/>
                </a:lnTo>
                <a:lnTo>
                  <a:pt x="1793282" y="560620"/>
                </a:lnTo>
                <a:lnTo>
                  <a:pt x="1837449" y="546903"/>
                </a:lnTo>
                <a:lnTo>
                  <a:pt x="1877423" y="525200"/>
                </a:lnTo>
                <a:lnTo>
                  <a:pt x="1912254" y="496458"/>
                </a:lnTo>
                <a:lnTo>
                  <a:pt x="1940996" y="461627"/>
                </a:lnTo>
                <a:lnTo>
                  <a:pt x="1962699" y="421653"/>
                </a:lnTo>
                <a:lnTo>
                  <a:pt x="1976416" y="377486"/>
                </a:lnTo>
                <a:lnTo>
                  <a:pt x="1981199" y="330072"/>
                </a:lnTo>
                <a:lnTo>
                  <a:pt x="1981199" y="235330"/>
                </a:lnTo>
                <a:lnTo>
                  <a:pt x="1976416" y="187917"/>
                </a:lnTo>
                <a:lnTo>
                  <a:pt x="1962699" y="143750"/>
                </a:lnTo>
                <a:lnTo>
                  <a:pt x="1940996" y="103776"/>
                </a:lnTo>
                <a:lnTo>
                  <a:pt x="1912254" y="68945"/>
                </a:lnTo>
                <a:lnTo>
                  <a:pt x="1877423" y="40203"/>
                </a:lnTo>
                <a:lnTo>
                  <a:pt x="1837449" y="18500"/>
                </a:lnTo>
                <a:lnTo>
                  <a:pt x="1793282" y="4783"/>
                </a:lnTo>
                <a:lnTo>
                  <a:pt x="1745869" y="0"/>
                </a:lnTo>
                <a:close/>
              </a:path>
            </a:pathLst>
          </a:custGeom>
          <a:solidFill>
            <a:srgbClr val="375F92"/>
          </a:solidFill>
        </p:spPr>
        <p:txBody>
          <a:bodyPr wrap="square" lIns="0" tIns="0" rIns="0" bIns="0" rtlCol="0"/>
          <a:lstStyle/>
          <a:p>
            <a:r>
              <a:rPr lang="en-US" sz="500" dirty="0"/>
              <a:t>   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PERORANGAN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45" name="object 22">
            <a:extLst>
              <a:ext uri="{FF2B5EF4-FFF2-40B4-BE49-F238E27FC236}">
                <a16:creationId xmlns:a16="http://schemas.microsoft.com/office/drawing/2014/main" id="{D52569DA-F166-4641-B526-59F6F7FF16AF}"/>
              </a:ext>
            </a:extLst>
          </p:cNvPr>
          <p:cNvSpPr/>
          <p:nvPr/>
        </p:nvSpPr>
        <p:spPr>
          <a:xfrm>
            <a:off x="8183794" y="2336346"/>
            <a:ext cx="1981200" cy="565785"/>
          </a:xfrm>
          <a:custGeom>
            <a:avLst/>
            <a:gdLst/>
            <a:ahLst/>
            <a:cxnLst/>
            <a:rect l="l" t="t" r="r" b="b"/>
            <a:pathLst>
              <a:path w="1981200" h="565785">
                <a:moveTo>
                  <a:pt x="1745868" y="0"/>
                </a:moveTo>
                <a:lnTo>
                  <a:pt x="235331" y="0"/>
                </a:lnTo>
                <a:lnTo>
                  <a:pt x="187917" y="4783"/>
                </a:lnTo>
                <a:lnTo>
                  <a:pt x="143750" y="18500"/>
                </a:lnTo>
                <a:lnTo>
                  <a:pt x="103776" y="40203"/>
                </a:lnTo>
                <a:lnTo>
                  <a:pt x="68945" y="68945"/>
                </a:lnTo>
                <a:lnTo>
                  <a:pt x="40203" y="103776"/>
                </a:lnTo>
                <a:lnTo>
                  <a:pt x="18500" y="143750"/>
                </a:lnTo>
                <a:lnTo>
                  <a:pt x="4783" y="187917"/>
                </a:lnTo>
                <a:lnTo>
                  <a:pt x="0" y="235331"/>
                </a:lnTo>
                <a:lnTo>
                  <a:pt x="0" y="330073"/>
                </a:lnTo>
                <a:lnTo>
                  <a:pt x="4783" y="377486"/>
                </a:lnTo>
                <a:lnTo>
                  <a:pt x="18500" y="421653"/>
                </a:lnTo>
                <a:lnTo>
                  <a:pt x="40203" y="461627"/>
                </a:lnTo>
                <a:lnTo>
                  <a:pt x="68945" y="496458"/>
                </a:lnTo>
                <a:lnTo>
                  <a:pt x="103776" y="525200"/>
                </a:lnTo>
                <a:lnTo>
                  <a:pt x="143750" y="546903"/>
                </a:lnTo>
                <a:lnTo>
                  <a:pt x="187917" y="560620"/>
                </a:lnTo>
                <a:lnTo>
                  <a:pt x="235331" y="565404"/>
                </a:lnTo>
                <a:lnTo>
                  <a:pt x="1745868" y="565404"/>
                </a:lnTo>
                <a:lnTo>
                  <a:pt x="1793282" y="560620"/>
                </a:lnTo>
                <a:lnTo>
                  <a:pt x="1837449" y="546903"/>
                </a:lnTo>
                <a:lnTo>
                  <a:pt x="1877423" y="525200"/>
                </a:lnTo>
                <a:lnTo>
                  <a:pt x="1912254" y="496458"/>
                </a:lnTo>
                <a:lnTo>
                  <a:pt x="1940996" y="461627"/>
                </a:lnTo>
                <a:lnTo>
                  <a:pt x="1962699" y="421653"/>
                </a:lnTo>
                <a:lnTo>
                  <a:pt x="1976416" y="377486"/>
                </a:lnTo>
                <a:lnTo>
                  <a:pt x="1981200" y="330073"/>
                </a:lnTo>
                <a:lnTo>
                  <a:pt x="1981200" y="235331"/>
                </a:lnTo>
                <a:lnTo>
                  <a:pt x="1976416" y="187917"/>
                </a:lnTo>
                <a:lnTo>
                  <a:pt x="1962699" y="143750"/>
                </a:lnTo>
                <a:lnTo>
                  <a:pt x="1940996" y="103776"/>
                </a:lnTo>
                <a:lnTo>
                  <a:pt x="1912254" y="68945"/>
                </a:lnTo>
                <a:lnTo>
                  <a:pt x="1877423" y="40203"/>
                </a:lnTo>
                <a:lnTo>
                  <a:pt x="1837449" y="18500"/>
                </a:lnTo>
                <a:lnTo>
                  <a:pt x="1793282" y="4783"/>
                </a:lnTo>
                <a:lnTo>
                  <a:pt x="1745868" y="0"/>
                </a:lnTo>
                <a:close/>
              </a:path>
            </a:pathLst>
          </a:custGeom>
          <a:solidFill>
            <a:srgbClr val="E36C09"/>
          </a:solidFill>
        </p:spPr>
        <p:txBody>
          <a:bodyPr wrap="square" lIns="0" tIns="0" rIns="0" bIns="0" rtlCol="0"/>
          <a:lstStyle/>
          <a:p>
            <a:pPr algn="ctr"/>
            <a:endParaRPr lang="en-US" sz="500" dirty="0"/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BADAN HUKUM</a:t>
            </a:r>
            <a:endParaRPr b="1" dirty="0">
              <a:solidFill>
                <a:schemeClr val="bg1"/>
              </a:solidFill>
            </a:endParaRPr>
          </a:p>
        </p:txBody>
      </p:sp>
      <p:sp>
        <p:nvSpPr>
          <p:cNvPr id="53" name="object 32">
            <a:extLst>
              <a:ext uri="{FF2B5EF4-FFF2-40B4-BE49-F238E27FC236}">
                <a16:creationId xmlns:a16="http://schemas.microsoft.com/office/drawing/2014/main" id="{CBE6283F-7B97-4367-9DAC-B789586F88E7}"/>
              </a:ext>
            </a:extLst>
          </p:cNvPr>
          <p:cNvSpPr txBox="1"/>
          <p:nvPr/>
        </p:nvSpPr>
        <p:spPr>
          <a:xfrm>
            <a:off x="1367036" y="3350054"/>
            <a:ext cx="1557607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5"/>
              </a:spcBef>
            </a:pPr>
            <a:r>
              <a:rPr sz="1600" spc="-130" dirty="0">
                <a:latin typeface="Arial MT"/>
                <a:cs typeface="Arial MT"/>
              </a:rPr>
              <a:t>Berk</a:t>
            </a:r>
            <a:r>
              <a:rPr sz="1600" spc="-150" dirty="0">
                <a:latin typeface="Arial MT"/>
                <a:cs typeface="Arial MT"/>
              </a:rPr>
              <a:t>e</a:t>
            </a:r>
            <a:r>
              <a:rPr sz="1600" spc="-145" dirty="0">
                <a:latin typeface="Arial MT"/>
                <a:cs typeface="Arial MT"/>
              </a:rPr>
              <a:t>dudu</a:t>
            </a:r>
            <a:r>
              <a:rPr sz="1600" spc="-140" dirty="0">
                <a:latin typeface="Arial MT"/>
                <a:cs typeface="Arial MT"/>
              </a:rPr>
              <a:t>kan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105" dirty="0">
                <a:latin typeface="Arial MT"/>
                <a:cs typeface="Arial MT"/>
              </a:rPr>
              <a:t>di</a:t>
            </a:r>
            <a:endParaRPr sz="1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600" b="1" spc="-70" dirty="0">
                <a:solidFill>
                  <a:srgbClr val="920000"/>
                </a:solidFill>
                <a:latin typeface="Arial"/>
                <a:cs typeface="Arial"/>
              </a:rPr>
              <a:t>l</a:t>
            </a:r>
            <a:r>
              <a:rPr sz="1600" b="1" spc="-150" dirty="0">
                <a:solidFill>
                  <a:srgbClr val="920000"/>
                </a:solidFill>
                <a:latin typeface="Arial"/>
                <a:cs typeface="Arial"/>
              </a:rPr>
              <a:t>o</a:t>
            </a:r>
            <a:r>
              <a:rPr sz="1600" b="1" spc="-145" dirty="0">
                <a:solidFill>
                  <a:srgbClr val="920000"/>
                </a:solidFill>
                <a:latin typeface="Arial"/>
                <a:cs typeface="Arial"/>
              </a:rPr>
              <a:t>kas</a:t>
            </a:r>
            <a:r>
              <a:rPr sz="1600" b="1" spc="-70" dirty="0">
                <a:solidFill>
                  <a:srgbClr val="920000"/>
                </a:solidFill>
                <a:latin typeface="Arial"/>
                <a:cs typeface="Arial"/>
              </a:rPr>
              <a:t>i</a:t>
            </a:r>
            <a:r>
              <a:rPr sz="1600" b="1" spc="-60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600" b="1" spc="-145" dirty="0">
                <a:solidFill>
                  <a:srgbClr val="920000"/>
                </a:solidFill>
                <a:latin typeface="Arial"/>
                <a:cs typeface="Arial"/>
              </a:rPr>
              <a:t>ya</a:t>
            </a:r>
            <a:r>
              <a:rPr sz="1600" b="1" spc="-155" dirty="0">
                <a:solidFill>
                  <a:srgbClr val="920000"/>
                </a:solidFill>
                <a:latin typeface="Arial"/>
                <a:cs typeface="Arial"/>
              </a:rPr>
              <a:t>ng</a:t>
            </a:r>
            <a:r>
              <a:rPr sz="1600" b="1" spc="-7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600" b="1" spc="-114" dirty="0">
                <a:solidFill>
                  <a:srgbClr val="920000"/>
                </a:solidFill>
                <a:latin typeface="Arial"/>
                <a:cs typeface="Arial"/>
              </a:rPr>
              <a:t>jelas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54" name="object 33">
            <a:extLst>
              <a:ext uri="{FF2B5EF4-FFF2-40B4-BE49-F238E27FC236}">
                <a16:creationId xmlns:a16="http://schemas.microsoft.com/office/drawing/2014/main" id="{297E2E4D-21A2-4863-AC59-20D09CBFA7E4}"/>
              </a:ext>
            </a:extLst>
          </p:cNvPr>
          <p:cNvSpPr txBox="1"/>
          <p:nvPr/>
        </p:nvSpPr>
        <p:spPr>
          <a:xfrm>
            <a:off x="3910910" y="3179929"/>
            <a:ext cx="2137784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600" spc="-190" dirty="0">
                <a:latin typeface="Arial MT"/>
                <a:cs typeface="Arial MT"/>
              </a:rPr>
              <a:t>Mem</a:t>
            </a:r>
            <a:r>
              <a:rPr sz="1600" spc="-70" dirty="0">
                <a:latin typeface="Arial MT"/>
                <a:cs typeface="Arial MT"/>
              </a:rPr>
              <a:t>i</a:t>
            </a:r>
            <a:r>
              <a:rPr sz="1600" spc="-65" dirty="0">
                <a:latin typeface="Arial MT"/>
                <a:cs typeface="Arial MT"/>
              </a:rPr>
              <a:t>l</a:t>
            </a:r>
            <a:r>
              <a:rPr sz="1600" spc="-70" dirty="0">
                <a:latin typeface="Arial MT"/>
                <a:cs typeface="Arial MT"/>
              </a:rPr>
              <a:t>i</a:t>
            </a:r>
            <a:r>
              <a:rPr sz="1600" spc="-130" dirty="0">
                <a:latin typeface="Arial MT"/>
                <a:cs typeface="Arial MT"/>
              </a:rPr>
              <a:t>k</a:t>
            </a:r>
            <a:r>
              <a:rPr sz="1600" spc="-60" dirty="0">
                <a:latin typeface="Arial MT"/>
                <a:cs typeface="Arial MT"/>
              </a:rPr>
              <a:t>i</a:t>
            </a:r>
            <a:r>
              <a:rPr sz="1600" spc="-70" dirty="0">
                <a:latin typeface="Arial MT"/>
                <a:cs typeface="Arial MT"/>
              </a:rPr>
              <a:t> </a:t>
            </a:r>
            <a:r>
              <a:rPr sz="1600" b="1" spc="-145" dirty="0">
                <a:solidFill>
                  <a:srgbClr val="920000"/>
                </a:solidFill>
                <a:latin typeface="Arial"/>
                <a:cs typeface="Arial"/>
              </a:rPr>
              <a:t>ke</a:t>
            </a:r>
            <a:r>
              <a:rPr sz="1600" b="1" spc="-225" dirty="0">
                <a:solidFill>
                  <a:srgbClr val="920000"/>
                </a:solidFill>
                <a:latin typeface="Arial"/>
                <a:cs typeface="Arial"/>
              </a:rPr>
              <a:t>m</a:t>
            </a:r>
            <a:r>
              <a:rPr sz="1600" b="1" spc="-150" dirty="0">
                <a:solidFill>
                  <a:srgbClr val="920000"/>
                </a:solidFill>
                <a:latin typeface="Arial"/>
                <a:cs typeface="Arial"/>
              </a:rPr>
              <a:t>a</a:t>
            </a:r>
            <a:r>
              <a:rPr sz="1600" b="1" spc="-175" dirty="0">
                <a:solidFill>
                  <a:srgbClr val="920000"/>
                </a:solidFill>
                <a:latin typeface="Arial"/>
                <a:cs typeface="Arial"/>
              </a:rPr>
              <a:t>mpu</a:t>
            </a:r>
            <a:r>
              <a:rPr sz="1600" b="1" spc="-145" dirty="0">
                <a:solidFill>
                  <a:srgbClr val="920000"/>
                </a:solidFill>
                <a:latin typeface="Arial"/>
                <a:cs typeface="Arial"/>
              </a:rPr>
              <a:t>a</a:t>
            </a:r>
            <a:r>
              <a:rPr sz="1600" b="1" spc="-150" dirty="0">
                <a:solidFill>
                  <a:srgbClr val="920000"/>
                </a:solidFill>
                <a:latin typeface="Arial"/>
                <a:cs typeface="Arial"/>
              </a:rPr>
              <a:t>n</a:t>
            </a:r>
            <a:r>
              <a:rPr sz="1600" b="1" spc="-70" dirty="0">
                <a:solidFill>
                  <a:srgbClr val="920000"/>
                </a:solidFill>
                <a:latin typeface="Arial"/>
                <a:cs typeface="Arial"/>
              </a:rPr>
              <a:t>,  </a:t>
            </a:r>
            <a:r>
              <a:rPr sz="1600" b="1" spc="-100" dirty="0">
                <a:solidFill>
                  <a:srgbClr val="920000"/>
                </a:solidFill>
                <a:latin typeface="Arial"/>
                <a:cs typeface="Arial"/>
              </a:rPr>
              <a:t>r</a:t>
            </a:r>
            <a:r>
              <a:rPr sz="1600" b="1" spc="-150" dirty="0">
                <a:solidFill>
                  <a:srgbClr val="920000"/>
                </a:solidFill>
                <a:latin typeface="Arial"/>
                <a:cs typeface="Arial"/>
              </a:rPr>
              <a:t>e</a:t>
            </a:r>
            <a:r>
              <a:rPr sz="1600" b="1" spc="-155" dirty="0">
                <a:solidFill>
                  <a:srgbClr val="920000"/>
                </a:solidFill>
                <a:latin typeface="Arial"/>
                <a:cs typeface="Arial"/>
              </a:rPr>
              <a:t>pu</a:t>
            </a:r>
            <a:r>
              <a:rPr sz="1600" b="1" spc="-114" dirty="0">
                <a:solidFill>
                  <a:srgbClr val="920000"/>
                </a:solidFill>
                <a:latin typeface="Arial"/>
                <a:cs typeface="Arial"/>
              </a:rPr>
              <a:t>ta</a:t>
            </a:r>
            <a:r>
              <a:rPr sz="1600" b="1" spc="-150" dirty="0">
                <a:solidFill>
                  <a:srgbClr val="920000"/>
                </a:solidFill>
                <a:latin typeface="Arial"/>
                <a:cs typeface="Arial"/>
              </a:rPr>
              <a:t>s</a:t>
            </a:r>
            <a:r>
              <a:rPr sz="1600" b="1" spc="-65" dirty="0">
                <a:solidFill>
                  <a:srgbClr val="920000"/>
                </a:solidFill>
                <a:latin typeface="Arial"/>
                <a:cs typeface="Arial"/>
              </a:rPr>
              <a:t>i</a:t>
            </a:r>
            <a:r>
              <a:rPr sz="1600" b="1" spc="-70" dirty="0">
                <a:solidFill>
                  <a:srgbClr val="920000"/>
                </a:solidFill>
                <a:latin typeface="Arial"/>
                <a:cs typeface="Arial"/>
              </a:rPr>
              <a:t>,</a:t>
            </a:r>
            <a:r>
              <a:rPr sz="1600" b="1" spc="-6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600" b="1" spc="-145" dirty="0">
                <a:solidFill>
                  <a:srgbClr val="920000"/>
                </a:solidFill>
                <a:latin typeface="Arial"/>
                <a:cs typeface="Arial"/>
              </a:rPr>
              <a:t>k</a:t>
            </a:r>
            <a:r>
              <a:rPr sz="1600" b="1" spc="-100" dirty="0">
                <a:solidFill>
                  <a:srgbClr val="920000"/>
                </a:solidFill>
                <a:latin typeface="Arial"/>
                <a:cs typeface="Arial"/>
              </a:rPr>
              <a:t>r</a:t>
            </a:r>
            <a:r>
              <a:rPr sz="1600" b="1" spc="-150" dirty="0">
                <a:solidFill>
                  <a:srgbClr val="920000"/>
                </a:solidFill>
                <a:latin typeface="Arial"/>
                <a:cs typeface="Arial"/>
              </a:rPr>
              <a:t>e</a:t>
            </a:r>
            <a:r>
              <a:rPr sz="1600" b="1" spc="-155" dirty="0">
                <a:solidFill>
                  <a:srgbClr val="920000"/>
                </a:solidFill>
                <a:latin typeface="Arial"/>
                <a:cs typeface="Arial"/>
              </a:rPr>
              <a:t>d</a:t>
            </a:r>
            <a:r>
              <a:rPr sz="1600" b="1" spc="-70" dirty="0">
                <a:solidFill>
                  <a:srgbClr val="920000"/>
                </a:solidFill>
                <a:latin typeface="Arial"/>
                <a:cs typeface="Arial"/>
              </a:rPr>
              <a:t>i</a:t>
            </a:r>
            <a:r>
              <a:rPr sz="1600" b="1" spc="-150" dirty="0">
                <a:solidFill>
                  <a:srgbClr val="920000"/>
                </a:solidFill>
                <a:latin typeface="Arial"/>
                <a:cs typeface="Arial"/>
              </a:rPr>
              <a:t>b</a:t>
            </a:r>
            <a:r>
              <a:rPr sz="1600" b="1" spc="-70" dirty="0">
                <a:solidFill>
                  <a:srgbClr val="920000"/>
                </a:solidFill>
                <a:latin typeface="Arial"/>
                <a:cs typeface="Arial"/>
              </a:rPr>
              <a:t>i</a:t>
            </a:r>
            <a:r>
              <a:rPr sz="1600" b="1" spc="-65" dirty="0">
                <a:solidFill>
                  <a:srgbClr val="920000"/>
                </a:solidFill>
                <a:latin typeface="Arial"/>
                <a:cs typeface="Arial"/>
              </a:rPr>
              <a:t>l</a:t>
            </a:r>
            <a:r>
              <a:rPr sz="1600" b="1" spc="-80" dirty="0">
                <a:solidFill>
                  <a:srgbClr val="920000"/>
                </a:solidFill>
                <a:latin typeface="Arial"/>
                <a:cs typeface="Arial"/>
              </a:rPr>
              <a:t>it</a:t>
            </a:r>
            <a:r>
              <a:rPr sz="1600" b="1" spc="-145" dirty="0">
                <a:solidFill>
                  <a:srgbClr val="920000"/>
                </a:solidFill>
                <a:latin typeface="Arial"/>
                <a:cs typeface="Arial"/>
              </a:rPr>
              <a:t>a</a:t>
            </a:r>
            <a:r>
              <a:rPr sz="1600" b="1" spc="-140" dirty="0">
                <a:solidFill>
                  <a:srgbClr val="920000"/>
                </a:solidFill>
                <a:latin typeface="Arial"/>
                <a:cs typeface="Arial"/>
              </a:rPr>
              <a:t>s</a:t>
            </a:r>
            <a:r>
              <a:rPr sz="1600" b="1" spc="-70" dirty="0">
                <a:solidFill>
                  <a:srgbClr val="920000"/>
                </a:solidFill>
                <a:latin typeface="Arial"/>
                <a:cs typeface="Arial"/>
              </a:rPr>
              <a:t>,</a:t>
            </a:r>
            <a:r>
              <a:rPr sz="1600" b="1" spc="-5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600" b="1" spc="-110" dirty="0">
                <a:solidFill>
                  <a:srgbClr val="920000"/>
                </a:solidFill>
                <a:latin typeface="Arial"/>
                <a:cs typeface="Arial"/>
              </a:rPr>
              <a:t>&amp;  </a:t>
            </a:r>
            <a:r>
              <a:rPr sz="1600" b="1" spc="-70" dirty="0">
                <a:solidFill>
                  <a:srgbClr val="920000"/>
                </a:solidFill>
                <a:latin typeface="Arial"/>
                <a:cs typeface="Arial"/>
              </a:rPr>
              <a:t>i</a:t>
            </a:r>
            <a:r>
              <a:rPr sz="1600" b="1" spc="-150" dirty="0">
                <a:solidFill>
                  <a:srgbClr val="920000"/>
                </a:solidFill>
                <a:latin typeface="Arial"/>
                <a:cs typeface="Arial"/>
              </a:rPr>
              <a:t>n</a:t>
            </a:r>
            <a:r>
              <a:rPr sz="1600" b="1" spc="-85" dirty="0">
                <a:solidFill>
                  <a:srgbClr val="920000"/>
                </a:solidFill>
                <a:latin typeface="Arial"/>
                <a:cs typeface="Arial"/>
              </a:rPr>
              <a:t>t</a:t>
            </a:r>
            <a:r>
              <a:rPr sz="1600" b="1" spc="-150" dirty="0">
                <a:solidFill>
                  <a:srgbClr val="920000"/>
                </a:solidFill>
                <a:latin typeface="Arial"/>
                <a:cs typeface="Arial"/>
              </a:rPr>
              <a:t>e</a:t>
            </a:r>
            <a:r>
              <a:rPr sz="1600" b="1" spc="-114" dirty="0">
                <a:solidFill>
                  <a:srgbClr val="920000"/>
                </a:solidFill>
                <a:latin typeface="Arial"/>
                <a:cs typeface="Arial"/>
              </a:rPr>
              <a:t>gritas</a:t>
            </a:r>
            <a:r>
              <a:rPr sz="1600" b="1" spc="-7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600" spc="-130" dirty="0">
                <a:latin typeface="Arial MT"/>
                <a:cs typeface="Arial MT"/>
              </a:rPr>
              <a:t>y</a:t>
            </a:r>
            <a:r>
              <a:rPr sz="1600" spc="-150" dirty="0">
                <a:latin typeface="Arial MT"/>
                <a:cs typeface="Arial MT"/>
              </a:rPr>
              <a:t>an</a:t>
            </a:r>
            <a:r>
              <a:rPr sz="1600" spc="-140" dirty="0">
                <a:latin typeface="Arial MT"/>
                <a:cs typeface="Arial MT"/>
              </a:rPr>
              <a:t>g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150" dirty="0">
                <a:latin typeface="Arial MT"/>
                <a:cs typeface="Arial MT"/>
              </a:rPr>
              <a:t>ba</a:t>
            </a:r>
            <a:r>
              <a:rPr sz="1600" spc="-95" dirty="0">
                <a:latin typeface="Arial MT"/>
                <a:cs typeface="Arial MT"/>
              </a:rPr>
              <a:t>ik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55" name="object 34">
            <a:extLst>
              <a:ext uri="{FF2B5EF4-FFF2-40B4-BE49-F238E27FC236}">
                <a16:creationId xmlns:a16="http://schemas.microsoft.com/office/drawing/2014/main" id="{63608CB1-29C9-4A3F-BE21-033D5A572D60}"/>
              </a:ext>
            </a:extLst>
          </p:cNvPr>
          <p:cNvSpPr txBox="1"/>
          <p:nvPr/>
        </p:nvSpPr>
        <p:spPr>
          <a:xfrm>
            <a:off x="1367036" y="4235130"/>
            <a:ext cx="4681658" cy="1159163"/>
          </a:xfrm>
          <a:prstGeom prst="rect">
            <a:avLst/>
          </a:prstGeom>
          <a:ln w="28575">
            <a:solidFill>
              <a:srgbClr val="920000"/>
            </a:solidFill>
          </a:ln>
        </p:spPr>
        <p:txBody>
          <a:bodyPr vert="horz" wrap="square" lIns="0" tIns="182245" rIns="0" bIns="0" rtlCol="0">
            <a:spAutoFit/>
          </a:bodyPr>
          <a:lstStyle/>
          <a:p>
            <a:pPr marL="193040" marR="202565" algn="just">
              <a:lnSpc>
                <a:spcPct val="99100"/>
              </a:lnSpc>
              <a:spcBef>
                <a:spcPts val="1435"/>
              </a:spcBef>
            </a:pPr>
            <a:r>
              <a:rPr sz="1600" spc="-120" dirty="0">
                <a:latin typeface="Arial MT"/>
                <a:cs typeface="Arial MT"/>
              </a:rPr>
              <a:t>Memiliki </a:t>
            </a:r>
            <a:r>
              <a:rPr sz="1600" spc="-145" dirty="0">
                <a:latin typeface="Arial MT"/>
                <a:cs typeface="Arial MT"/>
              </a:rPr>
              <a:t>sumber </a:t>
            </a:r>
            <a:r>
              <a:rPr sz="1600" spc="-130" dirty="0">
                <a:latin typeface="Arial MT"/>
                <a:cs typeface="Arial MT"/>
              </a:rPr>
              <a:t>penghasilan </a:t>
            </a:r>
            <a:r>
              <a:rPr sz="1600" spc="-140" dirty="0">
                <a:latin typeface="Arial MT"/>
                <a:cs typeface="Arial MT"/>
              </a:rPr>
              <a:t>utama yang </a:t>
            </a:r>
            <a:r>
              <a:rPr sz="1600" spc="-120" dirty="0">
                <a:latin typeface="Arial MT"/>
                <a:cs typeface="Arial MT"/>
              </a:rPr>
              <a:t>berasal </a:t>
            </a:r>
            <a:r>
              <a:rPr sz="1600" spc="-114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dari</a:t>
            </a:r>
            <a:r>
              <a:rPr sz="1600" spc="-105" dirty="0">
                <a:latin typeface="Arial MT"/>
                <a:cs typeface="Arial MT"/>
              </a:rPr>
              <a:t> </a:t>
            </a:r>
            <a:r>
              <a:rPr sz="1600" spc="-125" dirty="0">
                <a:latin typeface="Arial MT"/>
                <a:cs typeface="Arial MT"/>
              </a:rPr>
              <a:t>kegiatan</a:t>
            </a:r>
            <a:r>
              <a:rPr sz="1600" spc="-120" dirty="0">
                <a:latin typeface="Arial MT"/>
                <a:cs typeface="Arial MT"/>
              </a:rPr>
              <a:t> </a:t>
            </a:r>
            <a:r>
              <a:rPr sz="1600" spc="-145" dirty="0">
                <a:latin typeface="Arial MT"/>
                <a:cs typeface="Arial MT"/>
              </a:rPr>
              <a:t>usaha</a:t>
            </a:r>
            <a:r>
              <a:rPr sz="1600" spc="-140" dirty="0">
                <a:latin typeface="Arial MT"/>
                <a:cs typeface="Arial MT"/>
              </a:rPr>
              <a:t> </a:t>
            </a:r>
            <a:r>
              <a:rPr sz="1600" spc="-125" dirty="0">
                <a:latin typeface="Arial MT"/>
                <a:cs typeface="Arial MT"/>
              </a:rPr>
              <a:t>dan/atau</a:t>
            </a:r>
            <a:r>
              <a:rPr sz="1600" spc="-120" dirty="0">
                <a:latin typeface="Arial MT"/>
                <a:cs typeface="Arial MT"/>
              </a:rPr>
              <a:t> </a:t>
            </a:r>
            <a:r>
              <a:rPr sz="1600" spc="-130" dirty="0">
                <a:latin typeface="Arial MT"/>
                <a:cs typeface="Arial MT"/>
              </a:rPr>
              <a:t>penghasilan</a:t>
            </a:r>
            <a:r>
              <a:rPr sz="1600" spc="125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tetap </a:t>
            </a:r>
            <a:r>
              <a:rPr sz="1600" spc="-105" dirty="0">
                <a:latin typeface="Arial MT"/>
                <a:cs typeface="Arial MT"/>
              </a:rPr>
              <a:t> </a:t>
            </a:r>
            <a:r>
              <a:rPr sz="1600" spc="-110" dirty="0">
                <a:latin typeface="Arial MT"/>
                <a:cs typeface="Arial MT"/>
              </a:rPr>
              <a:t>dari </a:t>
            </a:r>
            <a:r>
              <a:rPr sz="1600" spc="-125" dirty="0">
                <a:latin typeface="Arial MT"/>
                <a:cs typeface="Arial MT"/>
              </a:rPr>
              <a:t>kegiatan </a:t>
            </a:r>
            <a:r>
              <a:rPr sz="1600" spc="-105" dirty="0">
                <a:latin typeface="Arial MT"/>
                <a:cs typeface="Arial MT"/>
              </a:rPr>
              <a:t>lain </a:t>
            </a:r>
            <a:r>
              <a:rPr lang="en-US" sz="1600" b="1" spc="-140" dirty="0" err="1">
                <a:solidFill>
                  <a:srgbClr val="FF0000"/>
                </a:solidFill>
                <a:latin typeface="Arial MT"/>
                <a:cs typeface="Arial MT"/>
              </a:rPr>
              <a:t>sekurang-kurangnya</a:t>
            </a:r>
            <a:r>
              <a:rPr lang="en-US" sz="1600" spc="-140" dirty="0">
                <a:latin typeface="Arial MT"/>
                <a:cs typeface="Arial MT"/>
              </a:rPr>
              <a:t> </a:t>
            </a:r>
            <a:r>
              <a:rPr sz="1600" b="1" spc="-140" dirty="0">
                <a:solidFill>
                  <a:srgbClr val="920000"/>
                </a:solidFill>
                <a:latin typeface="Arial"/>
                <a:cs typeface="Arial"/>
              </a:rPr>
              <a:t>2 </a:t>
            </a:r>
            <a:r>
              <a:rPr sz="1600" b="1" spc="-125" dirty="0">
                <a:solidFill>
                  <a:srgbClr val="920000"/>
                </a:solidFill>
                <a:latin typeface="Arial"/>
                <a:cs typeface="Arial"/>
              </a:rPr>
              <a:t>(dua) </a:t>
            </a:r>
            <a:r>
              <a:rPr sz="1600" b="1" spc="-120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920000"/>
                </a:solidFill>
                <a:latin typeface="Arial"/>
                <a:cs typeface="Arial"/>
              </a:rPr>
              <a:t>tahu</a:t>
            </a:r>
            <a:r>
              <a:rPr sz="1600" b="1" spc="-155" dirty="0">
                <a:solidFill>
                  <a:srgbClr val="920000"/>
                </a:solidFill>
                <a:latin typeface="Arial"/>
                <a:cs typeface="Arial"/>
              </a:rPr>
              <a:t>n</a:t>
            </a:r>
            <a:r>
              <a:rPr sz="1600" b="1" spc="-8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600" b="1" spc="-114" dirty="0">
                <a:solidFill>
                  <a:srgbClr val="920000"/>
                </a:solidFill>
                <a:latin typeface="Arial"/>
                <a:cs typeface="Arial"/>
              </a:rPr>
              <a:t>te</a:t>
            </a:r>
            <a:r>
              <a:rPr sz="1600" b="1" spc="-110" dirty="0">
                <a:solidFill>
                  <a:srgbClr val="920000"/>
                </a:solidFill>
                <a:latin typeface="Arial"/>
                <a:cs typeface="Arial"/>
              </a:rPr>
              <a:t>r</a:t>
            </a:r>
            <a:r>
              <a:rPr sz="1600" b="1" spc="-145" dirty="0">
                <a:solidFill>
                  <a:srgbClr val="920000"/>
                </a:solidFill>
                <a:latin typeface="Arial"/>
                <a:cs typeface="Arial"/>
              </a:rPr>
              <a:t>ak</a:t>
            </a:r>
            <a:r>
              <a:rPr sz="1600" b="1" spc="-155" dirty="0">
                <a:solidFill>
                  <a:srgbClr val="920000"/>
                </a:solidFill>
                <a:latin typeface="Arial"/>
                <a:cs typeface="Arial"/>
              </a:rPr>
              <a:t>h</a:t>
            </a:r>
            <a:r>
              <a:rPr sz="1600" b="1" spc="-85" dirty="0">
                <a:solidFill>
                  <a:srgbClr val="920000"/>
                </a:solidFill>
                <a:latin typeface="Arial"/>
                <a:cs typeface="Arial"/>
              </a:rPr>
              <a:t>ir</a:t>
            </a:r>
            <a:endParaRPr sz="1600" dirty="0">
              <a:latin typeface="Arial"/>
              <a:cs typeface="Arial"/>
            </a:endParaRPr>
          </a:p>
        </p:txBody>
      </p:sp>
      <p:pic>
        <p:nvPicPr>
          <p:cNvPr id="117" name="object 31">
            <a:extLst>
              <a:ext uri="{FF2B5EF4-FFF2-40B4-BE49-F238E27FC236}">
                <a16:creationId xmlns:a16="http://schemas.microsoft.com/office/drawing/2014/main" id="{56601D88-B7AE-4999-8F21-685872513AD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5824" y="4222061"/>
            <a:ext cx="713232" cy="473733"/>
          </a:xfrm>
          <a:prstGeom prst="rect">
            <a:avLst/>
          </a:prstGeom>
        </p:spPr>
      </p:pic>
      <p:sp>
        <p:nvSpPr>
          <p:cNvPr id="133" name="object 30">
            <a:extLst>
              <a:ext uri="{FF2B5EF4-FFF2-40B4-BE49-F238E27FC236}">
                <a16:creationId xmlns:a16="http://schemas.microsoft.com/office/drawing/2014/main" id="{310B3C3A-4384-4D48-945F-1C7203095AF4}"/>
              </a:ext>
            </a:extLst>
          </p:cNvPr>
          <p:cNvSpPr/>
          <p:nvPr/>
        </p:nvSpPr>
        <p:spPr>
          <a:xfrm>
            <a:off x="6857914" y="3011971"/>
            <a:ext cx="4632960" cy="1457154"/>
          </a:xfrm>
          <a:custGeom>
            <a:avLst/>
            <a:gdLst/>
            <a:ahLst/>
            <a:cxnLst/>
            <a:rect l="l" t="t" r="r" b="b"/>
            <a:pathLst>
              <a:path w="4632959" h="1652270">
                <a:moveTo>
                  <a:pt x="4445888" y="0"/>
                </a:moveTo>
                <a:lnTo>
                  <a:pt x="187070" y="0"/>
                </a:lnTo>
                <a:lnTo>
                  <a:pt x="137362" y="6686"/>
                </a:lnTo>
                <a:lnTo>
                  <a:pt x="92681" y="25555"/>
                </a:lnTo>
                <a:lnTo>
                  <a:pt x="54816" y="54816"/>
                </a:lnTo>
                <a:lnTo>
                  <a:pt x="25555" y="92681"/>
                </a:lnTo>
                <a:lnTo>
                  <a:pt x="6686" y="137362"/>
                </a:lnTo>
                <a:lnTo>
                  <a:pt x="0" y="187071"/>
                </a:lnTo>
                <a:lnTo>
                  <a:pt x="0" y="1464945"/>
                </a:lnTo>
                <a:lnTo>
                  <a:pt x="6686" y="1514653"/>
                </a:lnTo>
                <a:lnTo>
                  <a:pt x="25555" y="1559334"/>
                </a:lnTo>
                <a:lnTo>
                  <a:pt x="54816" y="1597199"/>
                </a:lnTo>
                <a:lnTo>
                  <a:pt x="92681" y="1626460"/>
                </a:lnTo>
                <a:lnTo>
                  <a:pt x="137362" y="1645329"/>
                </a:lnTo>
                <a:lnTo>
                  <a:pt x="187070" y="1652016"/>
                </a:lnTo>
                <a:lnTo>
                  <a:pt x="4445888" y="1652016"/>
                </a:lnTo>
                <a:lnTo>
                  <a:pt x="4495597" y="1645329"/>
                </a:lnTo>
                <a:lnTo>
                  <a:pt x="4540278" y="1626460"/>
                </a:lnTo>
                <a:lnTo>
                  <a:pt x="4578143" y="1597199"/>
                </a:lnTo>
                <a:lnTo>
                  <a:pt x="4607404" y="1559334"/>
                </a:lnTo>
                <a:lnTo>
                  <a:pt x="4626273" y="1514653"/>
                </a:lnTo>
                <a:lnTo>
                  <a:pt x="4632959" y="1464945"/>
                </a:lnTo>
                <a:lnTo>
                  <a:pt x="4632959" y="187071"/>
                </a:lnTo>
                <a:lnTo>
                  <a:pt x="4626273" y="137362"/>
                </a:lnTo>
                <a:lnTo>
                  <a:pt x="4607404" y="92681"/>
                </a:lnTo>
                <a:lnTo>
                  <a:pt x="4578143" y="54816"/>
                </a:lnTo>
                <a:lnTo>
                  <a:pt x="4540278" y="25555"/>
                </a:lnTo>
                <a:lnTo>
                  <a:pt x="4495597" y="6686"/>
                </a:lnTo>
                <a:lnTo>
                  <a:pt x="4445888" y="0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37">
            <a:extLst>
              <a:ext uri="{FF2B5EF4-FFF2-40B4-BE49-F238E27FC236}">
                <a16:creationId xmlns:a16="http://schemas.microsoft.com/office/drawing/2014/main" id="{9FDD10F5-C845-44F8-A92C-0BFFE5B4376E}"/>
              </a:ext>
            </a:extLst>
          </p:cNvPr>
          <p:cNvSpPr txBox="1"/>
          <p:nvPr/>
        </p:nvSpPr>
        <p:spPr>
          <a:xfrm>
            <a:off x="7033113" y="3016268"/>
            <a:ext cx="4191000" cy="58674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400" spc="-130" dirty="0">
                <a:latin typeface="Arial MT"/>
                <a:cs typeface="Arial MT"/>
              </a:rPr>
              <a:t>Ber</a:t>
            </a:r>
            <a:r>
              <a:rPr sz="1400" spc="-150" dirty="0">
                <a:latin typeface="Arial MT"/>
                <a:cs typeface="Arial MT"/>
              </a:rPr>
              <a:t>b</a:t>
            </a:r>
            <a:r>
              <a:rPr sz="1400" spc="-145" dirty="0">
                <a:latin typeface="Arial MT"/>
                <a:cs typeface="Arial MT"/>
              </a:rPr>
              <a:t>ada</a:t>
            </a:r>
            <a:r>
              <a:rPr sz="1400" spc="-140" dirty="0">
                <a:latin typeface="Arial MT"/>
                <a:cs typeface="Arial MT"/>
              </a:rPr>
              <a:t>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40" dirty="0">
                <a:latin typeface="Arial MT"/>
                <a:cs typeface="Arial MT"/>
              </a:rPr>
              <a:t>huku</a:t>
            </a:r>
            <a:r>
              <a:rPr sz="1400" spc="-210" dirty="0">
                <a:latin typeface="Arial MT"/>
                <a:cs typeface="Arial MT"/>
              </a:rPr>
              <a:t>m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125" dirty="0">
                <a:latin typeface="Arial MT"/>
                <a:cs typeface="Arial MT"/>
              </a:rPr>
              <a:t>Indon</a:t>
            </a:r>
            <a:r>
              <a:rPr sz="1400" spc="-150" dirty="0">
                <a:latin typeface="Arial MT"/>
                <a:cs typeface="Arial MT"/>
              </a:rPr>
              <a:t>e</a:t>
            </a:r>
            <a:r>
              <a:rPr sz="1400" spc="-95" dirty="0">
                <a:latin typeface="Arial MT"/>
                <a:cs typeface="Arial MT"/>
              </a:rPr>
              <a:t>si</a:t>
            </a:r>
            <a:r>
              <a:rPr sz="1400" spc="-140" dirty="0">
                <a:latin typeface="Arial MT"/>
                <a:cs typeface="Arial MT"/>
              </a:rPr>
              <a:t>a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30" dirty="0">
                <a:latin typeface="Arial MT"/>
                <a:cs typeface="Arial MT"/>
              </a:rPr>
              <a:t>yang:</a:t>
            </a:r>
            <a:endParaRPr sz="1400" dirty="0">
              <a:latin typeface="Arial MT"/>
              <a:cs typeface="Arial MT"/>
            </a:endParaRPr>
          </a:p>
          <a:p>
            <a:pPr marL="601345">
              <a:lnSpc>
                <a:spcPct val="100000"/>
              </a:lnSpc>
              <a:spcBef>
                <a:spcPts val="530"/>
              </a:spcBef>
            </a:pPr>
            <a:r>
              <a:rPr sz="1400" b="1" spc="-135" dirty="0">
                <a:solidFill>
                  <a:srgbClr val="920000"/>
                </a:solidFill>
                <a:latin typeface="Arial"/>
                <a:cs typeface="Arial"/>
              </a:rPr>
              <a:t>diawasi</a:t>
            </a:r>
            <a:r>
              <a:rPr sz="1400" b="1" spc="-4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b="1" spc="-130" dirty="0">
                <a:solidFill>
                  <a:srgbClr val="920000"/>
                </a:solidFill>
                <a:latin typeface="Arial"/>
                <a:cs typeface="Arial"/>
              </a:rPr>
              <a:t>oleh</a:t>
            </a:r>
            <a:r>
              <a:rPr sz="1400" b="1" spc="-4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b="1" spc="-114" dirty="0">
                <a:solidFill>
                  <a:srgbClr val="920000"/>
                </a:solidFill>
                <a:latin typeface="Arial"/>
                <a:cs typeface="Arial"/>
              </a:rPr>
              <a:t>otoritas</a:t>
            </a:r>
            <a:r>
              <a:rPr sz="1400" b="1" spc="-5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b="1" spc="-140" dirty="0">
                <a:solidFill>
                  <a:srgbClr val="920000"/>
                </a:solidFill>
                <a:latin typeface="Arial"/>
                <a:cs typeface="Arial"/>
              </a:rPr>
              <a:t>pengatur</a:t>
            </a:r>
            <a:r>
              <a:rPr sz="1400" b="1" spc="-50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dan</a:t>
            </a:r>
            <a:r>
              <a:rPr sz="1400" b="1" spc="-60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pengawas</a:t>
            </a:r>
            <a:r>
              <a:rPr sz="1400" b="1" spc="-150" dirty="0">
                <a:latin typeface="Arial MT"/>
                <a:cs typeface="Arial MT"/>
              </a:rPr>
              <a:t>,</a:t>
            </a:r>
            <a:r>
              <a:rPr sz="1400" b="1" spc="-45" dirty="0">
                <a:latin typeface="Arial MT"/>
                <a:cs typeface="Arial MT"/>
              </a:rPr>
              <a:t> </a:t>
            </a:r>
            <a:r>
              <a:rPr sz="1400" b="1" spc="-114" dirty="0">
                <a:latin typeface="Arial MT"/>
                <a:cs typeface="Arial MT"/>
              </a:rPr>
              <a:t>serta</a:t>
            </a:r>
            <a:endParaRPr sz="1400" b="1" dirty="0">
              <a:latin typeface="Arial MT"/>
              <a:cs typeface="Arial MT"/>
            </a:endParaRPr>
          </a:p>
        </p:txBody>
      </p:sp>
      <p:sp>
        <p:nvSpPr>
          <p:cNvPr id="135" name="object 38">
            <a:extLst>
              <a:ext uri="{FF2B5EF4-FFF2-40B4-BE49-F238E27FC236}">
                <a16:creationId xmlns:a16="http://schemas.microsoft.com/office/drawing/2014/main" id="{C04CC6F8-72A2-4D8D-9F2F-9A879DAA116C}"/>
              </a:ext>
            </a:extLst>
          </p:cNvPr>
          <p:cNvSpPr txBox="1"/>
          <p:nvPr/>
        </p:nvSpPr>
        <p:spPr>
          <a:xfrm>
            <a:off x="7621759" y="3549683"/>
            <a:ext cx="3602354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28725" algn="l"/>
                <a:tab pos="2117090" algn="l"/>
                <a:tab pos="2853690" algn="l"/>
                <a:tab pos="3152140" algn="l"/>
              </a:tabLst>
            </a:pPr>
            <a:r>
              <a:rPr sz="1400" b="1" spc="-140" dirty="0">
                <a:solidFill>
                  <a:srgbClr val="920000"/>
                </a:solidFill>
                <a:latin typeface="Arial"/>
                <a:cs typeface="Arial"/>
              </a:rPr>
              <a:t>diperkenankan	</a:t>
            </a:r>
            <a:r>
              <a:rPr sz="1400" spc="-145" dirty="0">
                <a:latin typeface="Arial MT"/>
                <a:cs typeface="Arial MT"/>
              </a:rPr>
              <a:t>melakukan	</a:t>
            </a:r>
            <a:r>
              <a:rPr sz="1400" spc="-125" dirty="0">
                <a:latin typeface="Arial MT"/>
                <a:cs typeface="Arial MT"/>
              </a:rPr>
              <a:t>kegiatan	</a:t>
            </a:r>
            <a:r>
              <a:rPr sz="1400" spc="-105" dirty="0">
                <a:latin typeface="Arial MT"/>
                <a:cs typeface="Arial MT"/>
              </a:rPr>
              <a:t>di	</a:t>
            </a:r>
            <a:r>
              <a:rPr sz="1400" spc="-135" dirty="0">
                <a:latin typeface="Arial MT"/>
                <a:cs typeface="Arial MT"/>
              </a:rPr>
              <a:t>bidang</a:t>
            </a:r>
            <a:endParaRPr sz="1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spc="-140" dirty="0">
                <a:latin typeface="Arial MT"/>
                <a:cs typeface="Arial MT"/>
              </a:rPr>
              <a:t>ke</a:t>
            </a:r>
            <a:r>
              <a:rPr sz="1400" spc="-150" dirty="0">
                <a:latin typeface="Arial MT"/>
                <a:cs typeface="Arial MT"/>
              </a:rPr>
              <a:t>u</a:t>
            </a:r>
            <a:r>
              <a:rPr sz="1400" spc="-145" dirty="0">
                <a:latin typeface="Arial MT"/>
                <a:cs typeface="Arial MT"/>
              </a:rPr>
              <a:t>angan</a:t>
            </a:r>
            <a:r>
              <a:rPr sz="1400" spc="-70" dirty="0">
                <a:latin typeface="Arial MT"/>
                <a:cs typeface="Arial MT"/>
              </a:rPr>
              <a:t>;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b="1" spc="-145" dirty="0">
                <a:latin typeface="Arial"/>
                <a:cs typeface="Arial"/>
              </a:rPr>
              <a:t>a</a:t>
            </a:r>
            <a:r>
              <a:rPr sz="1400" b="1" spc="-125" dirty="0">
                <a:latin typeface="Arial"/>
                <a:cs typeface="Arial"/>
              </a:rPr>
              <a:t>tau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36" name="object 39">
            <a:extLst>
              <a:ext uri="{FF2B5EF4-FFF2-40B4-BE49-F238E27FC236}">
                <a16:creationId xmlns:a16="http://schemas.microsoft.com/office/drawing/2014/main" id="{487FD4F3-14B0-4B55-9735-631005EF975D}"/>
              </a:ext>
            </a:extLst>
          </p:cNvPr>
          <p:cNvSpPr txBox="1"/>
          <p:nvPr/>
        </p:nvSpPr>
        <p:spPr>
          <a:xfrm>
            <a:off x="7643136" y="4015178"/>
            <a:ext cx="3602354" cy="447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55"/>
              </a:lnSpc>
              <a:spcBef>
                <a:spcPts val="105"/>
              </a:spcBef>
            </a:pPr>
            <a:r>
              <a:rPr sz="1400" spc="-150" dirty="0">
                <a:latin typeface="Arial MT"/>
                <a:cs typeface="Arial MT"/>
              </a:rPr>
              <a:t>meru</a:t>
            </a:r>
            <a:r>
              <a:rPr sz="1400" spc="-145" dirty="0">
                <a:latin typeface="Arial MT"/>
                <a:cs typeface="Arial MT"/>
              </a:rPr>
              <a:t>pa</a:t>
            </a:r>
            <a:r>
              <a:rPr sz="1400" spc="-140" dirty="0">
                <a:latin typeface="Arial MT"/>
                <a:cs typeface="Arial MT"/>
              </a:rPr>
              <a:t>kan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45" dirty="0">
                <a:latin typeface="Arial MT"/>
                <a:cs typeface="Arial MT"/>
              </a:rPr>
              <a:t>pe</a:t>
            </a:r>
            <a:r>
              <a:rPr sz="1400" spc="-120" dirty="0">
                <a:latin typeface="Arial MT"/>
                <a:cs typeface="Arial MT"/>
              </a:rPr>
              <a:t>rus</a:t>
            </a:r>
            <a:r>
              <a:rPr sz="1400" spc="-150" dirty="0">
                <a:latin typeface="Arial MT"/>
                <a:cs typeface="Arial MT"/>
              </a:rPr>
              <a:t>a</a:t>
            </a:r>
            <a:r>
              <a:rPr sz="1400" spc="-135" dirty="0">
                <a:latin typeface="Arial MT"/>
                <a:cs typeface="Arial MT"/>
              </a:rPr>
              <a:t>h</a:t>
            </a:r>
            <a:r>
              <a:rPr sz="1400" spc="-145" dirty="0">
                <a:latin typeface="Arial MT"/>
                <a:cs typeface="Arial MT"/>
              </a:rPr>
              <a:t>aa</a:t>
            </a:r>
            <a:r>
              <a:rPr sz="1400" spc="-140" dirty="0">
                <a:latin typeface="Arial MT"/>
                <a:cs typeface="Arial MT"/>
              </a:rPr>
              <a:t>n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45" dirty="0">
                <a:latin typeface="Arial MT"/>
                <a:cs typeface="Arial MT"/>
              </a:rPr>
              <a:t>dagan</a:t>
            </a:r>
            <a:r>
              <a:rPr sz="1400" spc="-140" dirty="0">
                <a:latin typeface="Arial MT"/>
                <a:cs typeface="Arial MT"/>
              </a:rPr>
              <a:t>g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40" dirty="0">
                <a:latin typeface="Arial MT"/>
                <a:cs typeface="Arial MT"/>
              </a:rPr>
              <a:t>yang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200" dirty="0">
                <a:latin typeface="Arial MT"/>
                <a:cs typeface="Arial MT"/>
              </a:rPr>
              <a:t>m</a:t>
            </a:r>
            <a:r>
              <a:rPr sz="1400" spc="-140" dirty="0">
                <a:latin typeface="Arial MT"/>
                <a:cs typeface="Arial MT"/>
              </a:rPr>
              <a:t>emi</a:t>
            </a:r>
            <a:r>
              <a:rPr sz="1400" spc="-70" dirty="0">
                <a:latin typeface="Arial MT"/>
                <a:cs typeface="Arial MT"/>
              </a:rPr>
              <a:t>l</a:t>
            </a:r>
            <a:r>
              <a:rPr sz="1400" spc="-95" dirty="0">
                <a:latin typeface="Arial MT"/>
                <a:cs typeface="Arial MT"/>
              </a:rPr>
              <a:t>ik</a:t>
            </a:r>
            <a:r>
              <a:rPr sz="1400" spc="-60" dirty="0">
                <a:latin typeface="Arial MT"/>
                <a:cs typeface="Arial MT"/>
              </a:rPr>
              <a:t>i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65" dirty="0">
                <a:latin typeface="Arial MT"/>
                <a:cs typeface="Arial MT"/>
              </a:rPr>
              <a:t>j</a:t>
            </a:r>
            <a:r>
              <a:rPr sz="1400" spc="-150" dirty="0">
                <a:latin typeface="Arial MT"/>
                <a:cs typeface="Arial MT"/>
              </a:rPr>
              <a:t>a</a:t>
            </a:r>
            <a:r>
              <a:rPr sz="1400" spc="-70" dirty="0">
                <a:latin typeface="Arial MT"/>
                <a:cs typeface="Arial MT"/>
              </a:rPr>
              <a:t>ri</a:t>
            </a:r>
            <a:r>
              <a:rPr sz="1400" spc="-150" dirty="0">
                <a:latin typeface="Arial MT"/>
                <a:cs typeface="Arial MT"/>
              </a:rPr>
              <a:t>n</a:t>
            </a:r>
            <a:r>
              <a:rPr sz="1400" spc="-145" dirty="0">
                <a:latin typeface="Arial MT"/>
                <a:cs typeface="Arial MT"/>
              </a:rPr>
              <a:t>ga</a:t>
            </a:r>
            <a:r>
              <a:rPr sz="1400" spc="-140" dirty="0">
                <a:latin typeface="Arial MT"/>
                <a:cs typeface="Arial MT"/>
              </a:rPr>
              <a:t>n</a:t>
            </a:r>
            <a:endParaRPr sz="1400" dirty="0">
              <a:latin typeface="Arial MT"/>
              <a:cs typeface="Arial MT"/>
            </a:endParaRPr>
          </a:p>
          <a:p>
            <a:pPr marL="12700">
              <a:lnSpc>
                <a:spcPts val="1655"/>
              </a:lnSpc>
            </a:pPr>
            <a:r>
              <a:rPr lang="en-ID" sz="1400" b="1" spc="-95" dirty="0">
                <a:solidFill>
                  <a:srgbClr val="920000"/>
                </a:solidFill>
                <a:latin typeface="Arial"/>
                <a:cs typeface="Arial"/>
              </a:rPr>
              <a:t>R</a:t>
            </a:r>
            <a:r>
              <a:rPr sz="1400" b="1" spc="-95" dirty="0" err="1">
                <a:solidFill>
                  <a:srgbClr val="920000"/>
                </a:solidFill>
                <a:latin typeface="Arial"/>
                <a:cs typeface="Arial"/>
              </a:rPr>
              <a:t>itel</a:t>
            </a:r>
            <a:r>
              <a:rPr lang="en-US" sz="1400" b="1" spc="-95" dirty="0">
                <a:solidFill>
                  <a:srgbClr val="920000"/>
                </a:solidFill>
                <a:latin typeface="Arial"/>
                <a:cs typeface="Arial"/>
              </a:rPr>
              <a:t> outlet</a:t>
            </a:r>
            <a:endParaRPr sz="1400" dirty="0">
              <a:latin typeface="Arial"/>
              <a:cs typeface="Arial"/>
            </a:endParaRPr>
          </a:p>
        </p:txBody>
      </p:sp>
      <p:pic>
        <p:nvPicPr>
          <p:cNvPr id="137" name="object 42">
            <a:extLst>
              <a:ext uri="{FF2B5EF4-FFF2-40B4-BE49-F238E27FC236}">
                <a16:creationId xmlns:a16="http://schemas.microsoft.com/office/drawing/2014/main" id="{B30C5A61-4372-4DE6-8EDC-3A45E1057BD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49496" y="3401307"/>
            <a:ext cx="446532" cy="446532"/>
          </a:xfrm>
          <a:prstGeom prst="rect">
            <a:avLst/>
          </a:prstGeom>
        </p:spPr>
      </p:pic>
      <p:pic>
        <p:nvPicPr>
          <p:cNvPr id="138" name="object 43">
            <a:extLst>
              <a:ext uri="{FF2B5EF4-FFF2-40B4-BE49-F238E27FC236}">
                <a16:creationId xmlns:a16="http://schemas.microsoft.com/office/drawing/2014/main" id="{8874B522-6274-4EE7-A430-811C9579B000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82638" y="4020016"/>
            <a:ext cx="440436" cy="438912"/>
          </a:xfrm>
          <a:prstGeom prst="rect">
            <a:avLst/>
          </a:prstGeom>
        </p:spPr>
      </p:pic>
      <p:grpSp>
        <p:nvGrpSpPr>
          <p:cNvPr id="139" name="object 5">
            <a:extLst>
              <a:ext uri="{FF2B5EF4-FFF2-40B4-BE49-F238E27FC236}">
                <a16:creationId xmlns:a16="http://schemas.microsoft.com/office/drawing/2014/main" id="{FF2B44C8-5B11-4A00-B257-2C498FFB09E3}"/>
              </a:ext>
            </a:extLst>
          </p:cNvPr>
          <p:cNvGrpSpPr/>
          <p:nvPr/>
        </p:nvGrpSpPr>
        <p:grpSpPr>
          <a:xfrm>
            <a:off x="9259390" y="4499031"/>
            <a:ext cx="2042160" cy="772795"/>
            <a:chOff x="7653528" y="4066032"/>
            <a:chExt cx="2042160" cy="772795"/>
          </a:xfrm>
        </p:grpSpPr>
        <p:sp>
          <p:nvSpPr>
            <p:cNvPr id="140" name="object 6">
              <a:extLst>
                <a:ext uri="{FF2B5EF4-FFF2-40B4-BE49-F238E27FC236}">
                  <a16:creationId xmlns:a16="http://schemas.microsoft.com/office/drawing/2014/main" id="{942D1D17-C33B-4D75-8121-1977C5322A46}"/>
                </a:ext>
              </a:extLst>
            </p:cNvPr>
            <p:cNvSpPr/>
            <p:nvPr/>
          </p:nvSpPr>
          <p:spPr>
            <a:xfrm>
              <a:off x="8249412" y="4066032"/>
              <a:ext cx="1446530" cy="772795"/>
            </a:xfrm>
            <a:custGeom>
              <a:avLst/>
              <a:gdLst/>
              <a:ahLst/>
              <a:cxnLst/>
              <a:rect l="l" t="t" r="r" b="b"/>
              <a:pathLst>
                <a:path w="1446529" h="772795">
                  <a:moveTo>
                    <a:pt x="1375918" y="0"/>
                  </a:moveTo>
                  <a:lnTo>
                    <a:pt x="70358" y="0"/>
                  </a:lnTo>
                  <a:lnTo>
                    <a:pt x="42969" y="5528"/>
                  </a:lnTo>
                  <a:lnTo>
                    <a:pt x="20605" y="20605"/>
                  </a:lnTo>
                  <a:lnTo>
                    <a:pt x="5528" y="42969"/>
                  </a:lnTo>
                  <a:lnTo>
                    <a:pt x="0" y="70358"/>
                  </a:lnTo>
                  <a:lnTo>
                    <a:pt x="0" y="702310"/>
                  </a:lnTo>
                  <a:lnTo>
                    <a:pt x="5528" y="729698"/>
                  </a:lnTo>
                  <a:lnTo>
                    <a:pt x="20605" y="752062"/>
                  </a:lnTo>
                  <a:lnTo>
                    <a:pt x="42969" y="767139"/>
                  </a:lnTo>
                  <a:lnTo>
                    <a:pt x="70358" y="772668"/>
                  </a:lnTo>
                  <a:lnTo>
                    <a:pt x="1375918" y="772668"/>
                  </a:lnTo>
                  <a:lnTo>
                    <a:pt x="1403306" y="767139"/>
                  </a:lnTo>
                  <a:lnTo>
                    <a:pt x="1425670" y="752062"/>
                  </a:lnTo>
                  <a:lnTo>
                    <a:pt x="1440747" y="729698"/>
                  </a:lnTo>
                  <a:lnTo>
                    <a:pt x="1446276" y="702310"/>
                  </a:lnTo>
                  <a:lnTo>
                    <a:pt x="1446276" y="70358"/>
                  </a:lnTo>
                  <a:lnTo>
                    <a:pt x="1440747" y="42969"/>
                  </a:lnTo>
                  <a:lnTo>
                    <a:pt x="1425670" y="20605"/>
                  </a:lnTo>
                  <a:lnTo>
                    <a:pt x="1403306" y="5528"/>
                  </a:lnTo>
                  <a:lnTo>
                    <a:pt x="1375918" y="0"/>
                  </a:lnTo>
                  <a:close/>
                </a:path>
              </a:pathLst>
            </a:custGeom>
            <a:solidFill>
              <a:srgbClr val="FCEAD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41" name="object 7">
              <a:extLst>
                <a:ext uri="{FF2B5EF4-FFF2-40B4-BE49-F238E27FC236}">
                  <a16:creationId xmlns:a16="http://schemas.microsoft.com/office/drawing/2014/main" id="{F795B23A-7425-4CCA-8999-96E4D098FC6A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53528" y="4076700"/>
              <a:ext cx="618744" cy="620268"/>
            </a:xfrm>
            <a:prstGeom prst="rect">
              <a:avLst/>
            </a:prstGeom>
          </p:spPr>
        </p:pic>
      </p:grpSp>
      <p:sp>
        <p:nvSpPr>
          <p:cNvPr id="142" name="object 40">
            <a:extLst>
              <a:ext uri="{FF2B5EF4-FFF2-40B4-BE49-F238E27FC236}">
                <a16:creationId xmlns:a16="http://schemas.microsoft.com/office/drawing/2014/main" id="{7D0FBA97-22AD-40B4-B6F8-4D8028BB07A0}"/>
              </a:ext>
            </a:extLst>
          </p:cNvPr>
          <p:cNvSpPr/>
          <p:nvPr/>
        </p:nvSpPr>
        <p:spPr>
          <a:xfrm>
            <a:off x="7383007" y="4525819"/>
            <a:ext cx="1853564" cy="772796"/>
          </a:xfrm>
          <a:custGeom>
            <a:avLst/>
            <a:gdLst/>
            <a:ahLst/>
            <a:cxnLst/>
            <a:rect l="l" t="t" r="r" b="b"/>
            <a:pathLst>
              <a:path w="1853565" h="772795">
                <a:moveTo>
                  <a:pt x="1803146" y="0"/>
                </a:moveTo>
                <a:lnTo>
                  <a:pt x="50037" y="0"/>
                </a:lnTo>
                <a:lnTo>
                  <a:pt x="30539" y="3925"/>
                </a:lnTo>
                <a:lnTo>
                  <a:pt x="14636" y="14636"/>
                </a:lnTo>
                <a:lnTo>
                  <a:pt x="3925" y="30539"/>
                </a:lnTo>
                <a:lnTo>
                  <a:pt x="0" y="50037"/>
                </a:lnTo>
                <a:lnTo>
                  <a:pt x="0" y="722629"/>
                </a:lnTo>
                <a:lnTo>
                  <a:pt x="3925" y="742128"/>
                </a:lnTo>
                <a:lnTo>
                  <a:pt x="14636" y="758031"/>
                </a:lnTo>
                <a:lnTo>
                  <a:pt x="30539" y="768742"/>
                </a:lnTo>
                <a:lnTo>
                  <a:pt x="50037" y="772667"/>
                </a:lnTo>
                <a:lnTo>
                  <a:pt x="1803146" y="772667"/>
                </a:lnTo>
                <a:lnTo>
                  <a:pt x="1822644" y="768742"/>
                </a:lnTo>
                <a:lnTo>
                  <a:pt x="1838547" y="758031"/>
                </a:lnTo>
                <a:lnTo>
                  <a:pt x="1849258" y="742128"/>
                </a:lnTo>
                <a:lnTo>
                  <a:pt x="1853183" y="722629"/>
                </a:lnTo>
                <a:lnTo>
                  <a:pt x="1853183" y="50037"/>
                </a:lnTo>
                <a:lnTo>
                  <a:pt x="1849258" y="30539"/>
                </a:lnTo>
                <a:lnTo>
                  <a:pt x="1838547" y="14636"/>
                </a:lnTo>
                <a:lnTo>
                  <a:pt x="1822644" y="3925"/>
                </a:lnTo>
                <a:lnTo>
                  <a:pt x="1803146" y="0"/>
                </a:lnTo>
                <a:close/>
              </a:path>
            </a:pathLst>
          </a:custGeom>
          <a:solidFill>
            <a:srgbClr val="FCEADA"/>
          </a:solidFill>
        </p:spPr>
        <p:txBody>
          <a:bodyPr wrap="square" lIns="0" tIns="0" rIns="0" bIns="0" rtlCol="0"/>
          <a:lstStyle/>
          <a:p>
            <a:pPr algn="just"/>
            <a:endParaRPr sz="1400" dirty="0">
              <a:latin typeface="Arial MT"/>
              <a:cs typeface="Arial" panose="020B0604020202020204" pitchFamily="34" charset="0"/>
            </a:endParaRPr>
          </a:p>
        </p:txBody>
      </p:sp>
      <p:pic>
        <p:nvPicPr>
          <p:cNvPr id="143" name="object 51">
            <a:extLst>
              <a:ext uri="{FF2B5EF4-FFF2-40B4-BE49-F238E27FC236}">
                <a16:creationId xmlns:a16="http://schemas.microsoft.com/office/drawing/2014/main" id="{D84081FE-F1B0-455F-83F8-54F8EF606BF0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810607" y="4563594"/>
            <a:ext cx="591312" cy="589788"/>
          </a:xfrm>
          <a:prstGeom prst="rect">
            <a:avLst/>
          </a:prstGeom>
        </p:spPr>
      </p:pic>
      <p:sp>
        <p:nvSpPr>
          <p:cNvPr id="144" name="object 46">
            <a:extLst>
              <a:ext uri="{FF2B5EF4-FFF2-40B4-BE49-F238E27FC236}">
                <a16:creationId xmlns:a16="http://schemas.microsoft.com/office/drawing/2014/main" id="{C72FDE28-20F5-4110-8DDF-48F79BF34228}"/>
              </a:ext>
            </a:extLst>
          </p:cNvPr>
          <p:cNvSpPr txBox="1"/>
          <p:nvPr/>
        </p:nvSpPr>
        <p:spPr>
          <a:xfrm>
            <a:off x="7436072" y="4538501"/>
            <a:ext cx="8280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75" dirty="0">
                <a:latin typeface="Arial MT"/>
                <a:cs typeface="Arial MT"/>
              </a:rPr>
              <a:t>Mampu</a:t>
            </a:r>
            <a:endParaRPr sz="1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spc="-225" dirty="0">
                <a:solidFill>
                  <a:srgbClr val="920000"/>
                </a:solidFill>
                <a:latin typeface="Arial"/>
                <a:cs typeface="Arial"/>
              </a:rPr>
              <a:t>m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a</a:t>
            </a:r>
            <a:r>
              <a:rPr sz="1400" b="1" spc="-155" dirty="0">
                <a:solidFill>
                  <a:srgbClr val="920000"/>
                </a:solidFill>
                <a:latin typeface="Arial"/>
                <a:cs typeface="Arial"/>
              </a:rPr>
              <a:t>n</a:t>
            </a:r>
            <a:r>
              <a:rPr sz="1400" b="1" spc="-145" dirty="0">
                <a:solidFill>
                  <a:srgbClr val="920000"/>
                </a:solidFill>
                <a:latin typeface="Arial"/>
                <a:cs typeface="Arial"/>
              </a:rPr>
              <a:t>ajem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e</a:t>
            </a:r>
            <a:r>
              <a:rPr sz="1400" b="1" spc="-155" dirty="0">
                <a:solidFill>
                  <a:srgbClr val="920000"/>
                </a:solidFill>
                <a:latin typeface="Arial"/>
                <a:cs typeface="Arial"/>
              </a:rPr>
              <a:t>n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45" name="object 47">
            <a:extLst>
              <a:ext uri="{FF2B5EF4-FFF2-40B4-BE49-F238E27FC236}">
                <a16:creationId xmlns:a16="http://schemas.microsoft.com/office/drawing/2014/main" id="{6ADBC52E-93D3-4D7B-B1D2-6C704DA60F75}"/>
              </a:ext>
            </a:extLst>
          </p:cNvPr>
          <p:cNvSpPr txBox="1"/>
          <p:nvPr/>
        </p:nvSpPr>
        <p:spPr>
          <a:xfrm>
            <a:off x="8422619" y="4499031"/>
            <a:ext cx="73152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40" dirty="0">
                <a:latin typeface="Arial MT"/>
                <a:cs typeface="Arial MT"/>
              </a:rPr>
              <a:t>melakukan</a:t>
            </a:r>
            <a:endParaRPr sz="1400" dirty="0">
              <a:latin typeface="Arial MT"/>
              <a:cs typeface="Arial MT"/>
            </a:endParaRPr>
          </a:p>
          <a:p>
            <a:pPr marL="82550">
              <a:lnSpc>
                <a:spcPct val="100000"/>
              </a:lnSpc>
            </a:pPr>
            <a:r>
              <a:rPr sz="1400" b="1" spc="-110" dirty="0">
                <a:latin typeface="Arial"/>
                <a:cs typeface="Arial"/>
              </a:rPr>
              <a:t>l</a:t>
            </a:r>
            <a:r>
              <a:rPr sz="1400" b="1" spc="-110" dirty="0">
                <a:solidFill>
                  <a:srgbClr val="920000"/>
                </a:solidFill>
                <a:latin typeface="Arial"/>
                <a:cs typeface="Arial"/>
              </a:rPr>
              <a:t>ikuiditas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46" name="object 48">
            <a:extLst>
              <a:ext uri="{FF2B5EF4-FFF2-40B4-BE49-F238E27FC236}">
                <a16:creationId xmlns:a16="http://schemas.microsoft.com/office/drawing/2014/main" id="{E8FFA800-C856-4093-A6A5-0BB014BC3869}"/>
              </a:ext>
            </a:extLst>
          </p:cNvPr>
          <p:cNvSpPr txBox="1"/>
          <p:nvPr/>
        </p:nvSpPr>
        <p:spPr>
          <a:xfrm>
            <a:off x="7496028" y="4978574"/>
            <a:ext cx="163258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30" dirty="0">
                <a:latin typeface="Arial MT"/>
                <a:cs typeface="Arial MT"/>
              </a:rPr>
              <a:t>s</a:t>
            </a:r>
            <a:r>
              <a:rPr sz="1400" spc="-150" dirty="0">
                <a:latin typeface="Arial MT"/>
                <a:cs typeface="Arial MT"/>
              </a:rPr>
              <a:t>e</a:t>
            </a:r>
            <a:r>
              <a:rPr sz="1400" spc="-130" dirty="0">
                <a:latin typeface="Arial MT"/>
                <a:cs typeface="Arial MT"/>
              </a:rPr>
              <a:t>s</a:t>
            </a:r>
            <a:r>
              <a:rPr sz="1400" spc="-150" dirty="0">
                <a:latin typeface="Arial MT"/>
                <a:cs typeface="Arial MT"/>
              </a:rPr>
              <a:t>ua</a:t>
            </a:r>
            <a:r>
              <a:rPr sz="1400" spc="-55" dirty="0">
                <a:latin typeface="Arial MT"/>
                <a:cs typeface="Arial MT"/>
              </a:rPr>
              <a:t>i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150" dirty="0">
                <a:latin typeface="Arial MT"/>
                <a:cs typeface="Arial MT"/>
              </a:rPr>
              <a:t>pe</a:t>
            </a:r>
            <a:r>
              <a:rPr sz="1400" spc="-110" dirty="0">
                <a:latin typeface="Arial MT"/>
                <a:cs typeface="Arial MT"/>
              </a:rPr>
              <a:t>rsy</a:t>
            </a:r>
            <a:r>
              <a:rPr sz="1400" spc="-150" dirty="0">
                <a:latin typeface="Arial MT"/>
                <a:cs typeface="Arial MT"/>
              </a:rPr>
              <a:t>a</a:t>
            </a:r>
            <a:r>
              <a:rPr sz="1400" spc="-85" dirty="0">
                <a:latin typeface="Arial MT"/>
                <a:cs typeface="Arial MT"/>
              </a:rPr>
              <a:t>r</a:t>
            </a:r>
            <a:r>
              <a:rPr sz="1400" spc="-150" dirty="0">
                <a:latin typeface="Arial MT"/>
                <a:cs typeface="Arial MT"/>
              </a:rPr>
              <a:t>a</a:t>
            </a:r>
            <a:r>
              <a:rPr sz="1400" spc="-114" dirty="0">
                <a:latin typeface="Arial MT"/>
                <a:cs typeface="Arial MT"/>
              </a:rPr>
              <a:t>tan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65" dirty="0">
                <a:latin typeface="Arial MT"/>
                <a:cs typeface="Arial MT"/>
              </a:rPr>
              <a:t>B</a:t>
            </a:r>
            <a:r>
              <a:rPr sz="1400" spc="-150" dirty="0">
                <a:latin typeface="Arial MT"/>
                <a:cs typeface="Arial MT"/>
              </a:rPr>
              <a:t>an</a:t>
            </a:r>
            <a:r>
              <a:rPr sz="1400" spc="-125" dirty="0">
                <a:latin typeface="Arial MT"/>
                <a:cs typeface="Arial MT"/>
              </a:rPr>
              <a:t>k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150" name="object 45">
            <a:extLst>
              <a:ext uri="{FF2B5EF4-FFF2-40B4-BE49-F238E27FC236}">
                <a16:creationId xmlns:a16="http://schemas.microsoft.com/office/drawing/2014/main" id="{2396D903-8832-4797-B441-E2CD547D06CD}"/>
              </a:ext>
            </a:extLst>
          </p:cNvPr>
          <p:cNvSpPr txBox="1"/>
          <p:nvPr/>
        </p:nvSpPr>
        <p:spPr>
          <a:xfrm>
            <a:off x="9983385" y="4549519"/>
            <a:ext cx="120205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90" dirty="0">
                <a:latin typeface="Arial MT"/>
                <a:cs typeface="Arial MT"/>
              </a:rPr>
              <a:t>Mem</a:t>
            </a:r>
            <a:r>
              <a:rPr sz="1400" spc="-70" dirty="0">
                <a:latin typeface="Arial MT"/>
                <a:cs typeface="Arial MT"/>
              </a:rPr>
              <a:t>i</a:t>
            </a:r>
            <a:r>
              <a:rPr sz="1400" spc="-65" dirty="0">
                <a:latin typeface="Arial MT"/>
                <a:cs typeface="Arial MT"/>
              </a:rPr>
              <a:t>l</a:t>
            </a:r>
            <a:r>
              <a:rPr sz="1400" spc="-70" dirty="0">
                <a:latin typeface="Arial MT"/>
                <a:cs typeface="Arial MT"/>
              </a:rPr>
              <a:t>i</a:t>
            </a:r>
            <a:r>
              <a:rPr sz="1400" spc="-130" dirty="0">
                <a:latin typeface="Arial MT"/>
                <a:cs typeface="Arial MT"/>
              </a:rPr>
              <a:t>k</a:t>
            </a:r>
            <a:r>
              <a:rPr sz="1400" spc="-60" dirty="0">
                <a:latin typeface="Arial MT"/>
                <a:cs typeface="Arial MT"/>
              </a:rPr>
              <a:t>i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b="1" spc="-100" dirty="0">
                <a:latin typeface="Arial"/>
                <a:cs typeface="Arial"/>
              </a:rPr>
              <a:t>r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e</a:t>
            </a:r>
            <a:r>
              <a:rPr sz="1400" b="1" spc="-155" dirty="0">
                <a:solidFill>
                  <a:srgbClr val="920000"/>
                </a:solidFill>
                <a:latin typeface="Arial"/>
                <a:cs typeface="Arial"/>
              </a:rPr>
              <a:t>pu</a:t>
            </a:r>
            <a:r>
              <a:rPr sz="1400" b="1" spc="-114" dirty="0">
                <a:solidFill>
                  <a:srgbClr val="920000"/>
                </a:solidFill>
                <a:latin typeface="Arial"/>
                <a:cs typeface="Arial"/>
              </a:rPr>
              <a:t>ta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s</a:t>
            </a:r>
            <a:r>
              <a:rPr sz="1400" b="1" spc="-65" dirty="0">
                <a:solidFill>
                  <a:srgbClr val="920000"/>
                </a:solidFill>
                <a:latin typeface="Arial"/>
                <a:cs typeface="Arial"/>
              </a:rPr>
              <a:t>i</a:t>
            </a:r>
            <a:r>
              <a:rPr sz="1400" b="1" spc="-70" dirty="0">
                <a:solidFill>
                  <a:srgbClr val="920000"/>
                </a:solidFill>
                <a:latin typeface="Arial"/>
                <a:cs typeface="Arial"/>
              </a:rPr>
              <a:t>,  </a:t>
            </a:r>
            <a:r>
              <a:rPr sz="1400" b="1" spc="-145" dirty="0">
                <a:solidFill>
                  <a:srgbClr val="920000"/>
                </a:solidFill>
                <a:latin typeface="Arial"/>
                <a:cs typeface="Arial"/>
              </a:rPr>
              <a:t>k</a:t>
            </a:r>
            <a:r>
              <a:rPr sz="1400" b="1" spc="-100" dirty="0">
                <a:solidFill>
                  <a:srgbClr val="920000"/>
                </a:solidFill>
                <a:latin typeface="Arial"/>
                <a:cs typeface="Arial"/>
              </a:rPr>
              <a:t>r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e</a:t>
            </a:r>
            <a:r>
              <a:rPr sz="1400" b="1" spc="-155" dirty="0">
                <a:solidFill>
                  <a:srgbClr val="920000"/>
                </a:solidFill>
                <a:latin typeface="Arial"/>
                <a:cs typeface="Arial"/>
              </a:rPr>
              <a:t>d</a:t>
            </a:r>
            <a:r>
              <a:rPr sz="1400" b="1" spc="-70" dirty="0">
                <a:solidFill>
                  <a:srgbClr val="920000"/>
                </a:solidFill>
                <a:latin typeface="Arial"/>
                <a:cs typeface="Arial"/>
              </a:rPr>
              <a:t>i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b</a:t>
            </a:r>
            <a:r>
              <a:rPr sz="1400" b="1" spc="-70" dirty="0">
                <a:solidFill>
                  <a:srgbClr val="920000"/>
                </a:solidFill>
                <a:latin typeface="Arial"/>
                <a:cs typeface="Arial"/>
              </a:rPr>
              <a:t>i</a:t>
            </a:r>
            <a:r>
              <a:rPr sz="1400" b="1" spc="-65" dirty="0">
                <a:solidFill>
                  <a:srgbClr val="920000"/>
                </a:solidFill>
                <a:latin typeface="Arial"/>
                <a:cs typeface="Arial"/>
              </a:rPr>
              <a:t>l</a:t>
            </a:r>
            <a:r>
              <a:rPr sz="1400" b="1" spc="-80" dirty="0">
                <a:solidFill>
                  <a:srgbClr val="920000"/>
                </a:solidFill>
                <a:latin typeface="Arial"/>
                <a:cs typeface="Arial"/>
              </a:rPr>
              <a:t>it</a:t>
            </a:r>
            <a:r>
              <a:rPr sz="1400" b="1" spc="-145" dirty="0">
                <a:solidFill>
                  <a:srgbClr val="920000"/>
                </a:solidFill>
                <a:latin typeface="Arial"/>
                <a:cs typeface="Arial"/>
              </a:rPr>
              <a:t>a</a:t>
            </a:r>
            <a:r>
              <a:rPr sz="1400" b="1" spc="-140" dirty="0">
                <a:solidFill>
                  <a:srgbClr val="920000"/>
                </a:solidFill>
                <a:latin typeface="Arial"/>
                <a:cs typeface="Arial"/>
              </a:rPr>
              <a:t>s</a:t>
            </a:r>
            <a:r>
              <a:rPr sz="1400" b="1" spc="-70" dirty="0">
                <a:solidFill>
                  <a:srgbClr val="920000"/>
                </a:solidFill>
                <a:latin typeface="Arial"/>
                <a:cs typeface="Arial"/>
              </a:rPr>
              <a:t>,</a:t>
            </a:r>
            <a:r>
              <a:rPr sz="1400" b="1" spc="-6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b="1" spc="-110" dirty="0">
                <a:solidFill>
                  <a:srgbClr val="920000"/>
                </a:solidFill>
                <a:latin typeface="Arial"/>
                <a:cs typeface="Arial"/>
              </a:rPr>
              <a:t>&amp;  </a:t>
            </a:r>
            <a:r>
              <a:rPr sz="1400" b="1" spc="-145" dirty="0">
                <a:solidFill>
                  <a:srgbClr val="920000"/>
                </a:solidFill>
                <a:latin typeface="Arial"/>
                <a:cs typeface="Arial"/>
              </a:rPr>
              <a:t>k</a:t>
            </a:r>
            <a:r>
              <a:rPr sz="1400" b="1" spc="-70" dirty="0">
                <a:solidFill>
                  <a:srgbClr val="920000"/>
                </a:solidFill>
                <a:latin typeface="Arial"/>
                <a:cs typeface="Arial"/>
              </a:rPr>
              <a:t>i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n</a:t>
            </a:r>
            <a:r>
              <a:rPr sz="1400" b="1" spc="-145" dirty="0">
                <a:solidFill>
                  <a:srgbClr val="920000"/>
                </a:solidFill>
                <a:latin typeface="Arial"/>
                <a:cs typeface="Arial"/>
              </a:rPr>
              <a:t>e</a:t>
            </a:r>
            <a:r>
              <a:rPr sz="1400" b="1" spc="-105" dirty="0">
                <a:solidFill>
                  <a:srgbClr val="920000"/>
                </a:solidFill>
                <a:latin typeface="Arial"/>
                <a:cs typeface="Arial"/>
              </a:rPr>
              <a:t>rja</a:t>
            </a:r>
            <a:r>
              <a:rPr sz="1400" b="1" spc="-70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spc="-140" dirty="0">
                <a:latin typeface="Arial MT"/>
                <a:cs typeface="Arial MT"/>
              </a:rPr>
              <a:t>ya</a:t>
            </a:r>
            <a:r>
              <a:rPr sz="1400" spc="-150" dirty="0">
                <a:latin typeface="Arial MT"/>
                <a:cs typeface="Arial MT"/>
              </a:rPr>
              <a:t>n</a:t>
            </a:r>
            <a:r>
              <a:rPr sz="1400" spc="-140" dirty="0">
                <a:latin typeface="Arial MT"/>
                <a:cs typeface="Arial MT"/>
              </a:rPr>
              <a:t>g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20" dirty="0">
                <a:latin typeface="Arial MT"/>
                <a:cs typeface="Arial MT"/>
              </a:rPr>
              <a:t>baik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151" name="object 36">
            <a:extLst>
              <a:ext uri="{FF2B5EF4-FFF2-40B4-BE49-F238E27FC236}">
                <a16:creationId xmlns:a16="http://schemas.microsoft.com/office/drawing/2014/main" id="{4369A00D-6313-4239-9008-A670E49CF6D5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870223" y="5872185"/>
            <a:ext cx="487679" cy="369810"/>
          </a:xfrm>
          <a:prstGeom prst="rect">
            <a:avLst/>
          </a:prstGeom>
        </p:spPr>
      </p:pic>
      <p:sp>
        <p:nvSpPr>
          <p:cNvPr id="152" name="object 49">
            <a:extLst>
              <a:ext uri="{FF2B5EF4-FFF2-40B4-BE49-F238E27FC236}">
                <a16:creationId xmlns:a16="http://schemas.microsoft.com/office/drawing/2014/main" id="{ACC65029-B85C-4F73-953F-FE537845E93A}"/>
              </a:ext>
            </a:extLst>
          </p:cNvPr>
          <p:cNvSpPr txBox="1"/>
          <p:nvPr/>
        </p:nvSpPr>
        <p:spPr>
          <a:xfrm>
            <a:off x="7398985" y="5257020"/>
            <a:ext cx="4140892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spc="-120" dirty="0">
                <a:latin typeface="Arial MT"/>
                <a:cs typeface="Arial MT"/>
              </a:rPr>
              <a:t>Memiliki</a:t>
            </a:r>
            <a:r>
              <a:rPr sz="1400" spc="-114" dirty="0">
                <a:solidFill>
                  <a:srgbClr val="585858"/>
                </a:solidFill>
                <a:latin typeface="Arial MT"/>
                <a:cs typeface="Arial MT"/>
              </a:rPr>
              <a:t> </a:t>
            </a:r>
            <a:r>
              <a:rPr sz="1400" b="1" spc="-155" dirty="0">
                <a:solidFill>
                  <a:srgbClr val="920000"/>
                </a:solidFill>
                <a:latin typeface="Arial"/>
                <a:cs typeface="Arial"/>
              </a:rPr>
              <a:t>sumber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 daya</a:t>
            </a:r>
            <a:r>
              <a:rPr sz="1400" b="1" spc="-14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manusia</a:t>
            </a:r>
            <a:r>
              <a:rPr sz="1400" b="1" spc="-14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spc="-140" dirty="0">
                <a:latin typeface="Arial MT"/>
                <a:cs typeface="Arial MT"/>
              </a:rPr>
              <a:t>yang</a:t>
            </a:r>
            <a:r>
              <a:rPr sz="1400" spc="-135" dirty="0">
                <a:latin typeface="Arial MT"/>
                <a:cs typeface="Arial MT"/>
              </a:rPr>
              <a:t> </a:t>
            </a:r>
            <a:r>
              <a:rPr sz="1400" spc="-150" dirty="0">
                <a:latin typeface="Arial MT"/>
                <a:cs typeface="Arial MT"/>
              </a:rPr>
              <a:t>mempunyai </a:t>
            </a:r>
            <a:r>
              <a:rPr sz="1400" spc="-145" dirty="0">
                <a:latin typeface="Arial MT"/>
                <a:cs typeface="Arial MT"/>
              </a:rPr>
              <a:t> </a:t>
            </a:r>
            <a:r>
              <a:rPr sz="1400" b="1" spc="-165" dirty="0">
                <a:solidFill>
                  <a:srgbClr val="920000"/>
                </a:solidFill>
                <a:latin typeface="Arial"/>
                <a:cs typeface="Arial"/>
              </a:rPr>
              <a:t>kemampuan</a:t>
            </a:r>
            <a:r>
              <a:rPr sz="1400" b="1" spc="-160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b="1" spc="-125" dirty="0">
                <a:solidFill>
                  <a:srgbClr val="920000"/>
                </a:solidFill>
                <a:latin typeface="Arial"/>
                <a:cs typeface="Arial"/>
              </a:rPr>
              <a:t>teknis</a:t>
            </a:r>
            <a:r>
              <a:rPr sz="1400" b="1" spc="-120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spc="-125" dirty="0">
                <a:latin typeface="Arial MT"/>
                <a:cs typeface="Arial MT"/>
              </a:rPr>
              <a:t>untuk</a:t>
            </a:r>
            <a:r>
              <a:rPr sz="1400" spc="-120" dirty="0">
                <a:latin typeface="Arial MT"/>
                <a:cs typeface="Arial MT"/>
              </a:rPr>
              <a:t> </a:t>
            </a:r>
            <a:r>
              <a:rPr sz="1400" spc="-150" dirty="0">
                <a:latin typeface="Arial MT"/>
                <a:cs typeface="Arial MT"/>
              </a:rPr>
              <a:t>mendukung</a:t>
            </a:r>
            <a:r>
              <a:rPr sz="1400" spc="-145" dirty="0">
                <a:latin typeface="Arial MT"/>
                <a:cs typeface="Arial MT"/>
              </a:rPr>
              <a:t> </a:t>
            </a:r>
            <a:r>
              <a:rPr sz="1400" spc="-135" dirty="0">
                <a:latin typeface="Arial MT"/>
                <a:cs typeface="Arial MT"/>
              </a:rPr>
              <a:t>penyelenggaraan </a:t>
            </a:r>
            <a:r>
              <a:rPr sz="1400" spc="-130" dirty="0">
                <a:latin typeface="Arial MT"/>
                <a:cs typeface="Arial MT"/>
              </a:rPr>
              <a:t> </a:t>
            </a:r>
            <a:r>
              <a:rPr sz="1400" spc="-150" dirty="0">
                <a:latin typeface="Arial MT"/>
                <a:cs typeface="Arial MT"/>
              </a:rPr>
              <a:t>La</a:t>
            </a:r>
            <a:r>
              <a:rPr sz="1400" spc="-130" dirty="0">
                <a:latin typeface="Arial MT"/>
                <a:cs typeface="Arial MT"/>
              </a:rPr>
              <a:t>k</a:t>
            </a:r>
            <a:r>
              <a:rPr sz="1400" spc="-140" dirty="0">
                <a:latin typeface="Arial MT"/>
                <a:cs typeface="Arial MT"/>
              </a:rPr>
              <a:t>u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165" dirty="0">
                <a:latin typeface="Arial MT"/>
                <a:cs typeface="Arial MT"/>
              </a:rPr>
              <a:t>P</a:t>
            </a:r>
            <a:r>
              <a:rPr sz="1400" spc="-150" dirty="0">
                <a:latin typeface="Arial MT"/>
                <a:cs typeface="Arial MT"/>
              </a:rPr>
              <a:t>anda</a:t>
            </a:r>
            <a:r>
              <a:rPr sz="1400" spc="-55" dirty="0">
                <a:latin typeface="Arial MT"/>
                <a:cs typeface="Arial MT"/>
              </a:rPr>
              <a:t>i</a:t>
            </a:r>
            <a:endParaRPr sz="1400" dirty="0">
              <a:latin typeface="Arial MT"/>
              <a:cs typeface="Arial MT"/>
            </a:endParaRPr>
          </a:p>
          <a:p>
            <a:pPr marL="27305" algn="just">
              <a:lnSpc>
                <a:spcPct val="100000"/>
              </a:lnSpc>
              <a:spcBef>
                <a:spcPts val="1245"/>
              </a:spcBef>
            </a:pPr>
            <a:r>
              <a:rPr sz="1400" spc="-120" dirty="0">
                <a:latin typeface="Arial MT"/>
                <a:cs typeface="Arial MT"/>
              </a:rPr>
              <a:t>Memiliki</a:t>
            </a:r>
            <a:r>
              <a:rPr sz="1400" spc="640" dirty="0">
                <a:latin typeface="Arial MT"/>
                <a:cs typeface="Arial MT"/>
              </a:rPr>
              <a:t> </a:t>
            </a:r>
            <a:r>
              <a:rPr sz="1400" b="1" spc="-125" dirty="0">
                <a:solidFill>
                  <a:srgbClr val="920000"/>
                </a:solidFill>
                <a:latin typeface="Arial"/>
                <a:cs typeface="Arial"/>
              </a:rPr>
              <a:t>teknologi</a:t>
            </a:r>
            <a:r>
              <a:rPr sz="1400" b="1" spc="66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b="1" spc="-130" dirty="0">
                <a:solidFill>
                  <a:srgbClr val="920000"/>
                </a:solidFill>
                <a:latin typeface="Arial"/>
                <a:cs typeface="Arial"/>
              </a:rPr>
              <a:t>informasi</a:t>
            </a:r>
            <a:r>
              <a:rPr sz="1400" b="1" spc="400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b="1" spc="-150" dirty="0">
                <a:solidFill>
                  <a:srgbClr val="920000"/>
                </a:solidFill>
                <a:latin typeface="Arial"/>
                <a:cs typeface="Arial"/>
              </a:rPr>
              <a:t>yang</a:t>
            </a:r>
            <a:r>
              <a:rPr sz="1400" b="1" spc="130" dirty="0">
                <a:solidFill>
                  <a:srgbClr val="920000"/>
                </a:solidFill>
                <a:latin typeface="Arial"/>
                <a:cs typeface="Arial"/>
              </a:rPr>
              <a:t>  </a:t>
            </a:r>
            <a:r>
              <a:rPr sz="1400" b="1" spc="-160" dirty="0">
                <a:solidFill>
                  <a:srgbClr val="920000"/>
                </a:solidFill>
                <a:latin typeface="Arial"/>
                <a:cs typeface="Arial"/>
              </a:rPr>
              <a:t>memadai</a:t>
            </a:r>
            <a:r>
              <a:rPr sz="1400" b="1" spc="130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b="1" spc="135" dirty="0">
                <a:solidFill>
                  <a:srgbClr val="920000"/>
                </a:solidFill>
                <a:latin typeface="Arial"/>
                <a:cs typeface="Arial"/>
              </a:rPr>
              <a:t> </a:t>
            </a:r>
            <a:r>
              <a:rPr sz="1400" spc="-125" dirty="0">
                <a:latin typeface="Arial MT"/>
                <a:cs typeface="Arial MT"/>
              </a:rPr>
              <a:t>untuk</a:t>
            </a:r>
            <a:endParaRPr sz="1400" dirty="0">
              <a:latin typeface="Arial MT"/>
              <a:cs typeface="Arial MT"/>
            </a:endParaRPr>
          </a:p>
          <a:p>
            <a:pPr marL="27305" algn="just">
              <a:lnSpc>
                <a:spcPct val="100000"/>
              </a:lnSpc>
            </a:pPr>
            <a:r>
              <a:rPr sz="1400" spc="-155" dirty="0">
                <a:latin typeface="Arial MT"/>
                <a:cs typeface="Arial MT"/>
              </a:rPr>
              <a:t>mendukung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140" dirty="0">
                <a:latin typeface="Arial MT"/>
                <a:cs typeface="Arial MT"/>
              </a:rPr>
              <a:t>penyelenggaraan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40" dirty="0">
                <a:latin typeface="Arial MT"/>
                <a:cs typeface="Arial MT"/>
              </a:rPr>
              <a:t>Laku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135" dirty="0">
                <a:latin typeface="Arial MT"/>
                <a:cs typeface="Arial MT"/>
              </a:rPr>
              <a:t>Pandai</a:t>
            </a:r>
            <a:endParaRPr sz="1400" dirty="0">
              <a:latin typeface="Arial MT"/>
              <a:cs typeface="Arial MT"/>
            </a:endParaRPr>
          </a:p>
        </p:txBody>
      </p:sp>
      <p:pic>
        <p:nvPicPr>
          <p:cNvPr id="153" name="object 50">
            <a:extLst>
              <a:ext uri="{FF2B5EF4-FFF2-40B4-BE49-F238E27FC236}">
                <a16:creationId xmlns:a16="http://schemas.microsoft.com/office/drawing/2014/main" id="{E83D6293-54B6-43DB-899A-7B809A567363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828928" y="5280364"/>
            <a:ext cx="515112" cy="5135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B24249-B16D-47D1-B94F-08C98331E33A}"/>
              </a:ext>
            </a:extLst>
          </p:cNvPr>
          <p:cNvSpPr txBox="1"/>
          <p:nvPr/>
        </p:nvSpPr>
        <p:spPr>
          <a:xfrm>
            <a:off x="260774" y="5413496"/>
            <a:ext cx="7011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LULUS UJI TUNTAS/DUE DILIGENCE OLEH BANK PENYELENGGARA</a:t>
            </a:r>
            <a:endParaRPr lang="en-ID" b="1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6572" y="6054343"/>
            <a:ext cx="5661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AGEN LAKU PANDAI BANK JATENG </a:t>
            </a:r>
            <a:r>
              <a:rPr lang="en-US" b="1" dirty="0" err="1"/>
              <a:t>adalah</a:t>
            </a:r>
            <a:r>
              <a:rPr lang="en-US" b="1" dirty="0"/>
              <a:t> AGEN DUTA</a:t>
            </a:r>
          </a:p>
        </p:txBody>
      </p:sp>
    </p:spTree>
    <p:extLst>
      <p:ext uri="{BB962C8B-B14F-4D97-AF65-F5344CB8AC3E}">
        <p14:creationId xmlns:p14="http://schemas.microsoft.com/office/powerpoint/2010/main" val="1822877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A882E-0406-4AE5-8DC4-D6FB28330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0634" y="193801"/>
            <a:ext cx="5936568" cy="792162"/>
          </a:xfrm>
        </p:spPr>
        <p:txBody>
          <a:bodyPr>
            <a:normAutofit/>
          </a:bodyPr>
          <a:lstStyle/>
          <a:p>
            <a:r>
              <a:rPr lang="en-US" sz="3200" dirty="0" err="1"/>
              <a:t>Manfaat</a:t>
            </a:r>
            <a:r>
              <a:rPr lang="en-US" sz="3200" dirty="0"/>
              <a:t> </a:t>
            </a:r>
            <a:r>
              <a:rPr lang="en-US" sz="3200" dirty="0" err="1"/>
              <a:t>Menjadi</a:t>
            </a:r>
            <a:r>
              <a:rPr lang="en-US" sz="3200" dirty="0"/>
              <a:t> </a:t>
            </a:r>
            <a:r>
              <a:rPr lang="en-US" sz="3200" dirty="0" err="1"/>
              <a:t>Agen</a:t>
            </a:r>
            <a:r>
              <a:rPr lang="en-US" sz="3200" dirty="0"/>
              <a:t> Duta</a:t>
            </a:r>
            <a:endParaRPr lang="en-ID" sz="3200" dirty="0"/>
          </a:p>
        </p:txBody>
      </p:sp>
      <p:pic>
        <p:nvPicPr>
          <p:cNvPr id="15" name="object 9">
            <a:extLst>
              <a:ext uri="{FF2B5EF4-FFF2-40B4-BE49-F238E27FC236}">
                <a16:creationId xmlns:a16="http://schemas.microsoft.com/office/drawing/2014/main" id="{438BB378-4F7B-4CB0-839C-C5F2C856069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7866" y="293762"/>
            <a:ext cx="1678813" cy="483755"/>
          </a:xfrm>
          <a:prstGeom prst="rect">
            <a:avLst/>
          </a:prstGeom>
        </p:spPr>
      </p:pic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50BFE33A-0277-4BDC-8B56-91A5A8B9A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2" y="1322362"/>
            <a:ext cx="11480800" cy="5241876"/>
          </a:xfrm>
        </p:spPr>
        <p:txBody>
          <a:bodyPr>
            <a:noAutofit/>
          </a:bodyPr>
          <a:lstStyle/>
          <a:p>
            <a:pPr algn="just"/>
            <a:r>
              <a:rPr lang="id-ID" sz="1800" b="1" dirty="0"/>
              <a:t>lebih mudah mendapat kucuran kredit dari Bank Jateng</a:t>
            </a:r>
          </a:p>
          <a:p>
            <a:pPr lvl="1" algn="just"/>
            <a:r>
              <a:rPr lang="id-ID" sz="1800" dirty="0"/>
              <a:t>mempunyai hubungan yang erat dengan bank</a:t>
            </a:r>
          </a:p>
          <a:p>
            <a:pPr lvl="1" algn="just"/>
            <a:r>
              <a:rPr lang="id-ID" sz="1800" dirty="0"/>
              <a:t>data-datanya sudah dipegang bank, termasuk jenis usahanya yang sudah diketahui oleh pihak bank</a:t>
            </a:r>
          </a:p>
          <a:p>
            <a:pPr algn="just"/>
            <a:r>
              <a:rPr lang="en-US" sz="1800" b="1" dirty="0"/>
              <a:t>M</a:t>
            </a:r>
            <a:r>
              <a:rPr lang="id-ID" sz="1800" b="1" dirty="0"/>
              <a:t>empunyai aktivitas seperti karyawan bank pada umumnya</a:t>
            </a:r>
          </a:p>
          <a:p>
            <a:pPr lvl="1" algn="just"/>
            <a:r>
              <a:rPr lang="id-ID" sz="1800" dirty="0"/>
              <a:t>membuka rekening tabungan baru</a:t>
            </a:r>
          </a:p>
          <a:p>
            <a:pPr lvl="1" algn="just"/>
            <a:r>
              <a:rPr lang="id-ID" sz="1800" dirty="0"/>
              <a:t>menerima setoran</a:t>
            </a:r>
          </a:p>
          <a:p>
            <a:pPr lvl="1" algn="just"/>
            <a:r>
              <a:rPr lang="id-ID" sz="1800" dirty="0"/>
              <a:t>penarikan dana tunai</a:t>
            </a:r>
          </a:p>
          <a:p>
            <a:pPr lvl="1" algn="just"/>
            <a:r>
              <a:rPr lang="id-ID" sz="1800" dirty="0"/>
              <a:t>menjual produk keuangan lainnya</a:t>
            </a:r>
            <a:endParaRPr lang="en-US" sz="1800" dirty="0"/>
          </a:p>
          <a:p>
            <a:pPr lvl="1" algn="just"/>
            <a:r>
              <a:rPr lang="en-US" sz="1800" dirty="0" err="1"/>
              <a:t>Sebagai</a:t>
            </a:r>
            <a:r>
              <a:rPr lang="en-US" sz="1800" dirty="0"/>
              <a:t> </a:t>
            </a:r>
            <a:r>
              <a:rPr lang="en-US" sz="1800" dirty="0" err="1"/>
              <a:t>Refferal</a:t>
            </a:r>
            <a:r>
              <a:rPr lang="en-US" sz="1800" dirty="0"/>
              <a:t> </a:t>
            </a:r>
            <a:r>
              <a:rPr lang="en-US" sz="1800" dirty="0" err="1"/>
              <a:t>kredit</a:t>
            </a:r>
            <a:endParaRPr lang="en-US" sz="1800" dirty="0"/>
          </a:p>
          <a:p>
            <a:pPr algn="just"/>
            <a:r>
              <a:rPr lang="id-ID" sz="1800" b="1" dirty="0"/>
              <a:t>mendapatkan “penghasilan tambahan” </a:t>
            </a:r>
            <a:r>
              <a:rPr lang="id-ID" sz="1800" dirty="0">
                <a:sym typeface="Wingdings" pitchFamily="2" charset="2"/>
              </a:rPr>
              <a:t> </a:t>
            </a:r>
            <a:r>
              <a:rPr lang="id-ID" sz="1800" dirty="0"/>
              <a:t>fee per transaksi</a:t>
            </a:r>
            <a:r>
              <a:rPr lang="en-US" sz="1800" dirty="0"/>
              <a:t> </a:t>
            </a:r>
          </a:p>
          <a:p>
            <a:pPr marL="0" indent="0" algn="just">
              <a:buNone/>
            </a:pPr>
            <a:r>
              <a:rPr lang="en-US" sz="1800" dirty="0"/>
              <a:t>&amp; </a:t>
            </a:r>
            <a:r>
              <a:rPr lang="en-US" sz="1800" dirty="0" err="1"/>
              <a:t>insentif</a:t>
            </a:r>
            <a:r>
              <a:rPr lang="en-US" sz="1800" dirty="0"/>
              <a:t> </a:t>
            </a:r>
            <a:r>
              <a:rPr lang="en-US" sz="1800" dirty="0" err="1"/>
              <a:t>sesuai</a:t>
            </a:r>
            <a:r>
              <a:rPr lang="en-US" sz="1800" dirty="0"/>
              <a:t> </a:t>
            </a:r>
            <a:r>
              <a:rPr lang="en-US" sz="1800" dirty="0" err="1"/>
              <a:t>jumlah</a:t>
            </a:r>
            <a:r>
              <a:rPr lang="en-US" sz="1800" dirty="0"/>
              <a:t> </a:t>
            </a:r>
            <a:r>
              <a:rPr lang="en-US" sz="1800" dirty="0" err="1"/>
              <a:t>transaksi</a:t>
            </a:r>
            <a:r>
              <a:rPr lang="en-US" sz="1800" dirty="0"/>
              <a:t> yang </a:t>
            </a:r>
            <a:r>
              <a:rPr lang="en-US" sz="1800" dirty="0" err="1"/>
              <a:t>dilakukan</a:t>
            </a:r>
            <a:endParaRPr lang="id-ID" sz="1800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B63CB47-64F8-40DA-A9F2-70C8D0816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445963" y="3653713"/>
            <a:ext cx="2263726" cy="30104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739B05-14AF-4F07-93C9-7A38EB8F39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485" y="2836657"/>
            <a:ext cx="1848143" cy="961312"/>
          </a:xfrm>
          <a:prstGeom prst="rect">
            <a:avLst/>
          </a:prstGeom>
        </p:spPr>
      </p:pic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B4505F08-DB7C-4150-9ECA-36AEAE5A92A5}"/>
              </a:ext>
            </a:extLst>
          </p:cNvPr>
          <p:cNvSpPr/>
          <p:nvPr/>
        </p:nvSpPr>
        <p:spPr>
          <a:xfrm>
            <a:off x="9295913" y="2536557"/>
            <a:ext cx="2591289" cy="1561513"/>
          </a:xfrm>
          <a:prstGeom prst="wedgeEllipseCallout">
            <a:avLst>
              <a:gd name="adj1" fmla="val -58139"/>
              <a:gd name="adj2" fmla="val 44481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49699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705C6-B119-4881-911E-1176F6896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6234" y="193801"/>
            <a:ext cx="6850968" cy="792162"/>
          </a:xfrm>
        </p:spPr>
        <p:txBody>
          <a:bodyPr>
            <a:normAutofit/>
          </a:bodyPr>
          <a:lstStyle/>
          <a:p>
            <a:r>
              <a:rPr lang="en-US" sz="3200" dirty="0" err="1"/>
              <a:t>Layanan</a:t>
            </a:r>
            <a:r>
              <a:rPr lang="en-US" sz="3200" dirty="0"/>
              <a:t> </a:t>
            </a:r>
            <a:r>
              <a:rPr lang="en-US" sz="3200" dirty="0" err="1"/>
              <a:t>Agen</a:t>
            </a:r>
            <a:r>
              <a:rPr lang="en-US" sz="3200" dirty="0"/>
              <a:t> Duta Bank </a:t>
            </a:r>
            <a:r>
              <a:rPr lang="en-US" sz="3200" dirty="0" err="1"/>
              <a:t>Jateng</a:t>
            </a:r>
            <a:endParaRPr lang="en-ID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7208E-3984-4F9C-8977-FFB618638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780" lvl="0" indent="0" algn="just" defTabSz="457200">
              <a:lnSpc>
                <a:spcPct val="100000"/>
              </a:lnSpc>
              <a:spcBef>
                <a:spcPts val="805"/>
              </a:spcBef>
              <a:buClrTx/>
              <a:buNone/>
            </a:pPr>
            <a:r>
              <a:rPr lang="en-ID" sz="2000" b="1" cap="none" spc="-5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lang="en-ID" sz="2000" cap="none" dirty="0">
              <a:solidFill>
                <a:prstClr val="black"/>
              </a:solidFill>
              <a:latin typeface="Calibri"/>
              <a:cs typeface="Calibri"/>
            </a:endParaRP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E49F640F-5D3B-412B-BF42-749295E5B3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7866" y="293762"/>
            <a:ext cx="1678813" cy="483755"/>
          </a:xfrm>
          <a:prstGeom prst="rect">
            <a:avLst/>
          </a:prstGeom>
        </p:spPr>
      </p:pic>
      <p:graphicFrame>
        <p:nvGraphicFramePr>
          <p:cNvPr id="37" name="Diagram 36">
            <a:extLst>
              <a:ext uri="{FF2B5EF4-FFF2-40B4-BE49-F238E27FC236}">
                <a16:creationId xmlns:a16="http://schemas.microsoft.com/office/drawing/2014/main" id="{52F49E39-E978-4089-8118-5CE701EAB6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4550685"/>
              </p:ext>
            </p:extLst>
          </p:nvPr>
        </p:nvGraphicFramePr>
        <p:xfrm>
          <a:off x="418454" y="1040073"/>
          <a:ext cx="6478292" cy="544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5" name="object 33">
            <a:extLst>
              <a:ext uri="{FF2B5EF4-FFF2-40B4-BE49-F238E27FC236}">
                <a16:creationId xmlns:a16="http://schemas.microsoft.com/office/drawing/2014/main" id="{74D9B0A6-1CF7-482F-8E45-0AC914170C68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17338" y="1140188"/>
            <a:ext cx="3094892" cy="123795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D7865DE-C36A-4465-B706-4317E7BDC371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7338" y="2466786"/>
            <a:ext cx="3094893" cy="961312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011887E-54F0-4735-954E-90373C429A33}"/>
              </a:ext>
            </a:extLst>
          </p:cNvPr>
          <p:cNvSpPr/>
          <p:nvPr/>
        </p:nvSpPr>
        <p:spPr>
          <a:xfrm>
            <a:off x="7019778" y="3747142"/>
            <a:ext cx="2307101" cy="732714"/>
          </a:xfrm>
          <a:prstGeom prst="roundRect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Sebelum</a:t>
            </a:r>
            <a:endParaRPr lang="en-US" b="1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</a:rPr>
              <a:t> No.19/POJK.03/2014</a:t>
            </a:r>
            <a:endParaRPr lang="en-ID" b="1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57413DD-AA2A-4AE9-A0A6-C71F12511FB0}"/>
              </a:ext>
            </a:extLst>
          </p:cNvPr>
          <p:cNvSpPr/>
          <p:nvPr/>
        </p:nvSpPr>
        <p:spPr>
          <a:xfrm>
            <a:off x="9529299" y="3737540"/>
            <a:ext cx="2307101" cy="732714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US" b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Saat</a:t>
            </a:r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Arial Narrow" panose="020B0606020202030204" pitchFamily="34" charset="0"/>
              </a:rPr>
              <a:t>Ini</a:t>
            </a:r>
            <a:endParaRPr lang="en-US" b="1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Arial Narrow" panose="020B0606020202030204" pitchFamily="34" charset="0"/>
              </a:rPr>
              <a:t>No.01/POJK.03/2022</a:t>
            </a:r>
          </a:p>
          <a:p>
            <a:pPr algn="ctr"/>
            <a:endParaRPr lang="en-ID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23AAED5-749A-40BB-A326-180FB59FCF5C}"/>
              </a:ext>
            </a:extLst>
          </p:cNvPr>
          <p:cNvSpPr/>
          <p:nvPr/>
        </p:nvSpPr>
        <p:spPr>
          <a:xfrm>
            <a:off x="7540283" y="4768948"/>
            <a:ext cx="1125415" cy="1645920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 E</a:t>
            </a:r>
            <a:endParaRPr lang="en-ID" sz="28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0F50C6B-178D-4733-8671-6DCE49C536F9}"/>
              </a:ext>
            </a:extLst>
          </p:cNvPr>
          <p:cNvSpPr/>
          <p:nvPr/>
        </p:nvSpPr>
        <p:spPr>
          <a:xfrm>
            <a:off x="10258668" y="4703366"/>
            <a:ext cx="981417" cy="164592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</a:t>
            </a:r>
            <a:endParaRPr lang="en-ID" sz="2800" dirty="0"/>
          </a:p>
        </p:txBody>
      </p:sp>
      <p:sp>
        <p:nvSpPr>
          <p:cNvPr id="7" name="Arrow: Notched Right 6">
            <a:extLst>
              <a:ext uri="{FF2B5EF4-FFF2-40B4-BE49-F238E27FC236}">
                <a16:creationId xmlns:a16="http://schemas.microsoft.com/office/drawing/2014/main" id="{415BD2DE-18DD-456C-93EC-5A2714079C35}"/>
              </a:ext>
            </a:extLst>
          </p:cNvPr>
          <p:cNvSpPr/>
          <p:nvPr/>
        </p:nvSpPr>
        <p:spPr>
          <a:xfrm>
            <a:off x="8966591" y="5140210"/>
            <a:ext cx="1125415" cy="880505"/>
          </a:xfrm>
          <a:prstGeom prst="notchedRightArrow">
            <a:avLst/>
          </a:prstGeom>
          <a:solidFill>
            <a:srgbClr val="FF99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51719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9">
            <a:extLst>
              <a:ext uri="{FF2B5EF4-FFF2-40B4-BE49-F238E27FC236}">
                <a16:creationId xmlns:a16="http://schemas.microsoft.com/office/drawing/2014/main" id="{AE7F614A-8B1A-498A-99E3-9679C666C95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866" y="293762"/>
            <a:ext cx="1678813" cy="48375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7FDE7C0-BC49-4D47-B285-E71A0CDC1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Perjanjian</a:t>
            </a:r>
            <a:r>
              <a:rPr lang="en-US" dirty="0"/>
              <a:t> </a:t>
            </a:r>
            <a:r>
              <a:rPr lang="en-US" dirty="0" err="1"/>
              <a:t>Kerjasama</a:t>
            </a:r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34D2F2-1EC4-4E34-9692-E240FADDCE39}"/>
              </a:ext>
            </a:extLst>
          </p:cNvPr>
          <p:cNvSpPr txBox="1"/>
          <p:nvPr/>
        </p:nvSpPr>
        <p:spPr>
          <a:xfrm>
            <a:off x="886265" y="985963"/>
            <a:ext cx="10846189" cy="8309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 err="1"/>
              <a:t>Apa</a:t>
            </a:r>
            <a:r>
              <a:rPr lang="en-US" sz="2400" dirty="0"/>
              <a:t> </a:t>
            </a:r>
            <a:r>
              <a:rPr lang="en-US" sz="2400" dirty="0" err="1"/>
              <a:t>saja</a:t>
            </a:r>
            <a:r>
              <a:rPr lang="en-US" sz="2400" dirty="0"/>
              <a:t> yang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diatur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Perjanjian</a:t>
            </a:r>
            <a:r>
              <a:rPr lang="en-US" sz="2400" dirty="0"/>
              <a:t> </a:t>
            </a:r>
            <a:r>
              <a:rPr lang="en-US" sz="2400" dirty="0" err="1"/>
              <a:t>Kerjasama</a:t>
            </a:r>
            <a:r>
              <a:rPr lang="en-US" sz="2400" dirty="0"/>
              <a:t> </a:t>
            </a:r>
            <a:r>
              <a:rPr lang="en-US" sz="2400" dirty="0" err="1"/>
              <a:t>antara</a:t>
            </a:r>
            <a:r>
              <a:rPr lang="en-US" sz="2400" dirty="0"/>
              <a:t> Bank </a:t>
            </a:r>
            <a:r>
              <a:rPr lang="en-US" sz="2400" dirty="0" err="1"/>
              <a:t>Penyelenggara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Agen</a:t>
            </a:r>
            <a:r>
              <a:rPr lang="en-US" sz="2400" dirty="0"/>
              <a:t> </a:t>
            </a:r>
            <a:r>
              <a:rPr lang="en-US" sz="2400" dirty="0" err="1"/>
              <a:t>Laku</a:t>
            </a:r>
            <a:r>
              <a:rPr lang="en-US" sz="2400" dirty="0"/>
              <a:t> </a:t>
            </a:r>
            <a:r>
              <a:rPr lang="en-US" sz="2400" dirty="0" err="1"/>
              <a:t>Pandai</a:t>
            </a:r>
            <a:r>
              <a:rPr lang="en-US" sz="2400" dirty="0"/>
              <a:t>? </a:t>
            </a:r>
            <a:r>
              <a:rPr lang="en-US" sz="2400" dirty="0" err="1"/>
              <a:t>Perjanjian</a:t>
            </a:r>
            <a:r>
              <a:rPr lang="en-US" sz="2400" dirty="0"/>
              <a:t> </a:t>
            </a:r>
            <a:r>
              <a:rPr lang="en-US" sz="2400" dirty="0" err="1"/>
              <a:t>kerja</a:t>
            </a:r>
            <a:r>
              <a:rPr lang="en-US" sz="2400" dirty="0"/>
              <a:t> </a:t>
            </a:r>
            <a:r>
              <a:rPr lang="en-US" sz="2400" dirty="0" err="1"/>
              <a:t>sama</a:t>
            </a:r>
            <a:r>
              <a:rPr lang="en-US" sz="2400" dirty="0"/>
              <a:t> minimum </a:t>
            </a:r>
            <a:r>
              <a:rPr lang="en-US" sz="2400" dirty="0" err="1"/>
              <a:t>memuat</a:t>
            </a:r>
            <a:r>
              <a:rPr lang="en-US" sz="2400" dirty="0"/>
              <a:t>:</a:t>
            </a:r>
            <a:endParaRPr lang="en-ID" sz="2400" dirty="0"/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1DC85B40-D3DD-498D-8B19-9B9972484C56}"/>
              </a:ext>
            </a:extLst>
          </p:cNvPr>
          <p:cNvSpPr/>
          <p:nvPr/>
        </p:nvSpPr>
        <p:spPr>
          <a:xfrm>
            <a:off x="886265" y="2025406"/>
            <a:ext cx="10846189" cy="4473526"/>
          </a:xfrm>
          <a:prstGeom prst="flowChartAlternateProcess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Hak</a:t>
            </a:r>
            <a:r>
              <a:rPr lang="en-US" sz="2400" dirty="0">
                <a:solidFill>
                  <a:schemeClr val="tx1"/>
                </a:solidFill>
              </a:rPr>
              <a:t> &amp; </a:t>
            </a:r>
            <a:r>
              <a:rPr lang="en-US" sz="2400" dirty="0" err="1">
                <a:solidFill>
                  <a:schemeClr val="tx1"/>
                </a:solidFill>
              </a:rPr>
              <a:t>Kewajiban</a:t>
            </a:r>
            <a:r>
              <a:rPr lang="en-US" sz="2400" dirty="0">
                <a:solidFill>
                  <a:schemeClr val="tx1"/>
                </a:solidFill>
              </a:rPr>
              <a:t> Bank </a:t>
            </a:r>
            <a:r>
              <a:rPr lang="en-US" sz="2400" dirty="0" err="1">
                <a:solidFill>
                  <a:schemeClr val="tx1"/>
                </a:solidFill>
              </a:rPr>
              <a:t>Penyelenggara</a:t>
            </a:r>
            <a:r>
              <a:rPr lang="en-US" sz="2400" dirty="0">
                <a:solidFill>
                  <a:schemeClr val="tx1"/>
                </a:solidFill>
              </a:rPr>
              <a:t> dan </a:t>
            </a:r>
            <a:r>
              <a:rPr lang="en-US" sz="2400" dirty="0" err="1">
                <a:solidFill>
                  <a:schemeClr val="tx1"/>
                </a:solidFill>
              </a:rPr>
              <a:t>Agen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Ruang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Lingkup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layanan</a:t>
            </a:r>
            <a:r>
              <a:rPr lang="en-US" sz="2400" dirty="0">
                <a:solidFill>
                  <a:schemeClr val="tx1"/>
                </a:solidFill>
              </a:rPr>
              <a:t> yang </a:t>
            </a:r>
            <a:r>
              <a:rPr lang="en-US" sz="2400" dirty="0" err="1">
                <a:solidFill>
                  <a:schemeClr val="tx1"/>
                </a:solidFill>
              </a:rPr>
              <a:t>disediakan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Agen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Penetapan</a:t>
            </a:r>
            <a:r>
              <a:rPr lang="en-US" sz="2400" dirty="0">
                <a:solidFill>
                  <a:schemeClr val="tx1"/>
                </a:solidFill>
              </a:rPr>
              <a:t> wilayah </a:t>
            </a:r>
            <a:r>
              <a:rPr lang="en-US" sz="2400" dirty="0" err="1">
                <a:solidFill>
                  <a:schemeClr val="tx1"/>
                </a:solidFill>
              </a:rPr>
              <a:t>Kerja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Operasional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Agen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Penetapan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Klasifikasi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Agen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Jangka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waktu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pelaksanaan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kerjasama</a:t>
            </a:r>
            <a:r>
              <a:rPr lang="en-US" sz="2400" dirty="0">
                <a:solidFill>
                  <a:schemeClr val="tx1"/>
                </a:solidFill>
              </a:rPr>
              <a:t> &amp; </a:t>
            </a:r>
            <a:r>
              <a:rPr lang="en-US" sz="2400" dirty="0" err="1">
                <a:solidFill>
                  <a:schemeClr val="tx1"/>
                </a:solidFill>
              </a:rPr>
              <a:t>Mekanisme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perpanjangannya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Mekanisme</a:t>
            </a:r>
            <a:r>
              <a:rPr lang="en-US" sz="2400" dirty="0">
                <a:solidFill>
                  <a:schemeClr val="tx1"/>
                </a:solidFill>
              </a:rPr>
              <a:t> dan </a:t>
            </a:r>
            <a:r>
              <a:rPr lang="en-US" sz="2400" dirty="0" err="1">
                <a:solidFill>
                  <a:schemeClr val="tx1"/>
                </a:solidFill>
              </a:rPr>
              <a:t>hubungan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kerja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antara</a:t>
            </a:r>
            <a:r>
              <a:rPr lang="en-US" sz="2400" dirty="0">
                <a:solidFill>
                  <a:schemeClr val="tx1"/>
                </a:solidFill>
              </a:rPr>
              <a:t> Bank </a:t>
            </a:r>
            <a:r>
              <a:rPr lang="en-US" sz="2400" dirty="0" err="1">
                <a:solidFill>
                  <a:schemeClr val="tx1"/>
                </a:solidFill>
              </a:rPr>
              <a:t>dengan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Agen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Syarat</a:t>
            </a:r>
            <a:r>
              <a:rPr lang="en-US" sz="2400" dirty="0">
                <a:solidFill>
                  <a:schemeClr val="tx1"/>
                </a:solidFill>
              </a:rPr>
              <a:t> dan tata </a:t>
            </a:r>
            <a:r>
              <a:rPr lang="en-US" sz="2400" dirty="0" err="1">
                <a:solidFill>
                  <a:schemeClr val="tx1"/>
                </a:solidFill>
              </a:rPr>
              <a:t>cara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perubahan</a:t>
            </a:r>
            <a:r>
              <a:rPr lang="en-US" sz="2400" dirty="0">
                <a:solidFill>
                  <a:schemeClr val="tx1"/>
                </a:solidFill>
              </a:rPr>
              <a:t> PKS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Penetapan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sanksi</a:t>
            </a:r>
            <a:r>
              <a:rPr lang="en-US" sz="2400" dirty="0">
                <a:solidFill>
                  <a:schemeClr val="tx1"/>
                </a:solidFill>
              </a:rPr>
              <a:t> &amp; </a:t>
            </a:r>
            <a:r>
              <a:rPr lang="en-US" sz="2400" dirty="0" err="1">
                <a:solidFill>
                  <a:schemeClr val="tx1"/>
                </a:solidFill>
              </a:rPr>
              <a:t>mekanisme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pengenaan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sanksi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 err="1">
                <a:solidFill>
                  <a:schemeClr val="tx1"/>
                </a:solidFill>
              </a:rPr>
              <a:t>Kondisi</a:t>
            </a:r>
            <a:r>
              <a:rPr lang="en-US" sz="2400" dirty="0">
                <a:solidFill>
                  <a:schemeClr val="tx1"/>
                </a:solidFill>
              </a:rPr>
              <a:t> &amp; tata </a:t>
            </a:r>
            <a:r>
              <a:rPr lang="en-US" sz="2400" dirty="0" err="1">
                <a:solidFill>
                  <a:schemeClr val="tx1"/>
                </a:solidFill>
              </a:rPr>
              <a:t>cara</a:t>
            </a:r>
            <a:r>
              <a:rPr lang="en-US" sz="2400" dirty="0">
                <a:solidFill>
                  <a:schemeClr val="tx1"/>
                </a:solidFill>
              </a:rPr>
              <a:t>  </a:t>
            </a:r>
            <a:r>
              <a:rPr lang="en-US" sz="2400" dirty="0" err="1">
                <a:solidFill>
                  <a:schemeClr val="tx1"/>
                </a:solidFill>
              </a:rPr>
              <a:t>penghentian</a:t>
            </a:r>
            <a:r>
              <a:rPr lang="en-US" sz="2400" dirty="0">
                <a:solidFill>
                  <a:schemeClr val="tx1"/>
                </a:solidFill>
              </a:rPr>
              <a:t> PKS;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Tata Cara, </a:t>
            </a:r>
            <a:r>
              <a:rPr lang="en-US" sz="2400" dirty="0" err="1">
                <a:solidFill>
                  <a:schemeClr val="tx1"/>
                </a:solidFill>
              </a:rPr>
              <a:t>termasuk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tempat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penyelesaian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perselisihan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Tata </a:t>
            </a:r>
            <a:r>
              <a:rPr lang="en-US" sz="2400" dirty="0" err="1">
                <a:solidFill>
                  <a:schemeClr val="tx1"/>
                </a:solidFill>
              </a:rPr>
              <a:t>cara</a:t>
            </a:r>
            <a:r>
              <a:rPr lang="en-US" sz="2400" dirty="0">
                <a:solidFill>
                  <a:schemeClr val="tx1"/>
                </a:solidFill>
              </a:rPr>
              <a:t> dan </a:t>
            </a:r>
            <a:r>
              <a:rPr lang="en-US" sz="2400" dirty="0" err="1">
                <a:solidFill>
                  <a:schemeClr val="tx1"/>
                </a:solidFill>
              </a:rPr>
              <a:t>syarat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pemindahan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lokasi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 err="1">
                <a:solidFill>
                  <a:schemeClr val="tx1"/>
                </a:solidFill>
              </a:rPr>
              <a:t>Agen</a:t>
            </a:r>
            <a:endParaRPr lang="en-ID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548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8DC14-974C-4E1B-82A0-35C7F83F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9452" y="193801"/>
            <a:ext cx="6597750" cy="792162"/>
          </a:xfrm>
        </p:spPr>
        <p:txBody>
          <a:bodyPr>
            <a:normAutofit/>
          </a:bodyPr>
          <a:lstStyle/>
          <a:p>
            <a:r>
              <a:rPr lang="en-US" sz="3600" dirty="0"/>
              <a:t>HAK &amp; KEWAJIBAN AGEN DUTA</a:t>
            </a:r>
            <a:endParaRPr lang="en-ID" sz="3600" dirty="0"/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AE7F614A-8B1A-498A-99E3-9679C666C95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57866" y="293762"/>
            <a:ext cx="1678813" cy="483755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6E0F2F5A-4948-45EB-9CF0-E7EEEDEFB02B}"/>
              </a:ext>
            </a:extLst>
          </p:cNvPr>
          <p:cNvGraphicFramePr>
            <a:graphicFrameLocks noGrp="1"/>
          </p:cNvGraphicFramePr>
          <p:nvPr/>
        </p:nvGraphicFramePr>
        <p:xfrm>
          <a:off x="1195754" y="1211046"/>
          <a:ext cx="1029755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672">
                  <a:extLst>
                    <a:ext uri="{9D8B030D-6E8A-4147-A177-3AD203B41FA5}">
                      <a16:colId xmlns:a16="http://schemas.microsoft.com/office/drawing/2014/main" val="459080837"/>
                    </a:ext>
                  </a:extLst>
                </a:gridCol>
                <a:gridCol w="5501880">
                  <a:extLst>
                    <a:ext uri="{9D8B030D-6E8A-4147-A177-3AD203B41FA5}">
                      <a16:colId xmlns:a16="http://schemas.microsoft.com/office/drawing/2014/main" val="989634273"/>
                    </a:ext>
                  </a:extLst>
                </a:gridCol>
              </a:tblGrid>
              <a:tr h="36796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HAK</a:t>
                      </a:r>
                      <a:endParaRPr lang="en-ID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KEWAJIBAN</a:t>
                      </a:r>
                      <a:endParaRPr lang="en-ID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207191"/>
                  </a:ext>
                </a:extLst>
              </a:tr>
              <a:tr h="4132476">
                <a:tc>
                  <a:txBody>
                    <a:bodyPr/>
                    <a:lstStyle/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dirty="0">
                          <a:solidFill>
                            <a:schemeClr val="tx1"/>
                          </a:solidFill>
                          <a:latin typeface="+mn-lt"/>
                        </a:rPr>
                        <a:t>Menerima fee atas transaksi-transaksi yang dilaksanakan.</a:t>
                      </a:r>
                    </a:p>
                    <a:p>
                      <a:pPr marL="742950" lvl="1" indent="-285750">
                        <a:buFont typeface="Wingdings" pitchFamily="2" charset="2"/>
                        <a:buChar char="ü"/>
                      </a:pPr>
                      <a:r>
                        <a:rPr lang="id-ID" sz="2200" dirty="0">
                          <a:solidFill>
                            <a:schemeClr val="tx1"/>
                          </a:solidFill>
                          <a:latin typeface="+mn-lt"/>
                        </a:rPr>
                        <a:t>Fee transaksi</a:t>
                      </a:r>
                    </a:p>
                    <a:p>
                      <a:pPr marL="742950" lvl="1" indent="-285750">
                        <a:buFont typeface="Wingdings" pitchFamily="2" charset="2"/>
                        <a:buChar char="ü"/>
                      </a:pPr>
                      <a:r>
                        <a:rPr lang="id-ID" sz="2200" dirty="0">
                          <a:solidFill>
                            <a:schemeClr val="tx1"/>
                          </a:solidFill>
                          <a:latin typeface="+mn-lt"/>
                        </a:rPr>
                        <a:t>Fee pembukaan rekening</a:t>
                      </a:r>
                    </a:p>
                    <a:p>
                      <a:pPr marL="742950" lvl="1" indent="-285750">
                        <a:buFont typeface="Wingdings" pitchFamily="2" charset="2"/>
                        <a:buChar char="ü"/>
                      </a:pPr>
                      <a:r>
                        <a:rPr lang="id-ID" sz="2200" dirty="0">
                          <a:solidFill>
                            <a:schemeClr val="tx1"/>
                          </a:solidFill>
                          <a:latin typeface="+mn-lt"/>
                        </a:rPr>
                        <a:t>Subsidi (Listrik dan Pulsa)</a:t>
                      </a: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dirty="0">
                          <a:solidFill>
                            <a:schemeClr val="tx1"/>
                          </a:solidFill>
                          <a:latin typeface="+mn-lt"/>
                        </a:rPr>
                        <a:t>Menerima pelatihan dan edukasi mengenai kegiatan keagenan serta kegiatan  Layanan Laku Pandai.</a:t>
                      </a: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dirty="0">
                          <a:solidFill>
                            <a:schemeClr val="tx1"/>
                          </a:solidFill>
                          <a:latin typeface="+mn-lt"/>
                        </a:rPr>
                        <a:t>Mendapatkan atribut Agen DUTA</a:t>
                      </a:r>
                      <a:endParaRPr lang="en-US" sz="2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Menerima insentif dari Bank sesuai aktivitas</a:t>
                      </a:r>
                      <a:endParaRPr lang="id-ID" sz="22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dirty="0">
                          <a:latin typeface="+mn-lt"/>
                        </a:rPr>
                        <a:t>Menyediakan tempat untuk kegiatan keagenan</a:t>
                      </a: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dirty="0">
                          <a:latin typeface="+mn-lt"/>
                        </a:rPr>
                        <a:t>Memiliki rekening tabungan untuk operasional</a:t>
                      </a: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dirty="0">
                          <a:latin typeface="+mn-lt"/>
                        </a:rPr>
                        <a:t>Menyediakan informasi sehubungan dengan keagenannya yang diperlukan untuk kebutuhan audit</a:t>
                      </a: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dirty="0">
                          <a:latin typeface="+mn-lt"/>
                        </a:rPr>
                        <a:t>Menyimpan dan menjaga Rahasia Bank</a:t>
                      </a: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dirty="0">
                          <a:latin typeface="+mn-lt"/>
                        </a:rPr>
                        <a:t>Ikut serta menjaga nama baik Bank Jateng</a:t>
                      </a: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dirty="0">
                          <a:latin typeface="+mn-lt"/>
                        </a:rPr>
                        <a:t>Memberikan pelayanan kepada masyarakat</a:t>
                      </a:r>
                      <a:r>
                        <a:rPr lang="en-US" sz="2200" dirty="0">
                          <a:latin typeface="+mn-lt"/>
                        </a:rPr>
                        <a:t> </a:t>
                      </a:r>
                      <a:r>
                        <a:rPr lang="en-US" sz="2200" dirty="0">
                          <a:latin typeface="+mn-lt"/>
                          <a:sym typeface="Wingdings" pitchFamily="2" charset="2"/>
                        </a:rPr>
                        <a:t> </a:t>
                      </a:r>
                      <a:r>
                        <a:rPr lang="en-US" sz="2200" dirty="0" err="1">
                          <a:latin typeface="+mn-lt"/>
                          <a:sym typeface="Wingdings" pitchFamily="2" charset="2"/>
                        </a:rPr>
                        <a:t>memahami</a:t>
                      </a:r>
                      <a:r>
                        <a:rPr lang="en-US" sz="2200" dirty="0">
                          <a:latin typeface="+mn-lt"/>
                          <a:sym typeface="Wingdings" pitchFamily="2" charset="2"/>
                        </a:rPr>
                        <a:t> </a:t>
                      </a:r>
                      <a:r>
                        <a:rPr lang="en-US" sz="2200" dirty="0" err="1">
                          <a:latin typeface="+mn-lt"/>
                          <a:sym typeface="Wingdings" pitchFamily="2" charset="2"/>
                        </a:rPr>
                        <a:t>produk</a:t>
                      </a:r>
                      <a:r>
                        <a:rPr lang="en-US" sz="2200" dirty="0">
                          <a:latin typeface="+mn-lt"/>
                          <a:sym typeface="Wingdings" pitchFamily="2" charset="2"/>
                        </a:rPr>
                        <a:t> Bank</a:t>
                      </a:r>
                      <a:endParaRPr lang="id-ID" sz="2200" dirty="0">
                        <a:latin typeface="+mn-lt"/>
                      </a:endParaRP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dirty="0">
                          <a:latin typeface="+mn-lt"/>
                        </a:rPr>
                        <a:t>Tidak menyalahgunakan wewenang</a:t>
                      </a:r>
                    </a:p>
                    <a:p>
                      <a:pPr marL="285750" lvl="0" indent="-285750">
                        <a:buFont typeface="Arial" pitchFamily="34" charset="0"/>
                        <a:buChar char="•"/>
                      </a:pPr>
                      <a:r>
                        <a:rPr lang="id-ID" sz="2200" dirty="0">
                          <a:latin typeface="+mn-lt"/>
                        </a:rPr>
                        <a:t>Tidak memiliki kredit macet</a:t>
                      </a:r>
                      <a:endParaRPr lang="en-ID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67782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FF647E0-7EE8-4F4D-B1B7-45CAC0528B04}"/>
              </a:ext>
            </a:extLst>
          </p:cNvPr>
          <p:cNvSpPr txBox="1"/>
          <p:nvPr/>
        </p:nvSpPr>
        <p:spPr>
          <a:xfrm>
            <a:off x="1195754" y="6067005"/>
            <a:ext cx="11314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err="1"/>
              <a:t>Hak</a:t>
            </a:r>
            <a:r>
              <a:rPr lang="en-US" sz="2200" dirty="0"/>
              <a:t> dan </a:t>
            </a:r>
            <a:r>
              <a:rPr lang="en-US" sz="2200" dirty="0" err="1"/>
              <a:t>Kewajiban</a:t>
            </a:r>
            <a:r>
              <a:rPr lang="en-US" sz="2200" dirty="0"/>
              <a:t> </a:t>
            </a:r>
            <a:r>
              <a:rPr lang="en-US" sz="2200" dirty="0" err="1"/>
              <a:t>Agen</a:t>
            </a:r>
            <a:r>
              <a:rPr lang="en-US" sz="2200" dirty="0"/>
              <a:t> Duta </a:t>
            </a:r>
            <a:r>
              <a:rPr lang="en-US" sz="2200" dirty="0" err="1"/>
              <a:t>Termuat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Perjanjian</a:t>
            </a:r>
            <a:r>
              <a:rPr lang="en-US" sz="2200" dirty="0"/>
              <a:t> </a:t>
            </a:r>
            <a:r>
              <a:rPr lang="en-US" sz="2200" dirty="0" err="1"/>
              <a:t>Kerjasama</a:t>
            </a:r>
            <a:r>
              <a:rPr lang="en-US" sz="2200" dirty="0"/>
              <a:t> </a:t>
            </a:r>
            <a:r>
              <a:rPr lang="en-US" sz="2200" dirty="0" err="1"/>
              <a:t>Layanan</a:t>
            </a:r>
            <a:r>
              <a:rPr lang="en-US" sz="2200" dirty="0"/>
              <a:t> </a:t>
            </a:r>
            <a:r>
              <a:rPr lang="en-US" sz="2200" dirty="0" err="1"/>
              <a:t>Laku</a:t>
            </a:r>
            <a:r>
              <a:rPr lang="en-US" sz="2200" dirty="0"/>
              <a:t> </a:t>
            </a:r>
            <a:r>
              <a:rPr lang="en-US" sz="2200" dirty="0" err="1"/>
              <a:t>Pandai</a:t>
            </a:r>
            <a:endParaRPr lang="en-ID" sz="2200" dirty="0"/>
          </a:p>
        </p:txBody>
      </p:sp>
    </p:spTree>
    <p:extLst>
      <p:ext uri="{BB962C8B-B14F-4D97-AF65-F5344CB8AC3E}">
        <p14:creationId xmlns:p14="http://schemas.microsoft.com/office/powerpoint/2010/main" val="2256686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D06D7-BEF9-44B8-BB75-0936CD8FD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Perjanjian</a:t>
            </a:r>
            <a:r>
              <a:rPr lang="en-US" sz="3200" dirty="0"/>
              <a:t> </a:t>
            </a:r>
            <a:r>
              <a:rPr lang="en-US" sz="3200" dirty="0" err="1"/>
              <a:t>Kerjasama</a:t>
            </a:r>
            <a:r>
              <a:rPr lang="en-US" sz="3200" dirty="0"/>
              <a:t> </a:t>
            </a:r>
            <a:r>
              <a:rPr lang="en-US" sz="3200" dirty="0" err="1"/>
              <a:t>Agen</a:t>
            </a:r>
            <a:r>
              <a:rPr lang="en-US" sz="3200" dirty="0"/>
              <a:t> Duta</a:t>
            </a:r>
            <a:endParaRPr lang="en-ID" sz="3200" dirty="0"/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8AF3BD76-5EB6-4388-A1ED-A20B4867B1C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648" y="341567"/>
            <a:ext cx="1678813" cy="483755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59A298A-AEC5-40F9-9372-4BE06AFB7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2" y="1370950"/>
            <a:ext cx="11480800" cy="502098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sz="2200" dirty="0"/>
          </a:p>
        </p:txBody>
      </p:sp>
      <p:sp>
        <p:nvSpPr>
          <p:cNvPr id="66" name="object 6">
            <a:extLst>
              <a:ext uri="{FF2B5EF4-FFF2-40B4-BE49-F238E27FC236}">
                <a16:creationId xmlns:a16="http://schemas.microsoft.com/office/drawing/2014/main" id="{3ABE63BE-C345-4607-BECC-82F12110ACBE}"/>
              </a:ext>
            </a:extLst>
          </p:cNvPr>
          <p:cNvSpPr/>
          <p:nvPr/>
        </p:nvSpPr>
        <p:spPr>
          <a:xfrm>
            <a:off x="2640702" y="4429481"/>
            <a:ext cx="1184077" cy="971765"/>
          </a:xfrm>
          <a:custGeom>
            <a:avLst/>
            <a:gdLst/>
            <a:ahLst/>
            <a:cxnLst/>
            <a:rect l="l" t="t" r="r" b="b"/>
            <a:pathLst>
              <a:path w="1495425" h="1286510">
                <a:moveTo>
                  <a:pt x="1493901" y="0"/>
                </a:moveTo>
                <a:lnTo>
                  <a:pt x="176530" y="0"/>
                </a:lnTo>
                <a:lnTo>
                  <a:pt x="177546" y="21081"/>
                </a:lnTo>
                <a:lnTo>
                  <a:pt x="176530" y="73324"/>
                </a:lnTo>
                <a:lnTo>
                  <a:pt x="173510" y="125047"/>
                </a:lnTo>
                <a:lnTo>
                  <a:pt x="168521" y="176214"/>
                </a:lnTo>
                <a:lnTo>
                  <a:pt x="161601" y="226786"/>
                </a:lnTo>
                <a:lnTo>
                  <a:pt x="152787" y="276728"/>
                </a:lnTo>
                <a:lnTo>
                  <a:pt x="142116" y="326002"/>
                </a:lnTo>
                <a:lnTo>
                  <a:pt x="129625" y="374570"/>
                </a:lnTo>
                <a:lnTo>
                  <a:pt x="115352" y="422397"/>
                </a:lnTo>
                <a:lnTo>
                  <a:pt x="99332" y="469444"/>
                </a:lnTo>
                <a:lnTo>
                  <a:pt x="81605" y="515675"/>
                </a:lnTo>
                <a:lnTo>
                  <a:pt x="62206" y="561052"/>
                </a:lnTo>
                <a:lnTo>
                  <a:pt x="41172" y="605538"/>
                </a:lnTo>
                <a:lnTo>
                  <a:pt x="18542" y="649096"/>
                </a:lnTo>
                <a:lnTo>
                  <a:pt x="0" y="679703"/>
                </a:lnTo>
                <a:lnTo>
                  <a:pt x="1171321" y="1286255"/>
                </a:lnTo>
                <a:lnTo>
                  <a:pt x="1199920" y="1233663"/>
                </a:lnTo>
                <a:lnTo>
                  <a:pt x="1222145" y="1189867"/>
                </a:lnTo>
                <a:lnTo>
                  <a:pt x="1243573" y="1145608"/>
                </a:lnTo>
                <a:lnTo>
                  <a:pt x="1264195" y="1100895"/>
                </a:lnTo>
                <a:lnTo>
                  <a:pt x="1284001" y="1055737"/>
                </a:lnTo>
                <a:lnTo>
                  <a:pt x="1302983" y="1010142"/>
                </a:lnTo>
                <a:lnTo>
                  <a:pt x="1321130" y="964121"/>
                </a:lnTo>
                <a:lnTo>
                  <a:pt x="1338434" y="917683"/>
                </a:lnTo>
                <a:lnTo>
                  <a:pt x="1354885" y="870837"/>
                </a:lnTo>
                <a:lnTo>
                  <a:pt x="1370473" y="823592"/>
                </a:lnTo>
                <a:lnTo>
                  <a:pt x="1385190" y="775959"/>
                </a:lnTo>
                <a:lnTo>
                  <a:pt x="1399025" y="727945"/>
                </a:lnTo>
                <a:lnTo>
                  <a:pt x="1411970" y="679561"/>
                </a:lnTo>
                <a:lnTo>
                  <a:pt x="1424014" y="630815"/>
                </a:lnTo>
                <a:lnTo>
                  <a:pt x="1435149" y="581717"/>
                </a:lnTo>
                <a:lnTo>
                  <a:pt x="1445365" y="532277"/>
                </a:lnTo>
                <a:lnTo>
                  <a:pt x="1454653" y="482504"/>
                </a:lnTo>
                <a:lnTo>
                  <a:pt x="1463003" y="432406"/>
                </a:lnTo>
                <a:lnTo>
                  <a:pt x="1470406" y="381994"/>
                </a:lnTo>
                <a:lnTo>
                  <a:pt x="1476852" y="331277"/>
                </a:lnTo>
                <a:lnTo>
                  <a:pt x="1482333" y="280263"/>
                </a:lnTo>
                <a:lnTo>
                  <a:pt x="1486838" y="228963"/>
                </a:lnTo>
                <a:lnTo>
                  <a:pt x="1490358" y="177385"/>
                </a:lnTo>
                <a:lnTo>
                  <a:pt x="1492884" y="125540"/>
                </a:lnTo>
                <a:lnTo>
                  <a:pt x="1494407" y="73435"/>
                </a:lnTo>
                <a:lnTo>
                  <a:pt x="1494916" y="21081"/>
                </a:lnTo>
                <a:lnTo>
                  <a:pt x="1493901" y="0"/>
                </a:lnTo>
                <a:close/>
              </a:path>
            </a:pathLst>
          </a:custGeom>
          <a:solidFill>
            <a:srgbClr val="178F4D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7" name="object 7">
            <a:extLst>
              <a:ext uri="{FF2B5EF4-FFF2-40B4-BE49-F238E27FC236}">
                <a16:creationId xmlns:a16="http://schemas.microsoft.com/office/drawing/2014/main" id="{FD4DB1D7-22AA-418E-A32C-478CB110E20C}"/>
              </a:ext>
            </a:extLst>
          </p:cNvPr>
          <p:cNvSpPr/>
          <p:nvPr/>
        </p:nvSpPr>
        <p:spPr>
          <a:xfrm>
            <a:off x="1863582" y="4997991"/>
            <a:ext cx="1057672" cy="1148953"/>
          </a:xfrm>
          <a:custGeom>
            <a:avLst/>
            <a:gdLst/>
            <a:ahLst/>
            <a:cxnLst/>
            <a:rect l="l" t="t" r="r" b="b"/>
            <a:pathLst>
              <a:path w="1301750" h="1457325">
                <a:moveTo>
                  <a:pt x="599567" y="0"/>
                </a:moveTo>
                <a:lnTo>
                  <a:pt x="524763" y="36068"/>
                </a:lnTo>
                <a:lnTo>
                  <a:pt x="477016" y="55168"/>
                </a:lnTo>
                <a:lnTo>
                  <a:pt x="428367" y="72435"/>
                </a:lnTo>
                <a:lnTo>
                  <a:pt x="378861" y="87828"/>
                </a:lnTo>
                <a:lnTo>
                  <a:pt x="328539" y="101305"/>
                </a:lnTo>
                <a:lnTo>
                  <a:pt x="277447" y="112823"/>
                </a:lnTo>
                <a:lnTo>
                  <a:pt x="225627" y="122341"/>
                </a:lnTo>
                <a:lnTo>
                  <a:pt x="173122" y="129817"/>
                </a:lnTo>
                <a:lnTo>
                  <a:pt x="119977" y="135209"/>
                </a:lnTo>
                <a:lnTo>
                  <a:pt x="66234" y="138475"/>
                </a:lnTo>
                <a:lnTo>
                  <a:pt x="11937" y="139573"/>
                </a:lnTo>
                <a:lnTo>
                  <a:pt x="0" y="138938"/>
                </a:lnTo>
                <a:lnTo>
                  <a:pt x="0" y="1456347"/>
                </a:lnTo>
                <a:lnTo>
                  <a:pt x="11937" y="1456956"/>
                </a:lnTo>
                <a:lnTo>
                  <a:pt x="64278" y="1456447"/>
                </a:lnTo>
                <a:lnTo>
                  <a:pt x="116371" y="1454924"/>
                </a:lnTo>
                <a:lnTo>
                  <a:pt x="168207" y="1452397"/>
                </a:lnTo>
                <a:lnTo>
                  <a:pt x="219777" y="1448877"/>
                </a:lnTo>
                <a:lnTo>
                  <a:pt x="271071" y="1444371"/>
                </a:lnTo>
                <a:lnTo>
                  <a:pt x="322081" y="1438891"/>
                </a:lnTo>
                <a:lnTo>
                  <a:pt x="372795" y="1432444"/>
                </a:lnTo>
                <a:lnTo>
                  <a:pt x="423206" y="1425040"/>
                </a:lnTo>
                <a:lnTo>
                  <a:pt x="473303" y="1416690"/>
                </a:lnTo>
                <a:lnTo>
                  <a:pt x="523078" y="1407402"/>
                </a:lnTo>
                <a:lnTo>
                  <a:pt x="572520" y="1397186"/>
                </a:lnTo>
                <a:lnTo>
                  <a:pt x="621620" y="1386051"/>
                </a:lnTo>
                <a:lnTo>
                  <a:pt x="670369" y="1374006"/>
                </a:lnTo>
                <a:lnTo>
                  <a:pt x="718757" y="1361062"/>
                </a:lnTo>
                <a:lnTo>
                  <a:pt x="766775" y="1347227"/>
                </a:lnTo>
                <a:lnTo>
                  <a:pt x="814414" y="1332510"/>
                </a:lnTo>
                <a:lnTo>
                  <a:pt x="861663" y="1316923"/>
                </a:lnTo>
                <a:lnTo>
                  <a:pt x="908514" y="1300473"/>
                </a:lnTo>
                <a:lnTo>
                  <a:pt x="954957" y="1283170"/>
                </a:lnTo>
                <a:lnTo>
                  <a:pt x="1000983" y="1265023"/>
                </a:lnTo>
                <a:lnTo>
                  <a:pt x="1046581" y="1246043"/>
                </a:lnTo>
                <a:lnTo>
                  <a:pt x="1091743" y="1226238"/>
                </a:lnTo>
                <a:lnTo>
                  <a:pt x="1136460" y="1205618"/>
                </a:lnTo>
                <a:lnTo>
                  <a:pt x="1180721" y="1184192"/>
                </a:lnTo>
                <a:lnTo>
                  <a:pt x="1224518" y="1161970"/>
                </a:lnTo>
                <a:lnTo>
                  <a:pt x="1267841" y="1138961"/>
                </a:lnTo>
                <a:lnTo>
                  <a:pt x="1301495" y="1118463"/>
                </a:lnTo>
                <a:lnTo>
                  <a:pt x="599567" y="0"/>
                </a:lnTo>
                <a:close/>
              </a:path>
            </a:pathLst>
          </a:custGeom>
          <a:solidFill>
            <a:srgbClr val="3D6D7B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8" name="object 8">
            <a:extLst>
              <a:ext uri="{FF2B5EF4-FFF2-40B4-BE49-F238E27FC236}">
                <a16:creationId xmlns:a16="http://schemas.microsoft.com/office/drawing/2014/main" id="{3FBC1B40-32D4-489C-A017-42800B757612}"/>
              </a:ext>
            </a:extLst>
          </p:cNvPr>
          <p:cNvSpPr/>
          <p:nvPr/>
        </p:nvSpPr>
        <p:spPr>
          <a:xfrm>
            <a:off x="2313789" y="1742776"/>
            <a:ext cx="1330087" cy="1357717"/>
          </a:xfrm>
          <a:custGeom>
            <a:avLst/>
            <a:gdLst/>
            <a:ahLst/>
            <a:cxnLst/>
            <a:rect l="l" t="t" r="r" b="b"/>
            <a:pathLst>
              <a:path w="1637029" h="1722120">
                <a:moveTo>
                  <a:pt x="606044" y="0"/>
                </a:moveTo>
                <a:lnTo>
                  <a:pt x="0" y="1170178"/>
                </a:lnTo>
                <a:lnTo>
                  <a:pt x="77977" y="1217549"/>
                </a:lnTo>
                <a:lnTo>
                  <a:pt x="117825" y="1245556"/>
                </a:lnTo>
                <a:lnTo>
                  <a:pt x="156571" y="1274982"/>
                </a:lnTo>
                <a:lnTo>
                  <a:pt x="194179" y="1305790"/>
                </a:lnTo>
                <a:lnTo>
                  <a:pt x="230609" y="1337942"/>
                </a:lnTo>
                <a:lnTo>
                  <a:pt x="265826" y="1371400"/>
                </a:lnTo>
                <a:lnTo>
                  <a:pt x="299791" y="1406127"/>
                </a:lnTo>
                <a:lnTo>
                  <a:pt x="332468" y="1442086"/>
                </a:lnTo>
                <a:lnTo>
                  <a:pt x="363818" y="1479239"/>
                </a:lnTo>
                <a:lnTo>
                  <a:pt x="393804" y="1517549"/>
                </a:lnTo>
                <a:lnTo>
                  <a:pt x="422390" y="1556978"/>
                </a:lnTo>
                <a:lnTo>
                  <a:pt x="449536" y="1597489"/>
                </a:lnTo>
                <a:lnTo>
                  <a:pt x="475207" y="1639044"/>
                </a:lnTo>
                <a:lnTo>
                  <a:pt x="499363" y="1681607"/>
                </a:lnTo>
                <a:lnTo>
                  <a:pt x="518287" y="1722120"/>
                </a:lnTo>
                <a:lnTo>
                  <a:pt x="1636776" y="1020191"/>
                </a:lnTo>
                <a:lnTo>
                  <a:pt x="1576577" y="916939"/>
                </a:lnTo>
                <a:lnTo>
                  <a:pt x="1549457" y="874388"/>
                </a:lnTo>
                <a:lnTo>
                  <a:pt x="1521548" y="832397"/>
                </a:lnTo>
                <a:lnTo>
                  <a:pt x="1492860" y="790975"/>
                </a:lnTo>
                <a:lnTo>
                  <a:pt x="1463404" y="750135"/>
                </a:lnTo>
                <a:lnTo>
                  <a:pt x="1433190" y="709886"/>
                </a:lnTo>
                <a:lnTo>
                  <a:pt x="1402228" y="670239"/>
                </a:lnTo>
                <a:lnTo>
                  <a:pt x="1370530" y="631203"/>
                </a:lnTo>
                <a:lnTo>
                  <a:pt x="1338106" y="592791"/>
                </a:lnTo>
                <a:lnTo>
                  <a:pt x="1304967" y="555011"/>
                </a:lnTo>
                <a:lnTo>
                  <a:pt x="1271122" y="517875"/>
                </a:lnTo>
                <a:lnTo>
                  <a:pt x="1236583" y="481393"/>
                </a:lnTo>
                <a:lnTo>
                  <a:pt x="1201359" y="445575"/>
                </a:lnTo>
                <a:lnTo>
                  <a:pt x="1165462" y="410432"/>
                </a:lnTo>
                <a:lnTo>
                  <a:pt x="1128902" y="375975"/>
                </a:lnTo>
                <a:lnTo>
                  <a:pt x="1091690" y="342213"/>
                </a:lnTo>
                <a:lnTo>
                  <a:pt x="1053835" y="309157"/>
                </a:lnTo>
                <a:lnTo>
                  <a:pt x="1015349" y="276818"/>
                </a:lnTo>
                <a:lnTo>
                  <a:pt x="976242" y="245206"/>
                </a:lnTo>
                <a:lnTo>
                  <a:pt x="936525" y="214331"/>
                </a:lnTo>
                <a:lnTo>
                  <a:pt x="896208" y="184205"/>
                </a:lnTo>
                <a:lnTo>
                  <a:pt x="855301" y="154837"/>
                </a:lnTo>
                <a:lnTo>
                  <a:pt x="813815" y="126237"/>
                </a:lnTo>
                <a:lnTo>
                  <a:pt x="606044" y="0"/>
                </a:lnTo>
                <a:close/>
              </a:path>
            </a:pathLst>
          </a:custGeom>
          <a:solidFill>
            <a:srgbClr val="D0D0D0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9" name="object 9">
            <a:extLst>
              <a:ext uri="{FF2B5EF4-FFF2-40B4-BE49-F238E27FC236}">
                <a16:creationId xmlns:a16="http://schemas.microsoft.com/office/drawing/2014/main" id="{9B6EA568-7532-4351-B523-9F77F1FEA1FB}"/>
              </a:ext>
            </a:extLst>
          </p:cNvPr>
          <p:cNvSpPr/>
          <p:nvPr/>
        </p:nvSpPr>
        <p:spPr>
          <a:xfrm>
            <a:off x="1488908" y="1348737"/>
            <a:ext cx="1045289" cy="1178991"/>
          </a:xfrm>
          <a:custGeom>
            <a:avLst/>
            <a:gdLst/>
            <a:ahLst/>
            <a:cxnLst/>
            <a:rect l="l" t="t" r="r" b="b"/>
            <a:pathLst>
              <a:path w="1286510" h="1495425">
                <a:moveTo>
                  <a:pt x="21081" y="0"/>
                </a:moveTo>
                <a:lnTo>
                  <a:pt x="0" y="1143"/>
                </a:lnTo>
                <a:lnTo>
                  <a:pt x="0" y="1318387"/>
                </a:lnTo>
                <a:lnTo>
                  <a:pt x="21081" y="1317371"/>
                </a:lnTo>
                <a:lnTo>
                  <a:pt x="73299" y="1318388"/>
                </a:lnTo>
                <a:lnTo>
                  <a:pt x="125005" y="1321414"/>
                </a:lnTo>
                <a:lnTo>
                  <a:pt x="176162" y="1326410"/>
                </a:lnTo>
                <a:lnTo>
                  <a:pt x="226730" y="1333340"/>
                </a:lnTo>
                <a:lnTo>
                  <a:pt x="276673" y="1342164"/>
                </a:lnTo>
                <a:lnTo>
                  <a:pt x="325951" y="1352844"/>
                </a:lnTo>
                <a:lnTo>
                  <a:pt x="374527" y="1365342"/>
                </a:lnTo>
                <a:lnTo>
                  <a:pt x="422362" y="1379620"/>
                </a:lnTo>
                <a:lnTo>
                  <a:pt x="469419" y="1395640"/>
                </a:lnTo>
                <a:lnTo>
                  <a:pt x="515659" y="1413363"/>
                </a:lnTo>
                <a:lnTo>
                  <a:pt x="561044" y="1432752"/>
                </a:lnTo>
                <a:lnTo>
                  <a:pt x="605536" y="1453769"/>
                </a:lnTo>
                <a:lnTo>
                  <a:pt x="649097" y="1476375"/>
                </a:lnTo>
                <a:lnTo>
                  <a:pt x="679577" y="1494916"/>
                </a:lnTo>
                <a:lnTo>
                  <a:pt x="1286256" y="323723"/>
                </a:lnTo>
                <a:lnTo>
                  <a:pt x="1233663" y="294996"/>
                </a:lnTo>
                <a:lnTo>
                  <a:pt x="1189867" y="272771"/>
                </a:lnTo>
                <a:lnTo>
                  <a:pt x="1145608" y="251343"/>
                </a:lnTo>
                <a:lnTo>
                  <a:pt x="1100895" y="230721"/>
                </a:lnTo>
                <a:lnTo>
                  <a:pt x="1055737" y="210915"/>
                </a:lnTo>
                <a:lnTo>
                  <a:pt x="1010142" y="191933"/>
                </a:lnTo>
                <a:lnTo>
                  <a:pt x="964121" y="173786"/>
                </a:lnTo>
                <a:lnTo>
                  <a:pt x="917683" y="156482"/>
                </a:lnTo>
                <a:lnTo>
                  <a:pt x="870837" y="140031"/>
                </a:lnTo>
                <a:lnTo>
                  <a:pt x="823592" y="124443"/>
                </a:lnTo>
                <a:lnTo>
                  <a:pt x="775959" y="109726"/>
                </a:lnTo>
                <a:lnTo>
                  <a:pt x="727945" y="95891"/>
                </a:lnTo>
                <a:lnTo>
                  <a:pt x="679561" y="82946"/>
                </a:lnTo>
                <a:lnTo>
                  <a:pt x="630815" y="70902"/>
                </a:lnTo>
                <a:lnTo>
                  <a:pt x="581717" y="59767"/>
                </a:lnTo>
                <a:lnTo>
                  <a:pt x="532277" y="49551"/>
                </a:lnTo>
                <a:lnTo>
                  <a:pt x="482504" y="40263"/>
                </a:lnTo>
                <a:lnTo>
                  <a:pt x="432406" y="31913"/>
                </a:lnTo>
                <a:lnTo>
                  <a:pt x="381994" y="24510"/>
                </a:lnTo>
                <a:lnTo>
                  <a:pt x="331277" y="18064"/>
                </a:lnTo>
                <a:lnTo>
                  <a:pt x="280263" y="12583"/>
                </a:lnTo>
                <a:lnTo>
                  <a:pt x="228963" y="8078"/>
                </a:lnTo>
                <a:lnTo>
                  <a:pt x="177385" y="4558"/>
                </a:lnTo>
                <a:lnTo>
                  <a:pt x="125540" y="2032"/>
                </a:lnTo>
                <a:lnTo>
                  <a:pt x="73435" y="509"/>
                </a:lnTo>
                <a:lnTo>
                  <a:pt x="21081" y="0"/>
                </a:lnTo>
                <a:close/>
              </a:path>
            </a:pathLst>
          </a:custGeom>
          <a:solidFill>
            <a:srgbClr val="FD5E67"/>
          </a:solidFill>
        </p:spPr>
        <p:txBody>
          <a:bodyPr wrap="square" lIns="0" tIns="0" rIns="0" bIns="0" rtlCol="0"/>
          <a:lstStyle/>
          <a:p>
            <a:pPr defTabSz="914400"/>
            <a:endParaRPr lang="en-US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0" name="object 10">
            <a:extLst>
              <a:ext uri="{FF2B5EF4-FFF2-40B4-BE49-F238E27FC236}">
                <a16:creationId xmlns:a16="http://schemas.microsoft.com/office/drawing/2014/main" id="{EEFB6042-1AD0-493A-B5EC-15F8C028D193}"/>
              </a:ext>
            </a:extLst>
          </p:cNvPr>
          <p:cNvSpPr/>
          <p:nvPr/>
        </p:nvSpPr>
        <p:spPr>
          <a:xfrm>
            <a:off x="2776276" y="2915851"/>
            <a:ext cx="1184077" cy="1026298"/>
          </a:xfrm>
          <a:custGeom>
            <a:avLst/>
            <a:gdLst/>
            <a:ahLst/>
            <a:cxnLst/>
            <a:rect l="l" t="t" r="r" b="b"/>
            <a:pathLst>
              <a:path w="1457325" h="1301750">
                <a:moveTo>
                  <a:pt x="1118489" y="0"/>
                </a:moveTo>
                <a:lnTo>
                  <a:pt x="0" y="701929"/>
                </a:lnTo>
                <a:lnTo>
                  <a:pt x="36068" y="776732"/>
                </a:lnTo>
                <a:lnTo>
                  <a:pt x="55168" y="824479"/>
                </a:lnTo>
                <a:lnTo>
                  <a:pt x="72435" y="873128"/>
                </a:lnTo>
                <a:lnTo>
                  <a:pt x="87828" y="922634"/>
                </a:lnTo>
                <a:lnTo>
                  <a:pt x="101305" y="972956"/>
                </a:lnTo>
                <a:lnTo>
                  <a:pt x="112823" y="1024048"/>
                </a:lnTo>
                <a:lnTo>
                  <a:pt x="122341" y="1075868"/>
                </a:lnTo>
                <a:lnTo>
                  <a:pt x="129817" y="1128373"/>
                </a:lnTo>
                <a:lnTo>
                  <a:pt x="135209" y="1181518"/>
                </a:lnTo>
                <a:lnTo>
                  <a:pt x="138475" y="1235261"/>
                </a:lnTo>
                <a:lnTo>
                  <a:pt x="139573" y="1289558"/>
                </a:lnTo>
                <a:lnTo>
                  <a:pt x="139065" y="1301496"/>
                </a:lnTo>
                <a:lnTo>
                  <a:pt x="1456436" y="1301496"/>
                </a:lnTo>
                <a:lnTo>
                  <a:pt x="1456434" y="1237217"/>
                </a:lnTo>
                <a:lnTo>
                  <a:pt x="1454911" y="1185124"/>
                </a:lnTo>
                <a:lnTo>
                  <a:pt x="1452385" y="1133288"/>
                </a:lnTo>
                <a:lnTo>
                  <a:pt x="1448865" y="1081718"/>
                </a:lnTo>
                <a:lnTo>
                  <a:pt x="1444360" y="1030424"/>
                </a:lnTo>
                <a:lnTo>
                  <a:pt x="1438879" y="979414"/>
                </a:lnTo>
                <a:lnTo>
                  <a:pt x="1432433" y="928700"/>
                </a:lnTo>
                <a:lnTo>
                  <a:pt x="1425030" y="878289"/>
                </a:lnTo>
                <a:lnTo>
                  <a:pt x="1416680" y="828192"/>
                </a:lnTo>
                <a:lnTo>
                  <a:pt x="1407392" y="778417"/>
                </a:lnTo>
                <a:lnTo>
                  <a:pt x="1397176" y="728975"/>
                </a:lnTo>
                <a:lnTo>
                  <a:pt x="1386041" y="679875"/>
                </a:lnTo>
                <a:lnTo>
                  <a:pt x="1373997" y="631126"/>
                </a:lnTo>
                <a:lnTo>
                  <a:pt x="1361052" y="582738"/>
                </a:lnTo>
                <a:lnTo>
                  <a:pt x="1347217" y="534720"/>
                </a:lnTo>
                <a:lnTo>
                  <a:pt x="1332500" y="487081"/>
                </a:lnTo>
                <a:lnTo>
                  <a:pt x="1316912" y="439832"/>
                </a:lnTo>
                <a:lnTo>
                  <a:pt x="1300461" y="392981"/>
                </a:lnTo>
                <a:lnTo>
                  <a:pt x="1283157" y="346538"/>
                </a:lnTo>
                <a:lnTo>
                  <a:pt x="1265010" y="300512"/>
                </a:lnTo>
                <a:lnTo>
                  <a:pt x="1246028" y="254914"/>
                </a:lnTo>
                <a:lnTo>
                  <a:pt x="1226222" y="209752"/>
                </a:lnTo>
                <a:lnTo>
                  <a:pt x="1205600" y="165035"/>
                </a:lnTo>
                <a:lnTo>
                  <a:pt x="1184172" y="120774"/>
                </a:lnTo>
                <a:lnTo>
                  <a:pt x="1161947" y="76977"/>
                </a:lnTo>
                <a:lnTo>
                  <a:pt x="1138936" y="33655"/>
                </a:lnTo>
                <a:lnTo>
                  <a:pt x="1118489" y="0"/>
                </a:lnTo>
                <a:close/>
              </a:path>
            </a:pathLst>
          </a:custGeom>
          <a:solidFill>
            <a:srgbClr val="FFA129"/>
          </a:solid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1" name="object 17">
            <a:extLst>
              <a:ext uri="{FF2B5EF4-FFF2-40B4-BE49-F238E27FC236}">
                <a16:creationId xmlns:a16="http://schemas.microsoft.com/office/drawing/2014/main" id="{0EF58972-FC11-465A-9E40-DBDAB623793F}"/>
              </a:ext>
            </a:extLst>
          </p:cNvPr>
          <p:cNvSpPr/>
          <p:nvPr/>
        </p:nvSpPr>
        <p:spPr>
          <a:xfrm>
            <a:off x="1569188" y="1515823"/>
            <a:ext cx="656272" cy="6199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 lang="en-US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lang="en-ID" dirty="0">
              <a:solidFill>
                <a:prstClr val="black"/>
              </a:solidFill>
              <a:latin typeface="Calibri"/>
            </a:endParaRPr>
          </a:p>
          <a:p>
            <a:pPr defTabSz="914400"/>
            <a:endParaRPr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2" name="object 18">
            <a:extLst>
              <a:ext uri="{FF2B5EF4-FFF2-40B4-BE49-F238E27FC236}">
                <a16:creationId xmlns:a16="http://schemas.microsoft.com/office/drawing/2014/main" id="{305B8411-E2AE-4A72-9547-0FF39D4772C9}"/>
              </a:ext>
            </a:extLst>
          </p:cNvPr>
          <p:cNvSpPr/>
          <p:nvPr/>
        </p:nvSpPr>
        <p:spPr>
          <a:xfrm>
            <a:off x="3023410" y="3150928"/>
            <a:ext cx="747903" cy="7329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5" name="object 21">
            <a:extLst>
              <a:ext uri="{FF2B5EF4-FFF2-40B4-BE49-F238E27FC236}">
                <a16:creationId xmlns:a16="http://schemas.microsoft.com/office/drawing/2014/main" id="{306E804E-190F-4919-B67A-BBE3C1FDEFD8}"/>
              </a:ext>
            </a:extLst>
          </p:cNvPr>
          <p:cNvSpPr/>
          <p:nvPr/>
        </p:nvSpPr>
        <p:spPr>
          <a:xfrm>
            <a:off x="2947788" y="4402708"/>
            <a:ext cx="637139" cy="6032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6" name="object 22">
            <a:extLst>
              <a:ext uri="{FF2B5EF4-FFF2-40B4-BE49-F238E27FC236}">
                <a16:creationId xmlns:a16="http://schemas.microsoft.com/office/drawing/2014/main" id="{2A06DBAC-1E8C-44DB-9DC3-56ADF5E70525}"/>
              </a:ext>
            </a:extLst>
          </p:cNvPr>
          <p:cNvSpPr/>
          <p:nvPr/>
        </p:nvSpPr>
        <p:spPr>
          <a:xfrm>
            <a:off x="1949434" y="5227890"/>
            <a:ext cx="698373" cy="68486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7" name="object 19">
            <a:extLst>
              <a:ext uri="{FF2B5EF4-FFF2-40B4-BE49-F238E27FC236}">
                <a16:creationId xmlns:a16="http://schemas.microsoft.com/office/drawing/2014/main" id="{068EA96E-0093-4FC6-9175-83F4CF513881}"/>
              </a:ext>
            </a:extLst>
          </p:cNvPr>
          <p:cNvSpPr/>
          <p:nvPr/>
        </p:nvSpPr>
        <p:spPr>
          <a:xfrm>
            <a:off x="2563915" y="2136891"/>
            <a:ext cx="684304" cy="6383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defTabSz="9144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3913533-0FF3-4948-AFD1-D7B14FE2173B}"/>
              </a:ext>
            </a:extLst>
          </p:cNvPr>
          <p:cNvSpPr/>
          <p:nvPr/>
        </p:nvSpPr>
        <p:spPr>
          <a:xfrm>
            <a:off x="303971" y="3051143"/>
            <a:ext cx="2369874" cy="16374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388">
              <a:buClr>
                <a:prstClr val="black"/>
              </a:buClr>
            </a:pPr>
            <a:r>
              <a:rPr lang="en-ID" sz="2300" b="1" cap="all" dirty="0" err="1">
                <a:solidFill>
                  <a:prstClr val="black"/>
                </a:solidFill>
              </a:rPr>
              <a:t>Jangka</a:t>
            </a:r>
            <a:r>
              <a:rPr lang="en-ID" sz="2300" b="1" cap="all" dirty="0">
                <a:solidFill>
                  <a:prstClr val="black"/>
                </a:solidFill>
              </a:rPr>
              <a:t> Waktu </a:t>
            </a:r>
            <a:r>
              <a:rPr lang="en-ID" sz="2300" b="1" cap="all" dirty="0" err="1">
                <a:solidFill>
                  <a:prstClr val="black"/>
                </a:solidFill>
              </a:rPr>
              <a:t>Kerjasama</a:t>
            </a:r>
            <a:r>
              <a:rPr lang="en-ID" sz="2300" b="1" cap="all" dirty="0">
                <a:solidFill>
                  <a:prstClr val="black"/>
                </a:solidFill>
              </a:rPr>
              <a:t> </a:t>
            </a:r>
          </a:p>
          <a:p>
            <a:pPr lvl="0" algn="ctr" defTabSz="914388">
              <a:buClr>
                <a:prstClr val="black"/>
              </a:buClr>
            </a:pPr>
            <a:r>
              <a:rPr lang="en-ID" sz="2300" b="1" cap="all" dirty="0">
                <a:solidFill>
                  <a:prstClr val="black"/>
                </a:solidFill>
              </a:rPr>
              <a:t>&amp; </a:t>
            </a:r>
            <a:r>
              <a:rPr lang="en-ID" sz="2300" b="1" cap="all" dirty="0" err="1">
                <a:solidFill>
                  <a:prstClr val="black"/>
                </a:solidFill>
              </a:rPr>
              <a:t>Mekanisme</a:t>
            </a:r>
            <a:r>
              <a:rPr lang="en-ID" sz="2300" b="1" cap="all" dirty="0">
                <a:solidFill>
                  <a:prstClr val="black"/>
                </a:solidFill>
              </a:rPr>
              <a:t> </a:t>
            </a:r>
            <a:r>
              <a:rPr lang="en-ID" sz="2300" b="1" cap="all" dirty="0" err="1">
                <a:solidFill>
                  <a:prstClr val="black"/>
                </a:solidFill>
              </a:rPr>
              <a:t>PerpanjangaN</a:t>
            </a:r>
            <a:endParaRPr lang="en-ID" sz="2300" b="1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1202438-7200-473C-9566-0E14FF4B60EB}"/>
              </a:ext>
            </a:extLst>
          </p:cNvPr>
          <p:cNvSpPr/>
          <p:nvPr/>
        </p:nvSpPr>
        <p:spPr>
          <a:xfrm>
            <a:off x="4407791" y="1281157"/>
            <a:ext cx="6717354" cy="794183"/>
          </a:xfrm>
          <a:prstGeom prst="roundRect">
            <a:avLst/>
          </a:prstGeom>
          <a:solidFill>
            <a:srgbClr val="FF5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1.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Jangka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Waktu PKS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Layanan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Agen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DUTA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berlaku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selama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3 (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tiga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) Th</a:t>
            </a:r>
            <a:endParaRPr lang="en-ID" sz="2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C46AEE0B-84C7-47B8-BD86-F5EAE3A55785}"/>
              </a:ext>
            </a:extLst>
          </p:cNvPr>
          <p:cNvSpPr/>
          <p:nvPr/>
        </p:nvSpPr>
        <p:spPr>
          <a:xfrm>
            <a:off x="4436357" y="2261997"/>
            <a:ext cx="6688788" cy="79418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2.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Perpanjangan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/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Pengakhiran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PKS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selambat-lambatnya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60 (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enam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puluh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)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hari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sebelum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jangka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waktu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berakhir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.</a:t>
            </a:r>
            <a:endParaRPr lang="en-ID" sz="2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7E6A8B26-0B56-4EEE-86ED-3639583FEF24}"/>
              </a:ext>
            </a:extLst>
          </p:cNvPr>
          <p:cNvSpPr/>
          <p:nvPr/>
        </p:nvSpPr>
        <p:spPr>
          <a:xfrm>
            <a:off x="4443720" y="3228146"/>
            <a:ext cx="6688787" cy="1322763"/>
          </a:xfrm>
          <a:prstGeom prst="roundRect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</a:rPr>
              <a:t>3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. Unit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Kerja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wajib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melakukan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cek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PKS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Agen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DUTA yang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akan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berakhir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.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Lakukan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Analisa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Kinerja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Agen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Duta dan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kunjungan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onsite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ke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lokasi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Agen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DUTA</a:t>
            </a:r>
            <a:endParaRPr lang="en-ID" sz="2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4CB6D484-4AC8-4088-BF83-900C4241DA5D}"/>
              </a:ext>
            </a:extLst>
          </p:cNvPr>
          <p:cNvSpPr/>
          <p:nvPr/>
        </p:nvSpPr>
        <p:spPr>
          <a:xfrm>
            <a:off x="4501468" y="4723768"/>
            <a:ext cx="6631039" cy="794183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4.Hasil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Layak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          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dapat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melakukan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perpanjangan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dengan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Addendum PKS</a:t>
            </a:r>
            <a:endParaRPr lang="en-ID" sz="2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031DB05-6AA2-4A23-88DB-5F26FD3598F6}"/>
              </a:ext>
            </a:extLst>
          </p:cNvPr>
          <p:cNvSpPr/>
          <p:nvPr/>
        </p:nvSpPr>
        <p:spPr>
          <a:xfrm>
            <a:off x="4501468" y="5713656"/>
            <a:ext cx="6713795" cy="794183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5. Hasil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Tidak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Layak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   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disarankan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untuk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melakukan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Arial Narrow" panose="020B0606020202030204" pitchFamily="34" charset="0"/>
              </a:rPr>
              <a:t>pengakhiran</a:t>
            </a:r>
            <a:r>
              <a:rPr lang="en-US" sz="2200" dirty="0">
                <a:solidFill>
                  <a:schemeClr val="tx1"/>
                </a:solidFill>
                <a:latin typeface="Arial Narrow" panose="020B0606020202030204" pitchFamily="34" charset="0"/>
              </a:rPr>
              <a:t> PKS</a:t>
            </a:r>
            <a:endParaRPr lang="en-ID" sz="22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1564AF14-7868-4873-8F86-D16CA3829A7E}"/>
              </a:ext>
            </a:extLst>
          </p:cNvPr>
          <p:cNvSpPr/>
          <p:nvPr/>
        </p:nvSpPr>
        <p:spPr>
          <a:xfrm>
            <a:off x="6146802" y="4752647"/>
            <a:ext cx="707075" cy="3963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B32CB749-08D9-4BB6-B7A3-3E27BCA126A8}"/>
              </a:ext>
            </a:extLst>
          </p:cNvPr>
          <p:cNvSpPr/>
          <p:nvPr/>
        </p:nvSpPr>
        <p:spPr>
          <a:xfrm>
            <a:off x="7168467" y="5741379"/>
            <a:ext cx="648520" cy="3834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43274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64472-659A-487C-A32D-95453ABA3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0" y="193801"/>
            <a:ext cx="4206242" cy="792162"/>
          </a:xfrm>
        </p:spPr>
        <p:txBody>
          <a:bodyPr>
            <a:normAutofit/>
          </a:bodyPr>
          <a:lstStyle/>
          <a:p>
            <a:r>
              <a:rPr lang="en-US" sz="3200" dirty="0" err="1"/>
              <a:t>Insentif</a:t>
            </a:r>
            <a:r>
              <a:rPr lang="en-US" sz="3200" dirty="0"/>
              <a:t> </a:t>
            </a:r>
            <a:r>
              <a:rPr lang="en-US" sz="3200" dirty="0" err="1"/>
              <a:t>agen</a:t>
            </a:r>
            <a:r>
              <a:rPr lang="en-US" sz="3200" dirty="0"/>
              <a:t> </a:t>
            </a:r>
            <a:r>
              <a:rPr lang="en-US" sz="3200" dirty="0" err="1"/>
              <a:t>duta</a:t>
            </a:r>
            <a:endParaRPr lang="en-ID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1929E-AC4C-4380-8BC1-18751AA75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985963"/>
            <a:ext cx="11480800" cy="4957641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latin typeface="Bahnschrift" panose="020B0502040204020203" pitchFamily="34" charset="0"/>
              </a:rPr>
              <a:t>Insentif</a:t>
            </a:r>
            <a:r>
              <a:rPr lang="en-US" b="1" dirty="0">
                <a:latin typeface="Bahnschrift" panose="020B0502040204020203" pitchFamily="34" charset="0"/>
              </a:rPr>
              <a:t> </a:t>
            </a:r>
            <a:r>
              <a:rPr lang="en-US" b="1" dirty="0" err="1">
                <a:latin typeface="Bahnschrift" panose="020B0502040204020203" pitchFamily="34" charset="0"/>
              </a:rPr>
              <a:t>bulanan</a:t>
            </a:r>
            <a:r>
              <a:rPr lang="en-US" b="1" dirty="0">
                <a:latin typeface="Bahnschrift" panose="020B0502040204020203" pitchFamily="34" charset="0"/>
              </a:rPr>
              <a:t> </a:t>
            </a:r>
            <a:r>
              <a:rPr lang="en-US" b="1" dirty="0" err="1">
                <a:latin typeface="Bahnschrift" panose="020B0502040204020203" pitchFamily="34" charset="0"/>
              </a:rPr>
              <a:t>Agen</a:t>
            </a:r>
            <a:r>
              <a:rPr lang="en-US" b="1" dirty="0">
                <a:latin typeface="Bahnschrift" panose="020B0502040204020203" pitchFamily="34" charset="0"/>
              </a:rPr>
              <a:t> DUTA</a:t>
            </a:r>
            <a:endParaRPr lang="en-ID" b="1" dirty="0">
              <a:latin typeface="Bahnschrift" panose="020B0502040204020203" pitchFamily="34" charset="0"/>
            </a:endParaRPr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6D0E4B1B-1573-40B7-94E1-9CCFBBA7CBC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32783" y="348004"/>
            <a:ext cx="1678813" cy="48375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AD59B36-AF85-4A5E-813A-6492031C66D3}"/>
              </a:ext>
            </a:extLst>
          </p:cNvPr>
          <p:cNvSpPr/>
          <p:nvPr/>
        </p:nvSpPr>
        <p:spPr>
          <a:xfrm>
            <a:off x="684310" y="2087567"/>
            <a:ext cx="2500324" cy="1341433"/>
          </a:xfrm>
          <a:prstGeom prst="ellipse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err="1"/>
              <a:t>Bantuan</a:t>
            </a:r>
            <a:r>
              <a:rPr lang="en-US" sz="2200" dirty="0"/>
              <a:t> </a:t>
            </a:r>
            <a:r>
              <a:rPr lang="en-US" sz="2200" dirty="0" err="1"/>
              <a:t>Operasional</a:t>
            </a:r>
            <a:r>
              <a:rPr lang="en-US" sz="2200" dirty="0"/>
              <a:t> </a:t>
            </a:r>
            <a:r>
              <a:rPr lang="en-US" sz="2200" dirty="0" err="1"/>
              <a:t>Agen</a:t>
            </a:r>
            <a:r>
              <a:rPr lang="en-US" sz="2200" dirty="0"/>
              <a:t> Duta</a:t>
            </a:r>
            <a:endParaRPr lang="en-ID" sz="22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D5AE50D-FD9A-4296-BDDC-E53172F9D847}"/>
              </a:ext>
            </a:extLst>
          </p:cNvPr>
          <p:cNvSpPr/>
          <p:nvPr/>
        </p:nvSpPr>
        <p:spPr>
          <a:xfrm>
            <a:off x="542441" y="4350121"/>
            <a:ext cx="2642193" cy="1341433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 err="1"/>
              <a:t>Insentif</a:t>
            </a:r>
            <a:r>
              <a:rPr lang="en-US" sz="2200" dirty="0"/>
              <a:t> </a:t>
            </a:r>
            <a:r>
              <a:rPr lang="en-US" sz="2200" dirty="0" err="1"/>
              <a:t>Transaksi</a:t>
            </a:r>
            <a:r>
              <a:rPr lang="en-US" sz="2200" dirty="0"/>
              <a:t> </a:t>
            </a:r>
            <a:r>
              <a:rPr lang="en-US" sz="2200" dirty="0" err="1"/>
              <a:t>Agen</a:t>
            </a:r>
            <a:r>
              <a:rPr lang="en-US" sz="2200" dirty="0"/>
              <a:t> Duta</a:t>
            </a:r>
            <a:endParaRPr lang="en-ID" sz="2200" dirty="0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21268CAF-D3ED-4624-9CDE-5EEEDCC5DCA7}"/>
              </a:ext>
            </a:extLst>
          </p:cNvPr>
          <p:cNvSpPr/>
          <p:nvPr/>
        </p:nvSpPr>
        <p:spPr>
          <a:xfrm>
            <a:off x="4653544" y="1658319"/>
            <a:ext cx="6867896" cy="2262751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u="sng" dirty="0" err="1"/>
              <a:t>Ketentuannya</a:t>
            </a:r>
            <a:r>
              <a:rPr lang="en-US" sz="2200" b="1" u="sng" dirty="0"/>
              <a:t>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200" dirty="0" err="1"/>
              <a:t>Diberikan</a:t>
            </a:r>
            <a:r>
              <a:rPr lang="en-US" sz="2200" dirty="0"/>
              <a:t> </a:t>
            </a:r>
            <a:r>
              <a:rPr lang="en-US" sz="2200" dirty="0" err="1"/>
              <a:t>kepada</a:t>
            </a:r>
            <a:r>
              <a:rPr lang="en-US" sz="2200" dirty="0"/>
              <a:t> </a:t>
            </a:r>
            <a:r>
              <a:rPr lang="en-US" sz="2200" dirty="0" err="1"/>
              <a:t>Agen</a:t>
            </a:r>
            <a:r>
              <a:rPr lang="en-US" sz="2200" dirty="0"/>
              <a:t> Duta </a:t>
            </a:r>
            <a:r>
              <a:rPr lang="en-US" sz="2200" dirty="0" err="1"/>
              <a:t>Baru</a:t>
            </a:r>
            <a:endParaRPr lang="en-US" sz="22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200" dirty="0" err="1"/>
              <a:t>Diberikan</a:t>
            </a:r>
            <a:r>
              <a:rPr lang="en-US" sz="2200" dirty="0"/>
              <a:t> </a:t>
            </a:r>
            <a:r>
              <a:rPr lang="en-US" sz="2200" dirty="0" err="1"/>
              <a:t>selama</a:t>
            </a:r>
            <a:r>
              <a:rPr lang="en-US" sz="2200" dirty="0"/>
              <a:t> 3 (</a:t>
            </a:r>
            <a:r>
              <a:rPr lang="en-US" sz="2200" dirty="0" err="1"/>
              <a:t>tiga</a:t>
            </a:r>
            <a:r>
              <a:rPr lang="en-US" sz="2200" dirty="0"/>
              <a:t>) </a:t>
            </a:r>
            <a:r>
              <a:rPr lang="en-US" sz="2200" dirty="0" err="1"/>
              <a:t>bulan</a:t>
            </a:r>
            <a:r>
              <a:rPr lang="en-US" sz="2200" dirty="0"/>
              <a:t> </a:t>
            </a:r>
            <a:r>
              <a:rPr lang="en-US" sz="2200" dirty="0" err="1"/>
              <a:t>pertama</a:t>
            </a:r>
            <a:r>
              <a:rPr lang="en-US" sz="2200" dirty="0"/>
              <a:t> </a:t>
            </a:r>
            <a:r>
              <a:rPr lang="en-US" sz="2200" dirty="0" err="1"/>
              <a:t>Agen</a:t>
            </a:r>
            <a:r>
              <a:rPr lang="en-US" sz="2200" dirty="0"/>
              <a:t> Duta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200" dirty="0" err="1"/>
              <a:t>Wajib</a:t>
            </a:r>
            <a:r>
              <a:rPr lang="en-US" sz="2200" dirty="0"/>
              <a:t> </a:t>
            </a:r>
            <a:r>
              <a:rPr lang="en-US" sz="2200" dirty="0" err="1"/>
              <a:t>memenuhi</a:t>
            </a:r>
            <a:r>
              <a:rPr lang="en-US" sz="2200" dirty="0"/>
              <a:t> </a:t>
            </a:r>
            <a:r>
              <a:rPr lang="en-US" sz="2200" dirty="0" err="1"/>
              <a:t>transaksi</a:t>
            </a:r>
            <a:r>
              <a:rPr lang="en-US" sz="2200" dirty="0"/>
              <a:t> minimal </a:t>
            </a:r>
            <a:r>
              <a:rPr lang="en-US" sz="2200" dirty="0" err="1"/>
              <a:t>Agen</a:t>
            </a:r>
            <a:r>
              <a:rPr lang="en-US" sz="2200" dirty="0"/>
              <a:t> Duta </a:t>
            </a:r>
            <a:r>
              <a:rPr lang="en-US" sz="2200" dirty="0" err="1"/>
              <a:t>Baru</a:t>
            </a:r>
            <a:endParaRPr lang="en-US" sz="22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200" dirty="0" err="1"/>
              <a:t>Bantuan</a:t>
            </a:r>
            <a:r>
              <a:rPr lang="en-US" sz="2200" dirty="0"/>
              <a:t> </a:t>
            </a:r>
            <a:r>
              <a:rPr lang="en-US" sz="2200" dirty="0" err="1"/>
              <a:t>Operasinal</a:t>
            </a:r>
            <a:r>
              <a:rPr lang="en-US" sz="2200" dirty="0"/>
              <a:t> </a:t>
            </a:r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diberikan</a:t>
            </a:r>
            <a:r>
              <a:rPr lang="en-US" sz="2200" dirty="0"/>
              <a:t> </a:t>
            </a:r>
            <a:r>
              <a:rPr lang="en-US" sz="2200" dirty="0" err="1"/>
              <a:t>apabila</a:t>
            </a:r>
            <a:r>
              <a:rPr lang="en-US" sz="2200" dirty="0"/>
              <a:t> 3 </a:t>
            </a:r>
            <a:r>
              <a:rPr lang="en-US" sz="2200" dirty="0" err="1"/>
              <a:t>bln</a:t>
            </a:r>
            <a:r>
              <a:rPr lang="en-US" sz="2200" dirty="0"/>
              <a:t> </a:t>
            </a:r>
            <a:r>
              <a:rPr lang="en-US" sz="2200" dirty="0" err="1"/>
              <a:t>pertama</a:t>
            </a:r>
            <a:r>
              <a:rPr lang="en-US" sz="2200" dirty="0"/>
              <a:t> </a:t>
            </a:r>
            <a:r>
              <a:rPr lang="en-US" sz="2200" dirty="0" err="1"/>
              <a:t>tidak</a:t>
            </a:r>
            <a:r>
              <a:rPr lang="en-US" sz="2200" dirty="0"/>
              <a:t> </a:t>
            </a:r>
            <a:r>
              <a:rPr lang="en-US" sz="2200" dirty="0" err="1"/>
              <a:t>menjalankan</a:t>
            </a:r>
            <a:r>
              <a:rPr lang="en-US" sz="2200" dirty="0"/>
              <a:t> </a:t>
            </a:r>
            <a:r>
              <a:rPr lang="en-US" sz="2200" dirty="0" err="1"/>
              <a:t>transaksi</a:t>
            </a:r>
            <a:r>
              <a:rPr lang="en-US" sz="2200" dirty="0"/>
              <a:t> </a:t>
            </a:r>
            <a:r>
              <a:rPr lang="en-US" sz="2200" dirty="0" err="1"/>
              <a:t>sesuai</a:t>
            </a:r>
            <a:r>
              <a:rPr lang="en-US" sz="2200" dirty="0"/>
              <a:t> </a:t>
            </a:r>
            <a:r>
              <a:rPr lang="en-US" sz="2200" dirty="0" err="1"/>
              <a:t>ketentuan</a:t>
            </a:r>
            <a:r>
              <a:rPr lang="en-US" sz="2200" dirty="0"/>
              <a:t>.</a:t>
            </a:r>
            <a:endParaRPr lang="en-ID" sz="2200" dirty="0"/>
          </a:p>
        </p:txBody>
      </p: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E07F9A25-C40C-452E-ACD5-74B50203F3AC}"/>
              </a:ext>
            </a:extLst>
          </p:cNvPr>
          <p:cNvSpPr/>
          <p:nvPr/>
        </p:nvSpPr>
        <p:spPr>
          <a:xfrm>
            <a:off x="4653544" y="4045059"/>
            <a:ext cx="6867896" cy="2200758"/>
          </a:xfrm>
          <a:prstGeom prst="flowChartProcess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u="sng" dirty="0" err="1"/>
              <a:t>Ketentuan</a:t>
            </a:r>
            <a:r>
              <a:rPr lang="en-US" sz="2200" b="1" u="sng" dirty="0"/>
              <a:t>: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 err="1"/>
              <a:t>Diberikan</a:t>
            </a:r>
            <a:r>
              <a:rPr lang="en-US" sz="2200" dirty="0"/>
              <a:t> </a:t>
            </a:r>
            <a:r>
              <a:rPr lang="en-US" sz="2200" dirty="0" err="1"/>
              <a:t>setiap</a:t>
            </a:r>
            <a:r>
              <a:rPr lang="en-US" sz="2200" dirty="0"/>
              <a:t> </a:t>
            </a:r>
            <a:r>
              <a:rPr lang="en-US" sz="2200" dirty="0" err="1"/>
              <a:t>bulan</a:t>
            </a: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 err="1"/>
              <a:t>Diberikan</a:t>
            </a:r>
            <a:r>
              <a:rPr lang="en-US" sz="2200" dirty="0"/>
              <a:t> </a:t>
            </a:r>
            <a:r>
              <a:rPr lang="en-US" sz="2200" dirty="0" err="1"/>
              <a:t>kepada</a:t>
            </a:r>
            <a:r>
              <a:rPr lang="en-US" sz="2200" dirty="0"/>
              <a:t> </a:t>
            </a:r>
            <a:r>
              <a:rPr lang="en-US" sz="2200" dirty="0" err="1"/>
              <a:t>Agen</a:t>
            </a:r>
            <a:r>
              <a:rPr lang="en-US" sz="2200" dirty="0"/>
              <a:t> yang </a:t>
            </a:r>
            <a:r>
              <a:rPr lang="en-US" sz="2200" dirty="0" err="1"/>
              <a:t>aktif</a:t>
            </a:r>
            <a:r>
              <a:rPr lang="en-US" sz="2200" dirty="0"/>
              <a:t> </a:t>
            </a:r>
            <a:r>
              <a:rPr lang="en-US" sz="2200" dirty="0" err="1"/>
              <a:t>melakukan</a:t>
            </a:r>
            <a:r>
              <a:rPr lang="en-US" sz="2200" dirty="0"/>
              <a:t> </a:t>
            </a:r>
            <a:r>
              <a:rPr lang="en-US" sz="2200" dirty="0" err="1"/>
              <a:t>transaksi</a:t>
            </a: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 err="1"/>
              <a:t>Diberikan</a:t>
            </a:r>
            <a:r>
              <a:rPr lang="en-US" sz="2200" dirty="0"/>
              <a:t> </a:t>
            </a:r>
            <a:r>
              <a:rPr lang="en-US" sz="2200" dirty="0" err="1"/>
              <a:t>berjenjang</a:t>
            </a:r>
            <a:r>
              <a:rPr lang="en-US" sz="2200" dirty="0"/>
              <a:t> </a:t>
            </a:r>
            <a:r>
              <a:rPr lang="en-US" sz="2200" dirty="0" err="1"/>
              <a:t>sesuai</a:t>
            </a:r>
            <a:r>
              <a:rPr lang="en-US" sz="2200" dirty="0"/>
              <a:t> </a:t>
            </a:r>
            <a:r>
              <a:rPr lang="en-US" sz="2200" dirty="0" err="1"/>
              <a:t>akumulasi</a:t>
            </a:r>
            <a:r>
              <a:rPr lang="en-US" sz="2200" dirty="0"/>
              <a:t> </a:t>
            </a:r>
            <a:r>
              <a:rPr lang="en-US" sz="2200" dirty="0" err="1"/>
              <a:t>jumlah</a:t>
            </a:r>
            <a:r>
              <a:rPr lang="en-US" sz="2200" dirty="0"/>
              <a:t> </a:t>
            </a:r>
            <a:r>
              <a:rPr lang="en-US" sz="2200" dirty="0" err="1"/>
              <a:t>transaksi</a:t>
            </a:r>
            <a:endParaRPr lang="en-US" sz="22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200" dirty="0" err="1"/>
              <a:t>Insentif</a:t>
            </a:r>
            <a:r>
              <a:rPr lang="en-US" sz="2200" dirty="0"/>
              <a:t> </a:t>
            </a:r>
            <a:r>
              <a:rPr lang="en-US" sz="2200" dirty="0" err="1"/>
              <a:t>transaksi</a:t>
            </a:r>
            <a:r>
              <a:rPr lang="en-US" sz="2200" dirty="0"/>
              <a:t> </a:t>
            </a:r>
            <a:r>
              <a:rPr lang="en-US" sz="2200" dirty="0" err="1"/>
              <a:t>berulang</a:t>
            </a:r>
            <a:r>
              <a:rPr lang="en-US" sz="2200" dirty="0"/>
              <a:t> </a:t>
            </a:r>
            <a:r>
              <a:rPr lang="en-US" sz="2200" dirty="0" err="1"/>
              <a:t>hanya</a:t>
            </a:r>
            <a:r>
              <a:rPr lang="en-US" sz="2200" dirty="0"/>
              <a:t> </a:t>
            </a:r>
            <a:r>
              <a:rPr lang="en-US" sz="2200" dirty="0" err="1"/>
              <a:t>diberikan</a:t>
            </a:r>
            <a:r>
              <a:rPr lang="en-US" sz="2200" dirty="0"/>
              <a:t> </a:t>
            </a:r>
            <a:r>
              <a:rPr lang="en-US" sz="2200" dirty="0" err="1"/>
              <a:t>utk</a:t>
            </a:r>
            <a:r>
              <a:rPr lang="en-US" sz="2200" dirty="0"/>
              <a:t> 10 </a:t>
            </a:r>
            <a:r>
              <a:rPr lang="en-US" sz="2200" dirty="0" err="1"/>
              <a:t>transaksi</a:t>
            </a:r>
            <a:r>
              <a:rPr lang="en-US" sz="2200" dirty="0"/>
              <a:t> </a:t>
            </a:r>
            <a:r>
              <a:rPr lang="en-US" sz="2200" dirty="0" err="1"/>
              <a:t>pertama</a:t>
            </a:r>
            <a:endParaRPr lang="en-US" sz="2200" dirty="0"/>
          </a:p>
        </p:txBody>
      </p:sp>
      <p:sp>
        <p:nvSpPr>
          <p:cNvPr id="9" name="Arrow: Notched Right 8">
            <a:extLst>
              <a:ext uri="{FF2B5EF4-FFF2-40B4-BE49-F238E27FC236}">
                <a16:creationId xmlns:a16="http://schemas.microsoft.com/office/drawing/2014/main" id="{96D8B190-A0BB-4A12-B3DF-294128077185}"/>
              </a:ext>
            </a:extLst>
          </p:cNvPr>
          <p:cNvSpPr/>
          <p:nvPr/>
        </p:nvSpPr>
        <p:spPr>
          <a:xfrm>
            <a:off x="3390803" y="2383895"/>
            <a:ext cx="942535" cy="921121"/>
          </a:xfrm>
          <a:prstGeom prst="notchedRightArrow">
            <a:avLst/>
          </a:prstGeom>
          <a:solidFill>
            <a:srgbClr val="0066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" name="Arrow: Notched Right 9">
            <a:extLst>
              <a:ext uri="{FF2B5EF4-FFF2-40B4-BE49-F238E27FC236}">
                <a16:creationId xmlns:a16="http://schemas.microsoft.com/office/drawing/2014/main" id="{EE4798FB-AD99-434A-95DB-49346D4C3585}"/>
              </a:ext>
            </a:extLst>
          </p:cNvPr>
          <p:cNvSpPr/>
          <p:nvPr/>
        </p:nvSpPr>
        <p:spPr>
          <a:xfrm>
            <a:off x="3375305" y="4633887"/>
            <a:ext cx="942535" cy="921121"/>
          </a:xfrm>
          <a:prstGeom prst="notchedRightArrow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31158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83D0-3C65-4EEB-AE01-06CF6124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Tarif </a:t>
            </a:r>
            <a:r>
              <a:rPr lang="en-US" sz="3200" dirty="0" err="1"/>
              <a:t>insentif</a:t>
            </a:r>
            <a:r>
              <a:rPr lang="en-US" sz="3200" dirty="0"/>
              <a:t> </a:t>
            </a:r>
            <a:r>
              <a:rPr lang="en-US" sz="3200" dirty="0" err="1"/>
              <a:t>baru</a:t>
            </a:r>
            <a:endParaRPr lang="en-ID" sz="3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25F89D-1CF0-4442-B5D4-2FCF4AD0E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57173" y="0"/>
            <a:ext cx="194868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ABDA2F53-7ECB-41A7-B719-CDAAB19CBB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5962207"/>
              </p:ext>
            </p:extLst>
          </p:nvPr>
        </p:nvGraphicFramePr>
        <p:xfrm>
          <a:off x="1538514" y="985963"/>
          <a:ext cx="9114971" cy="5608320"/>
        </p:xfrm>
        <a:graphic>
          <a:graphicData uri="http://schemas.openxmlformats.org/drawingml/2006/table">
            <a:tbl>
              <a:tblPr firstRow="1" firstCol="1" bandRow="1"/>
              <a:tblGrid>
                <a:gridCol w="561073">
                  <a:extLst>
                    <a:ext uri="{9D8B030D-6E8A-4147-A177-3AD203B41FA5}">
                      <a16:colId xmlns:a16="http://schemas.microsoft.com/office/drawing/2014/main" val="2388715056"/>
                    </a:ext>
                  </a:extLst>
                </a:gridCol>
                <a:gridCol w="2509078">
                  <a:extLst>
                    <a:ext uri="{9D8B030D-6E8A-4147-A177-3AD203B41FA5}">
                      <a16:colId xmlns:a16="http://schemas.microsoft.com/office/drawing/2014/main" val="1793876747"/>
                    </a:ext>
                  </a:extLst>
                </a:gridCol>
                <a:gridCol w="1771808">
                  <a:extLst>
                    <a:ext uri="{9D8B030D-6E8A-4147-A177-3AD203B41FA5}">
                      <a16:colId xmlns:a16="http://schemas.microsoft.com/office/drawing/2014/main" val="3378300067"/>
                    </a:ext>
                  </a:extLst>
                </a:gridCol>
                <a:gridCol w="1645813">
                  <a:extLst>
                    <a:ext uri="{9D8B030D-6E8A-4147-A177-3AD203B41FA5}">
                      <a16:colId xmlns:a16="http://schemas.microsoft.com/office/drawing/2014/main" val="2200681064"/>
                    </a:ext>
                  </a:extLst>
                </a:gridCol>
                <a:gridCol w="2627199">
                  <a:extLst>
                    <a:ext uri="{9D8B030D-6E8A-4147-A177-3AD203B41FA5}">
                      <a16:colId xmlns:a16="http://schemas.microsoft.com/office/drawing/2014/main" val="2302588909"/>
                    </a:ext>
                  </a:extLst>
                </a:gridCol>
              </a:tblGrid>
              <a:tr h="47244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No.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Jenis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Aktifitas Transaksi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Insentif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6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Keterangan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276408"/>
                  </a:ext>
                </a:extLst>
              </a:tr>
              <a:tr h="118110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Bantuan Operasional Agen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 s/d 50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150.000,00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Diberikan setiap bulan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kepada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Agen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baru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selama 3 bulan pertama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menjadi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Agen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sepanjang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aktifitas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transaksi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tercapai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8316118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1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75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6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Diberikan setiap bulan berlaku progresif sesuai jumlah akumulasi transaksi yang dilakukan Agen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14789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2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s/d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1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873056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3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79522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4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2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8006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5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4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225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33382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6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5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8509049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7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6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92621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8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7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500220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9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250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553086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10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9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275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245964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11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10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275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26786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12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11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275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071169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13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12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275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614173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14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13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102231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15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14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01 s/d 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15</a:t>
                      </a:r>
                      <a:r>
                        <a:rPr lang="id-ID" sz="16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00</a:t>
                      </a:r>
                      <a:endParaRPr lang="en-ID" sz="16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536179"/>
                  </a:ext>
                </a:extLst>
              </a:tr>
              <a:tr h="236220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17.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id-ID" sz="1600" i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Fee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Transaksi Level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16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&gt; 150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 keatas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Rp 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30</a:t>
                      </a:r>
                      <a:r>
                        <a:rPr lang="id-ID" sz="16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0.000,00</a:t>
                      </a:r>
                      <a:endParaRPr lang="en-ID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7901548"/>
                  </a:ext>
                </a:extLst>
              </a:tr>
            </a:tbl>
          </a:graphicData>
        </a:graphic>
      </p:graphicFrame>
      <p:sp>
        <p:nvSpPr>
          <p:cNvPr id="15" name="Rectangle 3">
            <a:extLst>
              <a:ext uri="{FF2B5EF4-FFF2-40B4-BE49-F238E27FC236}">
                <a16:creationId xmlns:a16="http://schemas.microsoft.com/office/drawing/2014/main" id="{39E99F00-3197-4F3A-BA2F-DF28AC098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00676" y="0"/>
            <a:ext cx="176353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16" name="object 9">
            <a:extLst>
              <a:ext uri="{FF2B5EF4-FFF2-40B4-BE49-F238E27FC236}">
                <a16:creationId xmlns:a16="http://schemas.microsoft.com/office/drawing/2014/main" id="{09DE109D-BD39-465D-AA7B-FA9EC40B35D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6848" y="300003"/>
            <a:ext cx="1678813" cy="48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446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83D0-3C65-4EEB-AE01-06CF6124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Tarif </a:t>
            </a:r>
            <a:r>
              <a:rPr lang="en-US" sz="3200" dirty="0" err="1"/>
              <a:t>insentif</a:t>
            </a:r>
            <a:r>
              <a:rPr lang="en-US" sz="3200" dirty="0"/>
              <a:t> </a:t>
            </a:r>
            <a:r>
              <a:rPr lang="en-US" sz="3200" dirty="0" err="1"/>
              <a:t>baru</a:t>
            </a:r>
            <a:endParaRPr lang="en-ID" sz="3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25F89D-1CF0-4442-B5D4-2FCF4AD0E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57173" y="0"/>
            <a:ext cx="194868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9E99F00-3197-4F3A-BA2F-DF28AC098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00676" y="0"/>
            <a:ext cx="176353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16" name="object 9">
            <a:extLst>
              <a:ext uri="{FF2B5EF4-FFF2-40B4-BE49-F238E27FC236}">
                <a16:creationId xmlns:a16="http://schemas.microsoft.com/office/drawing/2014/main" id="{09DE109D-BD39-465D-AA7B-FA9EC40B35D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6848" y="300003"/>
            <a:ext cx="1678813" cy="4837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4"/>
          <a:srcRect l="32202" t="19720" r="29783" b="7219"/>
          <a:stretch/>
        </p:blipFill>
        <p:spPr>
          <a:xfrm>
            <a:off x="896882" y="985963"/>
            <a:ext cx="4950374" cy="53445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l="33440" t="16271" r="29724" b="12824"/>
          <a:stretch/>
        </p:blipFill>
        <p:spPr>
          <a:xfrm>
            <a:off x="6337737" y="1179764"/>
            <a:ext cx="4792718" cy="518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045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83D0-3C65-4EEB-AE01-06CF6124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Pelatihan</a:t>
            </a:r>
            <a:r>
              <a:rPr lang="en-US" sz="3200" dirty="0"/>
              <a:t> &amp; </a:t>
            </a:r>
            <a:r>
              <a:rPr lang="en-US" sz="3200" dirty="0" err="1"/>
              <a:t>edukasi</a:t>
            </a:r>
            <a:r>
              <a:rPr lang="en-US" sz="3200" dirty="0"/>
              <a:t> </a:t>
            </a:r>
            <a:r>
              <a:rPr lang="en-US" sz="3200" dirty="0" err="1"/>
              <a:t>agen</a:t>
            </a:r>
            <a:endParaRPr lang="en-ID" sz="3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25F89D-1CF0-4442-B5D4-2FCF4AD0E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57173" y="0"/>
            <a:ext cx="194868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9E99F00-3197-4F3A-BA2F-DF28AC098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00676" y="0"/>
            <a:ext cx="176353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16" name="object 9">
            <a:extLst>
              <a:ext uri="{FF2B5EF4-FFF2-40B4-BE49-F238E27FC236}">
                <a16:creationId xmlns:a16="http://schemas.microsoft.com/office/drawing/2014/main" id="{09DE109D-BD39-465D-AA7B-FA9EC40B35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6848" y="300003"/>
            <a:ext cx="1678813" cy="483755"/>
          </a:xfrm>
          <a:prstGeom prst="rect">
            <a:avLst/>
          </a:prstGeom>
        </p:spPr>
      </p:pic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A345E11-6F77-4195-8EB5-676BED26DC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889011"/>
              </p:ext>
            </p:extLst>
          </p:nvPr>
        </p:nvGraphicFramePr>
        <p:xfrm>
          <a:off x="406400" y="1295399"/>
          <a:ext cx="11480800" cy="52625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75540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83D0-3C65-4EEB-AE01-06CF6124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SURAT PENUNJUKAN AGEN &amp; </a:t>
            </a:r>
            <a:r>
              <a:rPr lang="en-US" sz="3200" dirty="0" err="1"/>
              <a:t>TANda</a:t>
            </a:r>
            <a:r>
              <a:rPr lang="en-US" sz="3200" dirty="0"/>
              <a:t> </a:t>
            </a:r>
            <a:r>
              <a:rPr lang="en-US" sz="3200" dirty="0" err="1"/>
              <a:t>pengenal</a:t>
            </a:r>
            <a:r>
              <a:rPr lang="en-US" sz="3200" dirty="0"/>
              <a:t> </a:t>
            </a:r>
            <a:r>
              <a:rPr lang="en-US" sz="3200" dirty="0" err="1"/>
              <a:t>agen</a:t>
            </a:r>
            <a:r>
              <a:rPr lang="en-US" sz="3200" dirty="0"/>
              <a:t> </a:t>
            </a:r>
            <a:r>
              <a:rPr lang="en-US" sz="3200" dirty="0" err="1"/>
              <a:t>duta</a:t>
            </a:r>
            <a:endParaRPr lang="en-ID" sz="3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25F89D-1CF0-4442-B5D4-2FCF4AD0E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57173" y="0"/>
            <a:ext cx="194868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9E99F00-3197-4F3A-BA2F-DF28AC098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00676" y="0"/>
            <a:ext cx="176353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16" name="object 9">
            <a:extLst>
              <a:ext uri="{FF2B5EF4-FFF2-40B4-BE49-F238E27FC236}">
                <a16:creationId xmlns:a16="http://schemas.microsoft.com/office/drawing/2014/main" id="{09DE109D-BD39-465D-AA7B-FA9EC40B35D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36848" y="300003"/>
            <a:ext cx="1678813" cy="483755"/>
          </a:xfrm>
          <a:prstGeom prst="rect">
            <a:avLst/>
          </a:prstGeom>
        </p:spPr>
      </p:pic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CCCDE11F-3010-4A83-9432-3CD94B8C21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646375"/>
              </p:ext>
            </p:extLst>
          </p:nvPr>
        </p:nvGraphicFramePr>
        <p:xfrm>
          <a:off x="740229" y="1083762"/>
          <a:ext cx="10987316" cy="558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Document" r:id="rId4" imgW="6095015" imgH="4428237" progId="Word.Document.12">
                  <p:embed/>
                </p:oleObj>
              </mc:Choice>
              <mc:Fallback>
                <p:oleObj name="Document" r:id="rId4" imgW="6095015" imgH="44282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40229" y="1083762"/>
                        <a:ext cx="10987316" cy="5580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5195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83D0-3C65-4EEB-AE01-06CF6124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Penghentian</a:t>
            </a:r>
            <a:r>
              <a:rPr lang="en-US" sz="3200" dirty="0"/>
              <a:t> PKS</a:t>
            </a:r>
            <a:endParaRPr lang="en-ID" sz="3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25F89D-1CF0-4442-B5D4-2FCF4AD0E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57173" y="0"/>
            <a:ext cx="194868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9E99F00-3197-4F3A-BA2F-DF28AC098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00676" y="0"/>
            <a:ext cx="176353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16" name="object 9">
            <a:extLst>
              <a:ext uri="{FF2B5EF4-FFF2-40B4-BE49-F238E27FC236}">
                <a16:creationId xmlns:a16="http://schemas.microsoft.com/office/drawing/2014/main" id="{09DE109D-BD39-465D-AA7B-FA9EC40B35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6848" y="300003"/>
            <a:ext cx="1678813" cy="483755"/>
          </a:xfrm>
          <a:prstGeom prst="rect">
            <a:avLst/>
          </a:prstGeom>
        </p:spPr>
      </p:pic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CF35F51C-8D46-4F53-802B-E15E91F97835}"/>
              </a:ext>
            </a:extLst>
          </p:cNvPr>
          <p:cNvSpPr/>
          <p:nvPr/>
        </p:nvSpPr>
        <p:spPr>
          <a:xfrm>
            <a:off x="1040862" y="985962"/>
            <a:ext cx="10406743" cy="79216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/>
              <a:t>Penghentian</a:t>
            </a:r>
            <a:r>
              <a:rPr lang="en-US" sz="2400" dirty="0"/>
              <a:t> PKS </a:t>
            </a:r>
            <a:r>
              <a:rPr lang="en-US" sz="2400" dirty="0" err="1"/>
              <a:t>secara</a:t>
            </a:r>
            <a:r>
              <a:rPr lang="en-US" sz="2400" dirty="0"/>
              <a:t> </a:t>
            </a:r>
            <a:r>
              <a:rPr lang="en-US" sz="2400" dirty="0" err="1"/>
              <a:t>sepihak</a:t>
            </a:r>
            <a:r>
              <a:rPr lang="en-US" sz="2400" dirty="0"/>
              <a:t>,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oleh Bank,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hal</a:t>
            </a:r>
            <a:r>
              <a:rPr lang="en-US" sz="2400" dirty="0"/>
              <a:t> </a:t>
            </a:r>
            <a:r>
              <a:rPr lang="en-US" sz="2400" dirty="0" err="1"/>
              <a:t>Agen</a:t>
            </a:r>
            <a:r>
              <a:rPr lang="en-US" sz="2400" dirty="0"/>
              <a:t> Duta </a:t>
            </a:r>
            <a:r>
              <a:rPr lang="en-US" sz="2400" dirty="0" err="1"/>
              <a:t>melakukan</a:t>
            </a:r>
            <a:r>
              <a:rPr lang="en-US" sz="2400" dirty="0"/>
              <a:t> </a:t>
            </a:r>
            <a:r>
              <a:rPr lang="en-US" sz="2400" dirty="0" err="1"/>
              <a:t>tindakan</a:t>
            </a:r>
            <a:r>
              <a:rPr lang="en-US" sz="2400" dirty="0"/>
              <a:t> </a:t>
            </a:r>
            <a:r>
              <a:rPr lang="en-US" sz="2400" dirty="0" err="1"/>
              <a:t>antaran</a:t>
            </a:r>
            <a:r>
              <a:rPr lang="en-US" sz="2400" dirty="0"/>
              <a:t> lain:</a:t>
            </a:r>
            <a:endParaRPr lang="en-ID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9B4684-C2AF-4B16-92AB-B579E26F1907}"/>
              </a:ext>
            </a:extLst>
          </p:cNvPr>
          <p:cNvSpPr/>
          <p:nvPr/>
        </p:nvSpPr>
        <p:spPr>
          <a:xfrm>
            <a:off x="609598" y="1778123"/>
            <a:ext cx="10972803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>
              <a:spcAft>
                <a:spcPts val="0"/>
              </a:spcAft>
              <a:buFont typeface="+mj-lt"/>
              <a:buAutoNum type="alphaLcPeriod"/>
            </a:pP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Mengenakan biaya kepada nasabah selain yang telah ditetapkan </a:t>
            </a:r>
            <a:r>
              <a:rPr lang="en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oleh</a:t>
            </a: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 Bank</a:t>
            </a:r>
            <a:r>
              <a:rPr lang="en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;</a:t>
            </a:r>
          </a:p>
          <a:p>
            <a:pPr marL="742950" lvl="1" indent="-285750" algn="just">
              <a:spcAft>
                <a:spcPts val="0"/>
              </a:spcAft>
              <a:buFont typeface="+mj-lt"/>
              <a:buAutoNum type="alphaLcPeriod"/>
            </a:pP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Menawarkan jasa keuangan selain yang:</a:t>
            </a:r>
            <a:endParaRPr lang="en-ID" sz="22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1143000" lvl="2" indent="-228600" algn="just">
              <a:spcAft>
                <a:spcPts val="0"/>
              </a:spcAft>
              <a:buFont typeface="+mj-lt"/>
              <a:buAutoNum type="arabicParenR"/>
            </a:pP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Telah disepakati </a:t>
            </a:r>
            <a:r>
              <a:rPr lang="en-ID" sz="2200" dirty="0" err="1">
                <a:latin typeface="Tw Cen MT" panose="020B0602020104020603" pitchFamily="34" charset="0"/>
                <a:ea typeface="Times New Roman" panose="02020603050405020304" pitchFamily="18" charset="0"/>
              </a:rPr>
              <a:t>dalam</a:t>
            </a: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 perjanjian </a:t>
            </a:r>
            <a:r>
              <a:rPr lang="en-ID" sz="2200" dirty="0" err="1">
                <a:latin typeface="Tw Cen MT" panose="020B0602020104020603" pitchFamily="34" charset="0"/>
                <a:ea typeface="Times New Roman" panose="02020603050405020304" pitchFamily="18" charset="0"/>
              </a:rPr>
              <a:t>kerja</a:t>
            </a:r>
            <a:r>
              <a:rPr lang="en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en-ID" sz="2200" dirty="0" err="1">
                <a:latin typeface="Tw Cen MT" panose="020B0602020104020603" pitchFamily="34" charset="0"/>
                <a:ea typeface="Times New Roman" panose="02020603050405020304" pitchFamily="18" charset="0"/>
              </a:rPr>
              <a:t>sama</a:t>
            </a: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 dengan Bank,</a:t>
            </a:r>
            <a:endParaRPr lang="en-ID" sz="22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1143000" lvl="2" indent="-228600" algn="just">
              <a:spcAft>
                <a:spcPts val="0"/>
              </a:spcAft>
              <a:buFont typeface="+mj-lt"/>
              <a:buAutoNum type="arabicParenR"/>
            </a:pP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Telah disepakati </a:t>
            </a:r>
            <a:r>
              <a:rPr lang="en-ID" sz="2200" dirty="0" err="1">
                <a:latin typeface="Tw Cen MT" panose="020B0602020104020603" pitchFamily="34" charset="0"/>
                <a:ea typeface="Times New Roman" panose="02020603050405020304" pitchFamily="18" charset="0"/>
              </a:rPr>
              <a:t>dalam</a:t>
            </a: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 perjanjian </a:t>
            </a:r>
            <a:r>
              <a:rPr lang="en-ID" sz="2200" dirty="0" err="1">
                <a:latin typeface="Tw Cen MT" panose="020B0602020104020603" pitchFamily="34" charset="0"/>
                <a:ea typeface="Times New Roman" panose="02020603050405020304" pitchFamily="18" charset="0"/>
              </a:rPr>
              <a:t>kerja</a:t>
            </a:r>
            <a:r>
              <a:rPr lang="en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 </a:t>
            </a:r>
            <a:r>
              <a:rPr lang="en-ID" sz="2200" dirty="0" err="1">
                <a:latin typeface="Tw Cen MT" panose="020B0602020104020603" pitchFamily="34" charset="0"/>
                <a:ea typeface="Times New Roman" panose="02020603050405020304" pitchFamily="18" charset="0"/>
              </a:rPr>
              <a:t>sama</a:t>
            </a: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 dengan lembaga jasa keuangan lainnya, dan/atau;</a:t>
            </a:r>
            <a:endParaRPr lang="en-ID" sz="22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1143000" lvl="2" indent="-228600" algn="just">
              <a:spcAft>
                <a:spcPts val="0"/>
              </a:spcAft>
              <a:buFont typeface="+mj-lt"/>
              <a:buAutoNum type="arabicParenR"/>
            </a:pP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Telah mendapatkan persetujuan instansi yang berwenang;</a:t>
            </a:r>
            <a:endParaRPr lang="en-ID" sz="22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742950" lvl="1" indent="-285750" algn="just">
              <a:spcAft>
                <a:spcPts val="0"/>
              </a:spcAft>
              <a:buFont typeface="+mj-lt"/>
              <a:buAutoNum type="alphaLcPeriod"/>
            </a:pPr>
            <a:r>
              <a:rPr lang="id-ID" sz="2200" i="1" dirty="0">
                <a:latin typeface="Tw Cen MT" panose="020B0602020104020603" pitchFamily="34" charset="0"/>
                <a:ea typeface="Times New Roman" panose="02020603050405020304" pitchFamily="18" charset="0"/>
              </a:rPr>
              <a:t>Fraud</a:t>
            </a: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, ketidakjujuran dan/atau penyalahgunaan lainnya</a:t>
            </a:r>
            <a:r>
              <a:rPr lang="en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;</a:t>
            </a:r>
          </a:p>
          <a:p>
            <a:pPr marL="742950" lvl="1" indent="-285750" algn="just">
              <a:spcAft>
                <a:spcPts val="0"/>
              </a:spcAft>
              <a:buFont typeface="+mj-lt"/>
              <a:buAutoNum type="alphaLcPeriod"/>
            </a:pP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Memindahkan, merelokasi atau menutup usaha tanpa pemberitahuan sebelumnya kepada Bank</a:t>
            </a:r>
            <a:r>
              <a:rPr lang="en-US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;</a:t>
            </a:r>
            <a:endParaRPr lang="en-ID" sz="22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742950" lvl="1" indent="-285750" algn="just">
              <a:spcAft>
                <a:spcPts val="0"/>
              </a:spcAft>
              <a:buFont typeface="+mj-lt"/>
              <a:buAutoNum type="alphaLcPeriod"/>
            </a:pP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Tidak melakukan perpanjangan atas izin usahanya kepada instansi yang berwenang</a:t>
            </a:r>
            <a:r>
              <a:rPr lang="en-US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;</a:t>
            </a:r>
            <a:endParaRPr lang="en-ID" sz="22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742950" lvl="1" indent="-285750" algn="just">
              <a:spcAft>
                <a:spcPts val="0"/>
              </a:spcAft>
              <a:buFont typeface="+mj-lt"/>
              <a:buAutoNum type="alphaLcPeriod"/>
            </a:pP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Mengalami kerugian yang diperkirakan akan menggangu kelangsungan penyelenggaraan Laku Pandai; dan/atau</a:t>
            </a:r>
            <a:endParaRPr lang="en-ID" sz="22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742950" lvl="1" indent="-285750" algn="just">
              <a:spcAft>
                <a:spcPts val="0"/>
              </a:spcAft>
              <a:buFont typeface="+mj-lt"/>
              <a:buAutoNum type="alphaLcPeriod"/>
            </a:pPr>
            <a:r>
              <a:rPr lang="id-ID" sz="2200" dirty="0">
                <a:latin typeface="Tw Cen MT" panose="020B0602020104020603" pitchFamily="34" charset="0"/>
                <a:ea typeface="Times New Roman" panose="02020603050405020304" pitchFamily="18" charset="0"/>
              </a:rPr>
              <a:t>Melanggar ketentuan yang mengatur mengenai Laku Pandai.</a:t>
            </a:r>
            <a:endParaRPr lang="en-ID" sz="22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396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83D0-3C65-4EEB-AE01-06CF6124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Penghentian</a:t>
            </a:r>
            <a:r>
              <a:rPr lang="en-US" sz="3200" dirty="0"/>
              <a:t> PKS</a:t>
            </a:r>
            <a:endParaRPr lang="en-ID" sz="3200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525F89D-1CF0-4442-B5D4-2FCF4AD0E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257173" y="0"/>
            <a:ext cx="1948682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9E99F00-3197-4F3A-BA2F-DF28AC098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000676" y="0"/>
            <a:ext cx="1763533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D"/>
          </a:p>
        </p:txBody>
      </p:sp>
      <p:pic>
        <p:nvPicPr>
          <p:cNvPr id="16" name="object 9">
            <a:extLst>
              <a:ext uri="{FF2B5EF4-FFF2-40B4-BE49-F238E27FC236}">
                <a16:creationId xmlns:a16="http://schemas.microsoft.com/office/drawing/2014/main" id="{09DE109D-BD39-465D-AA7B-FA9EC40B35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6848" y="300003"/>
            <a:ext cx="1678813" cy="48375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AAC0B5-B9F1-4B89-9879-DD196CD3F49E}"/>
              </a:ext>
            </a:extLst>
          </p:cNvPr>
          <p:cNvSpPr/>
          <p:nvPr/>
        </p:nvSpPr>
        <p:spPr>
          <a:xfrm>
            <a:off x="1172368" y="1702984"/>
            <a:ext cx="10148775" cy="4322797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/>
              <a:t>Bank </a:t>
            </a:r>
            <a:r>
              <a:rPr lang="en-US" sz="2400" dirty="0" err="1"/>
              <a:t>menerbitkan</a:t>
            </a:r>
            <a:r>
              <a:rPr lang="en-US" sz="2400" dirty="0"/>
              <a:t> Surat </a:t>
            </a:r>
            <a:r>
              <a:rPr lang="en-US" sz="2400" dirty="0" err="1"/>
              <a:t>resmi</a:t>
            </a:r>
            <a:r>
              <a:rPr lang="en-US" sz="2400" dirty="0"/>
              <a:t> </a:t>
            </a:r>
            <a:r>
              <a:rPr lang="en-US" sz="2400" dirty="0" err="1"/>
              <a:t>penghentian</a:t>
            </a:r>
            <a:r>
              <a:rPr lang="en-US" sz="2400" dirty="0"/>
              <a:t> PKS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 err="1"/>
              <a:t>Penghentian</a:t>
            </a:r>
            <a:r>
              <a:rPr lang="en-US" sz="2400" dirty="0"/>
              <a:t> PKS </a:t>
            </a:r>
            <a:r>
              <a:rPr lang="en-US" sz="2400" dirty="0" err="1"/>
              <a:t>diumumkan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media yang 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kepada</a:t>
            </a:r>
            <a:r>
              <a:rPr lang="en-US" sz="2400" dirty="0"/>
              <a:t> </a:t>
            </a:r>
            <a:r>
              <a:rPr lang="en-US" sz="2400" dirty="0" err="1"/>
              <a:t>nasabah</a:t>
            </a:r>
            <a:r>
              <a:rPr lang="en-US" sz="2400" dirty="0"/>
              <a:t> Bank dan </a:t>
            </a:r>
            <a:r>
              <a:rPr lang="en-US" sz="2400" dirty="0" err="1"/>
              <a:t>masyarakat</a:t>
            </a:r>
            <a:r>
              <a:rPr lang="en-US" sz="2400" dirty="0"/>
              <a:t> </a:t>
            </a:r>
            <a:r>
              <a:rPr lang="en-US" sz="2400" dirty="0" err="1"/>
              <a:t>Umum</a:t>
            </a: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 err="1"/>
              <a:t>Hak</a:t>
            </a:r>
            <a:r>
              <a:rPr lang="en-US" sz="2400" dirty="0"/>
              <a:t> dan </a:t>
            </a:r>
            <a:r>
              <a:rPr lang="en-US" sz="2400" dirty="0" err="1"/>
              <a:t>Kewajiban</a:t>
            </a:r>
            <a:r>
              <a:rPr lang="en-US" sz="2400" dirty="0"/>
              <a:t> </a:t>
            </a:r>
            <a:r>
              <a:rPr lang="en-US" sz="2400" dirty="0" err="1"/>
              <a:t>Agen</a:t>
            </a:r>
            <a:r>
              <a:rPr lang="en-US" sz="2400" dirty="0"/>
              <a:t> </a:t>
            </a:r>
            <a:r>
              <a:rPr lang="en-US" sz="2400" dirty="0" err="1"/>
              <a:t>kepada</a:t>
            </a:r>
            <a:r>
              <a:rPr lang="en-US" sz="2400" dirty="0"/>
              <a:t> </a:t>
            </a:r>
            <a:r>
              <a:rPr lang="en-US" sz="2400" dirty="0" err="1"/>
              <a:t>Nasabah</a:t>
            </a:r>
            <a:r>
              <a:rPr lang="en-US" sz="2400" dirty="0"/>
              <a:t> dan </a:t>
            </a:r>
            <a:r>
              <a:rPr lang="en-US" sz="2400" dirty="0" err="1"/>
              <a:t>masyarakat</a:t>
            </a:r>
            <a:r>
              <a:rPr lang="en-US" sz="2400" dirty="0"/>
              <a:t> </a:t>
            </a:r>
            <a:r>
              <a:rPr lang="en-US" sz="2400" dirty="0" err="1"/>
              <a:t>umum</a:t>
            </a:r>
            <a:r>
              <a:rPr lang="en-US" sz="2400" dirty="0"/>
              <a:t> </a:t>
            </a:r>
            <a:r>
              <a:rPr lang="en-US" sz="2400" dirty="0" err="1"/>
              <a:t>wajib</a:t>
            </a:r>
            <a:r>
              <a:rPr lang="en-US" sz="2400" dirty="0"/>
              <a:t> </a:t>
            </a:r>
            <a:r>
              <a:rPr lang="en-US" sz="2400" dirty="0" err="1"/>
              <a:t>terpenuhi</a:t>
            </a:r>
            <a:r>
              <a:rPr lang="en-US" sz="2400" dirty="0"/>
              <a:t> max 14 </a:t>
            </a:r>
            <a:r>
              <a:rPr lang="en-US" sz="2400" dirty="0" err="1"/>
              <a:t>hari</a:t>
            </a:r>
            <a:r>
              <a:rPr lang="en-US" sz="2400" dirty="0"/>
              <a:t> </a:t>
            </a:r>
            <a:r>
              <a:rPr lang="en-US" sz="2400" dirty="0" err="1"/>
              <a:t>kerja</a:t>
            </a:r>
            <a:r>
              <a:rPr lang="en-US" sz="2400" dirty="0"/>
              <a:t> </a:t>
            </a:r>
            <a:r>
              <a:rPr lang="en-US" sz="2400" dirty="0" err="1"/>
              <a:t>sejak</a:t>
            </a:r>
            <a:r>
              <a:rPr lang="en-US" sz="2400" dirty="0"/>
              <a:t> </a:t>
            </a:r>
            <a:r>
              <a:rPr lang="en-US" sz="2400" dirty="0" err="1"/>
              <a:t>penghentian</a:t>
            </a:r>
            <a:r>
              <a:rPr lang="en-US" sz="2400" dirty="0"/>
              <a:t> PKS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 err="1"/>
              <a:t>Menarik</a:t>
            </a:r>
            <a:r>
              <a:rPr lang="en-US" sz="2400" dirty="0"/>
              <a:t> </a:t>
            </a:r>
            <a:r>
              <a:rPr lang="en-US" sz="2400" dirty="0" err="1"/>
              <a:t>segala</a:t>
            </a:r>
            <a:r>
              <a:rPr lang="en-US" sz="2400" dirty="0"/>
              <a:t> </a:t>
            </a:r>
            <a:r>
              <a:rPr lang="en-US" sz="2400" dirty="0" err="1"/>
              <a:t>fasilitas</a:t>
            </a:r>
            <a:r>
              <a:rPr lang="en-US" sz="2400" dirty="0"/>
              <a:t> dan attribute </a:t>
            </a:r>
            <a:r>
              <a:rPr lang="en-US" sz="2400" dirty="0" err="1"/>
              <a:t>keagenan</a:t>
            </a:r>
            <a:r>
              <a:rPr lang="en-US" sz="2400" dirty="0"/>
              <a:t>, </a:t>
            </a:r>
            <a:r>
              <a:rPr lang="en-US" sz="2400" dirty="0" err="1"/>
              <a:t>diantaranya</a:t>
            </a:r>
            <a:r>
              <a:rPr lang="en-US" sz="2400" dirty="0"/>
              <a:t> Surat </a:t>
            </a:r>
            <a:r>
              <a:rPr lang="en-US" sz="2400" dirty="0" err="1"/>
              <a:t>penunjukan</a:t>
            </a:r>
            <a:r>
              <a:rPr lang="en-US" sz="2400" dirty="0"/>
              <a:t>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Agen</a:t>
            </a:r>
            <a:r>
              <a:rPr lang="en-US" sz="2400" dirty="0"/>
              <a:t>, </a:t>
            </a:r>
            <a:r>
              <a:rPr lang="en-US" sz="2400" dirty="0" err="1"/>
              <a:t>tanda</a:t>
            </a:r>
            <a:r>
              <a:rPr lang="en-US" sz="2400" dirty="0"/>
              <a:t> </a:t>
            </a:r>
            <a:r>
              <a:rPr lang="en-US" sz="2400" dirty="0" err="1"/>
              <a:t>pengenal</a:t>
            </a:r>
            <a:r>
              <a:rPr lang="en-US" sz="2400" dirty="0"/>
              <a:t> </a:t>
            </a:r>
            <a:r>
              <a:rPr lang="en-US" sz="2400" dirty="0" err="1"/>
              <a:t>agen</a:t>
            </a:r>
            <a:r>
              <a:rPr lang="en-US" sz="2400" dirty="0"/>
              <a:t>, </a:t>
            </a:r>
            <a:r>
              <a:rPr lang="en-US" sz="2400" dirty="0" err="1"/>
              <a:t>fasilitas</a:t>
            </a:r>
            <a:r>
              <a:rPr lang="en-US" sz="2400" dirty="0"/>
              <a:t> </a:t>
            </a:r>
            <a:r>
              <a:rPr lang="en-US" sz="2400" dirty="0" err="1"/>
              <a:t>operasional</a:t>
            </a:r>
            <a:r>
              <a:rPr lang="en-US" sz="2400" dirty="0"/>
              <a:t> </a:t>
            </a:r>
            <a:r>
              <a:rPr lang="en-US" sz="2400" dirty="0" err="1"/>
              <a:t>pendukung</a:t>
            </a:r>
            <a:r>
              <a:rPr lang="en-US" sz="2400" dirty="0"/>
              <a:t> </a:t>
            </a:r>
            <a:r>
              <a:rPr lang="en-US" sz="2400" dirty="0" err="1"/>
              <a:t>hak</a:t>
            </a:r>
            <a:r>
              <a:rPr lang="en-US" sz="2400" dirty="0"/>
              <a:t> user  &amp; </a:t>
            </a:r>
            <a:r>
              <a:rPr lang="en-US" sz="2400" dirty="0" err="1"/>
              <a:t>memastikan</a:t>
            </a:r>
            <a:r>
              <a:rPr lang="en-US" sz="2400" dirty="0"/>
              <a:t> </a:t>
            </a:r>
            <a:r>
              <a:rPr lang="en-US" sz="2400" dirty="0" err="1"/>
              <a:t>Agen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menyelenggarakan</a:t>
            </a:r>
            <a:r>
              <a:rPr lang="en-US" sz="2400" dirty="0"/>
              <a:t> </a:t>
            </a:r>
            <a:r>
              <a:rPr lang="en-US" sz="2400" dirty="0" err="1"/>
              <a:t>Laku</a:t>
            </a:r>
            <a:r>
              <a:rPr lang="en-US" sz="2400" dirty="0"/>
              <a:t> </a:t>
            </a:r>
            <a:r>
              <a:rPr lang="en-US" sz="2400" dirty="0" err="1"/>
              <a:t>Pandai</a:t>
            </a:r>
            <a:endParaRPr lang="en-US" sz="24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400" dirty="0" err="1"/>
              <a:t>Melaporkan</a:t>
            </a:r>
            <a:r>
              <a:rPr lang="en-US" sz="2400" dirty="0"/>
              <a:t> </a:t>
            </a:r>
            <a:r>
              <a:rPr lang="en-US" sz="2400" dirty="0" err="1"/>
              <a:t>penghentian</a:t>
            </a:r>
            <a:r>
              <a:rPr lang="en-US" sz="2400" dirty="0"/>
              <a:t> PKS </a:t>
            </a:r>
            <a:r>
              <a:rPr lang="en-US" sz="2400" dirty="0" err="1"/>
              <a:t>kepada</a:t>
            </a:r>
            <a:r>
              <a:rPr lang="en-US" sz="2400" dirty="0"/>
              <a:t> regulator</a:t>
            </a:r>
            <a:endParaRPr lang="en-ID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69DE5B-86F9-4CCD-856E-D6751E6899A2}"/>
              </a:ext>
            </a:extLst>
          </p:cNvPr>
          <p:cNvSpPr txBox="1"/>
          <p:nvPr/>
        </p:nvSpPr>
        <p:spPr>
          <a:xfrm>
            <a:off x="1172368" y="1179764"/>
            <a:ext cx="8627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MEKANISME PENGHENTIAN PERJANJIAN KERJASAMA:</a:t>
            </a:r>
            <a:endParaRPr lang="en-ID" sz="2800" b="1" dirty="0"/>
          </a:p>
        </p:txBody>
      </p:sp>
    </p:spTree>
    <p:extLst>
      <p:ext uri="{BB962C8B-B14F-4D97-AF65-F5344CB8AC3E}">
        <p14:creationId xmlns:p14="http://schemas.microsoft.com/office/powerpoint/2010/main" val="2256602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611B-0884-4955-AC3D-5BFE0386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Operasionalisasi</a:t>
            </a:r>
            <a:r>
              <a:rPr lang="en-US" sz="3200" dirty="0"/>
              <a:t> </a:t>
            </a:r>
            <a:r>
              <a:rPr lang="en-US" sz="3200" dirty="0" err="1"/>
              <a:t>agen</a:t>
            </a:r>
            <a:r>
              <a:rPr lang="en-US" sz="3200" dirty="0"/>
              <a:t> </a:t>
            </a:r>
            <a:r>
              <a:rPr lang="en-US" sz="3200" dirty="0" err="1"/>
              <a:t>duta</a:t>
            </a:r>
            <a:endParaRPr lang="en-ID" sz="3200" dirty="0"/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A638AFAD-B998-4728-8E11-C8692F829C1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1595" y="289129"/>
            <a:ext cx="1678813" cy="483755"/>
          </a:xfrm>
          <a:prstGeom prst="rect">
            <a:avLst/>
          </a:prstGeom>
        </p:spPr>
      </p:pic>
      <p:pic>
        <p:nvPicPr>
          <p:cNvPr id="6" name="object 2">
            <a:extLst>
              <a:ext uri="{FF2B5EF4-FFF2-40B4-BE49-F238E27FC236}">
                <a16:creationId xmlns:a16="http://schemas.microsoft.com/office/drawing/2014/main" id="{28E56F32-8B3E-449F-A52F-BD971C3C55E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8907" y="1716346"/>
            <a:ext cx="5179510" cy="4648199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D14FF3DB-9FBE-4E0C-9599-4F436D6038A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8265" y="2147252"/>
            <a:ext cx="1650635" cy="1069371"/>
          </a:xfrm>
          <a:prstGeom prst="rect">
            <a:avLst/>
          </a:prstGeom>
        </p:spPr>
      </p:pic>
      <p:pic>
        <p:nvPicPr>
          <p:cNvPr id="8" name="object 8">
            <a:extLst>
              <a:ext uri="{FF2B5EF4-FFF2-40B4-BE49-F238E27FC236}">
                <a16:creationId xmlns:a16="http://schemas.microsoft.com/office/drawing/2014/main" id="{D815E81D-6D98-4ADF-B3A3-50FC27826E4D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207" y="4614051"/>
            <a:ext cx="1800693" cy="1166586"/>
          </a:xfrm>
          <a:prstGeom prst="rect">
            <a:avLst/>
          </a:prstGeom>
        </p:spPr>
      </p:pic>
      <p:pic>
        <p:nvPicPr>
          <p:cNvPr id="9" name="object 9">
            <a:extLst>
              <a:ext uri="{FF2B5EF4-FFF2-40B4-BE49-F238E27FC236}">
                <a16:creationId xmlns:a16="http://schemas.microsoft.com/office/drawing/2014/main" id="{B13F16CB-0CA7-402E-B650-F43D16DACBC4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45726" y="1804484"/>
            <a:ext cx="1701003" cy="1102002"/>
          </a:xfrm>
          <a:prstGeom prst="rect">
            <a:avLst/>
          </a:prstGeom>
        </p:spPr>
      </p:pic>
      <p:grpSp>
        <p:nvGrpSpPr>
          <p:cNvPr id="10" name="object 10">
            <a:extLst>
              <a:ext uri="{FF2B5EF4-FFF2-40B4-BE49-F238E27FC236}">
                <a16:creationId xmlns:a16="http://schemas.microsoft.com/office/drawing/2014/main" id="{31926655-BA85-4720-8037-5C7D4B590495}"/>
              </a:ext>
            </a:extLst>
          </p:cNvPr>
          <p:cNvGrpSpPr/>
          <p:nvPr/>
        </p:nvGrpSpPr>
        <p:grpSpPr>
          <a:xfrm>
            <a:off x="3050303" y="5737249"/>
            <a:ext cx="1333013" cy="669167"/>
            <a:chOff x="1768348" y="4789436"/>
            <a:chExt cx="676910" cy="524510"/>
          </a:xfrm>
        </p:grpSpPr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F9749977-B4F3-4B60-B962-9FFE0AF0D7BE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68348" y="4789436"/>
              <a:ext cx="676554" cy="524510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4FB2B415-977E-4A5D-81F8-AFB98495F61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09800" y="5181598"/>
              <a:ext cx="101724" cy="86304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521BA21-C8F1-4EF2-A712-5273A2266EA2}"/>
              </a:ext>
            </a:extLst>
          </p:cNvPr>
          <p:cNvSpPr txBox="1"/>
          <p:nvPr/>
        </p:nvSpPr>
        <p:spPr>
          <a:xfrm>
            <a:off x="4597866" y="3342143"/>
            <a:ext cx="1186670" cy="43088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Internet</a:t>
            </a:r>
            <a:endParaRPr lang="en-ID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0214A4-6852-42DF-A018-F66BF63CC196}"/>
              </a:ext>
            </a:extLst>
          </p:cNvPr>
          <p:cNvSpPr txBox="1"/>
          <p:nvPr/>
        </p:nvSpPr>
        <p:spPr>
          <a:xfrm>
            <a:off x="378264" y="1167707"/>
            <a:ext cx="5524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u="sng" dirty="0"/>
              <a:t>Device</a:t>
            </a:r>
            <a:r>
              <a:rPr lang="en-US" sz="2800" b="1" u="sng" dirty="0"/>
              <a:t>/</a:t>
            </a:r>
            <a:r>
              <a:rPr lang="en-US" sz="2800" b="1" u="sng" dirty="0" err="1"/>
              <a:t>Perangkat</a:t>
            </a:r>
            <a:r>
              <a:rPr lang="en-US" sz="2800" b="1" u="sng" dirty="0"/>
              <a:t> yang </a:t>
            </a:r>
            <a:r>
              <a:rPr lang="en-US" sz="2800" b="1" u="sng" dirty="0" err="1"/>
              <a:t>digunakan</a:t>
            </a:r>
            <a:r>
              <a:rPr lang="en-US" sz="2800" b="1" u="sng" dirty="0"/>
              <a:t> :</a:t>
            </a:r>
            <a:endParaRPr lang="en-ID" sz="2800" b="1" u="sng" dirty="0"/>
          </a:p>
        </p:txBody>
      </p:sp>
      <p:graphicFrame>
        <p:nvGraphicFramePr>
          <p:cNvPr id="22" name="Table 22">
            <a:extLst>
              <a:ext uri="{FF2B5EF4-FFF2-40B4-BE49-F238E27FC236}">
                <a16:creationId xmlns:a16="http://schemas.microsoft.com/office/drawing/2014/main" id="{1CB07D17-52AB-498C-907F-B23D657DB0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356332"/>
              </p:ext>
            </p:extLst>
          </p:nvPr>
        </p:nvGraphicFramePr>
        <p:xfrm>
          <a:off x="6248219" y="1332546"/>
          <a:ext cx="5565516" cy="235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484">
                  <a:extLst>
                    <a:ext uri="{9D8B030D-6E8A-4147-A177-3AD203B41FA5}">
                      <a16:colId xmlns:a16="http://schemas.microsoft.com/office/drawing/2014/main" val="2585364029"/>
                    </a:ext>
                  </a:extLst>
                </a:gridCol>
                <a:gridCol w="2759032">
                  <a:extLst>
                    <a:ext uri="{9D8B030D-6E8A-4147-A177-3AD203B41FA5}">
                      <a16:colId xmlns:a16="http://schemas.microsoft.com/office/drawing/2014/main" val="9021852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NASABAH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286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>
                          <a:latin typeface="Arial Narrow" panose="020B0606020202030204" pitchFamily="34" charset="0"/>
                        </a:rPr>
                        <a:t>Personal Computer (PC)</a:t>
                      </a:r>
                      <a:endParaRPr lang="en-ID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>
                          <a:latin typeface="Arial Narrow" panose="020B0606020202030204" pitchFamily="34" charset="0"/>
                        </a:rPr>
                        <a:t>Handphone/</a:t>
                      </a:r>
                      <a:r>
                        <a:rPr lang="en-US" sz="2000" dirty="0" err="1">
                          <a:latin typeface="Arial Narrow" panose="020B0606020202030204" pitchFamily="34" charset="0"/>
                        </a:rPr>
                        <a:t>Telp</a:t>
                      </a:r>
                      <a:r>
                        <a:rPr lang="en-US" sz="20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 Narrow" panose="020B0606020202030204" pitchFamily="34" charset="0"/>
                        </a:rPr>
                        <a:t>Selular</a:t>
                      </a:r>
                      <a:endParaRPr lang="en-ID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22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>
                          <a:latin typeface="Arial Narrow" panose="020B0606020202030204" pitchFamily="34" charset="0"/>
                        </a:rPr>
                        <a:t>Laptop/Tablet</a:t>
                      </a:r>
                      <a:endParaRPr lang="en-ID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>
                          <a:latin typeface="Arial Narrow" panose="020B0606020202030204" pitchFamily="34" charset="0"/>
                        </a:rPr>
                        <a:t>Internet</a:t>
                      </a:r>
                      <a:endParaRPr lang="en-ID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35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>
                          <a:latin typeface="Arial Narrow" panose="020B0606020202030204" pitchFamily="34" charset="0"/>
                        </a:rPr>
                        <a:t>Handphone/</a:t>
                      </a:r>
                      <a:r>
                        <a:rPr lang="en-US" sz="2000" dirty="0" err="1">
                          <a:latin typeface="Arial Narrow" panose="020B0606020202030204" pitchFamily="34" charset="0"/>
                        </a:rPr>
                        <a:t>Telp</a:t>
                      </a:r>
                      <a:r>
                        <a:rPr lang="en-US" sz="200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 Narrow" panose="020B0606020202030204" pitchFamily="34" charset="0"/>
                        </a:rPr>
                        <a:t>Selular</a:t>
                      </a:r>
                      <a:endParaRPr lang="en-ID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063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 err="1">
                          <a:latin typeface="Arial Narrow" panose="020B0606020202030204" pitchFamily="34" charset="0"/>
                        </a:rPr>
                        <a:t>Kartu</a:t>
                      </a:r>
                      <a:r>
                        <a:rPr lang="en-US" sz="2000" dirty="0">
                          <a:latin typeface="Arial Narrow" panose="020B0606020202030204" pitchFamily="34" charset="0"/>
                        </a:rPr>
                        <a:t> ATM</a:t>
                      </a:r>
                      <a:endParaRPr lang="en-ID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06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2000" dirty="0">
                          <a:latin typeface="Arial Narrow" panose="020B0606020202030204" pitchFamily="34" charset="0"/>
                        </a:rPr>
                        <a:t>Internet</a:t>
                      </a:r>
                      <a:endParaRPr lang="en-ID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00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88953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7305F9D-DF11-4D1F-A338-802378EFE150}"/>
              </a:ext>
            </a:extLst>
          </p:cNvPr>
          <p:cNvSpPr txBox="1"/>
          <p:nvPr/>
        </p:nvSpPr>
        <p:spPr>
          <a:xfrm>
            <a:off x="6263584" y="5324888"/>
            <a:ext cx="556551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 defTabSz="914400" fontAlgn="base"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id-ID" sz="2000" b="1" dirty="0">
              <a:solidFill>
                <a:prstClr val="black"/>
              </a:solidFill>
              <a:latin typeface="Calibri"/>
              <a:cs typeface="Arial" panose="020B0604020202020204" pitchFamily="34" charset="0"/>
            </a:endParaRPr>
          </a:p>
          <a:p>
            <a:pPr marL="342900" lvl="1" indent="-342900" defTabSz="914400" fontAlgn="base"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b="1" dirty="0">
                <a:solidFill>
                  <a:prstClr val="black"/>
                </a:solidFill>
                <a:latin typeface="Arial" charset="0"/>
                <a:cs typeface="Arial" panose="020B0604020202020204" pitchFamily="34" charset="0"/>
              </a:rPr>
              <a:t>Jam Operasional : </a:t>
            </a:r>
            <a:r>
              <a:rPr lang="id-ID" sz="2000" dirty="0">
                <a:solidFill>
                  <a:prstClr val="black"/>
                </a:solidFill>
                <a:latin typeface="Arial" charset="0"/>
                <a:cs typeface="Arial" panose="020B0604020202020204" pitchFamily="34" charset="0"/>
              </a:rPr>
              <a:t>disesuaikan dengan jam operasional bank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34C45C-FE2F-470E-BEB9-85E69386E1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9005" y="3968860"/>
            <a:ext cx="5371042" cy="13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266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24F90CE-1122-4D92-B91D-331C2E445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0671" y="1528391"/>
            <a:ext cx="10691445" cy="4731732"/>
          </a:xfrm>
          <a:prstGeom prst="rect">
            <a:avLst/>
          </a:prstGeom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D4E960E3-80F7-495E-89AD-75591AA9E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306" y="305777"/>
            <a:ext cx="72263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id-ID" sz="3200" b="1" dirty="0">
                <a:solidFill>
                  <a:srgbClr val="0000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charset="0"/>
              </a:rPr>
              <a:t>Operasionalisasi Agen Duta Bank Jateng</a:t>
            </a:r>
          </a:p>
        </p:txBody>
      </p:sp>
      <p:pic>
        <p:nvPicPr>
          <p:cNvPr id="7" name="object 9">
            <a:extLst>
              <a:ext uri="{FF2B5EF4-FFF2-40B4-BE49-F238E27FC236}">
                <a16:creationId xmlns:a16="http://schemas.microsoft.com/office/drawing/2014/main" id="{6B6FA021-C146-4EE9-ADAE-6E83C6B262B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1595" y="289129"/>
            <a:ext cx="1678813" cy="483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08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1">
            <a:extLst>
              <a:ext uri="{FF2B5EF4-FFF2-40B4-BE49-F238E27FC236}">
                <a16:creationId xmlns:a16="http://schemas.microsoft.com/office/drawing/2014/main" id="{D4E960E3-80F7-495E-89AD-75591AA9E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306" y="305777"/>
            <a:ext cx="72263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200" b="1" dirty="0" err="1">
                <a:solidFill>
                  <a:srgbClr val="0000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charset="0"/>
              </a:rPr>
              <a:t>Edukasi</a:t>
            </a:r>
            <a:r>
              <a:rPr lang="en-US" sz="3200" b="1" dirty="0">
                <a:solidFill>
                  <a:srgbClr val="0000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charset="0"/>
              </a:rPr>
              <a:t> &amp; </a:t>
            </a:r>
            <a:r>
              <a:rPr lang="en-US" sz="3200" b="1" dirty="0" err="1">
                <a:solidFill>
                  <a:srgbClr val="0000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charset="0"/>
              </a:rPr>
              <a:t>Pengaduan</a:t>
            </a:r>
            <a:r>
              <a:rPr lang="en-US" sz="3200" b="1" dirty="0">
                <a:solidFill>
                  <a:srgbClr val="0000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charset="0"/>
              </a:rPr>
              <a:t> </a:t>
            </a:r>
            <a:r>
              <a:rPr lang="en-US" sz="3200" b="1" dirty="0" err="1">
                <a:solidFill>
                  <a:srgbClr val="00007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Arial" charset="0"/>
              </a:rPr>
              <a:t>Nasabah</a:t>
            </a:r>
            <a:endParaRPr lang="id-ID" sz="3200" b="1" dirty="0">
              <a:solidFill>
                <a:srgbClr val="00007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Arial" charset="0"/>
            </a:endParaRPr>
          </a:p>
        </p:txBody>
      </p:sp>
      <p:pic>
        <p:nvPicPr>
          <p:cNvPr id="7" name="object 9">
            <a:extLst>
              <a:ext uri="{FF2B5EF4-FFF2-40B4-BE49-F238E27FC236}">
                <a16:creationId xmlns:a16="http://schemas.microsoft.com/office/drawing/2014/main" id="{6B6FA021-C146-4EE9-ADAE-6E83C6B262B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1595" y="289129"/>
            <a:ext cx="1678813" cy="4837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4C5DC-41EE-4C90-BDFB-1340AD646DF2}"/>
              </a:ext>
            </a:extLst>
          </p:cNvPr>
          <p:cNvSpPr txBox="1"/>
          <p:nvPr/>
        </p:nvSpPr>
        <p:spPr>
          <a:xfrm flipH="1">
            <a:off x="1195165" y="1025974"/>
            <a:ext cx="10143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 err="1">
                <a:solidFill>
                  <a:srgbClr val="FF0000"/>
                </a:solidFill>
              </a:rPr>
              <a:t>Agen</a:t>
            </a:r>
            <a:r>
              <a:rPr lang="en-US" sz="2800" dirty="0">
                <a:solidFill>
                  <a:srgbClr val="FF0000"/>
                </a:solidFill>
              </a:rPr>
              <a:t> Duta </a:t>
            </a:r>
            <a:r>
              <a:rPr lang="en-US" sz="2800" dirty="0" err="1">
                <a:solidFill>
                  <a:srgbClr val="FF0000"/>
                </a:solidFill>
              </a:rPr>
              <a:t>harus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mengedukasi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nasabah</a:t>
            </a:r>
            <a:r>
              <a:rPr lang="en-US" sz="2800" dirty="0">
                <a:solidFill>
                  <a:srgbClr val="FF0000"/>
                </a:solidFill>
              </a:rPr>
              <a:t> agar </a:t>
            </a:r>
            <a:r>
              <a:rPr lang="en-US" sz="2800" dirty="0" err="1">
                <a:solidFill>
                  <a:srgbClr val="FF0000"/>
                </a:solidFill>
              </a:rPr>
              <a:t>dapat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melakukan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transaksi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dengan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aman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diantaranya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dengan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  <a:endParaRPr lang="en-ID" sz="2800" dirty="0">
              <a:solidFill>
                <a:srgbClr val="FF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ECBF7-36C6-47FC-B9AD-1ED6E85F3718}"/>
              </a:ext>
            </a:extLst>
          </p:cNvPr>
          <p:cNvSpPr/>
          <p:nvPr/>
        </p:nvSpPr>
        <p:spPr>
          <a:xfrm>
            <a:off x="327070" y="1980081"/>
            <a:ext cx="1101149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7300" lvl="2" indent="-342900" algn="just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Menjaga kerahasiaan nama pengguna (</a:t>
            </a:r>
            <a:r>
              <a:rPr lang="id-ID" sz="2300" i="1" dirty="0">
                <a:latin typeface="Tw Cen MT" panose="020B0602020104020603" pitchFamily="34" charset="0"/>
                <a:ea typeface="Times New Roman" panose="02020603050405020304" pitchFamily="18" charset="0"/>
              </a:rPr>
              <a:t>user name</a:t>
            </a: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) dan kata sandi (</a:t>
            </a:r>
            <a:r>
              <a:rPr lang="id-ID" sz="2300" i="1" dirty="0">
                <a:latin typeface="Tw Cen MT" panose="020B0602020104020603" pitchFamily="34" charset="0"/>
                <a:ea typeface="Times New Roman" panose="02020603050405020304" pitchFamily="18" charset="0"/>
              </a:rPr>
              <a:t>password</a:t>
            </a: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) atau Personal Identification Number (PIN);</a:t>
            </a:r>
            <a:endParaRPr lang="en-ID" sz="23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1257300" lvl="2" indent="-342900" algn="just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Melakukan pengkinian kata sandi atau PIN secara berkala;</a:t>
            </a:r>
            <a:endParaRPr lang="en-ID" sz="23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1257300" lvl="2" indent="-342900" algn="just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Tidak memberikan informasi pribadi kepada pihak lain yang tidak berkepentingan seperti nama, alamat, nomor rekening dan nama ibu kandung;</a:t>
            </a:r>
            <a:endParaRPr lang="en-ID" sz="23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6AB5E3-AC21-460B-8226-A02BC7F8B47A}"/>
              </a:ext>
            </a:extLst>
          </p:cNvPr>
          <p:cNvSpPr/>
          <p:nvPr/>
        </p:nvSpPr>
        <p:spPr>
          <a:xfrm>
            <a:off x="327070" y="3742102"/>
            <a:ext cx="11124032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7300" lvl="2" indent="-342900" algn="just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Meminta (termasuk menyimpan) bukti transaksi atau notifikasi setiap melakukan transaksi;</a:t>
            </a:r>
            <a:endParaRPr lang="en-ID" sz="23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1257300" lvl="2" indent="-342900" algn="just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Bersikap waspada dan teliti </a:t>
            </a:r>
            <a:r>
              <a:rPr lang="en-ID" sz="2300" dirty="0" err="1">
                <a:latin typeface="Tw Cen MT" panose="020B0602020104020603" pitchFamily="34" charset="0"/>
                <a:ea typeface="Times New Roman" panose="02020603050405020304" pitchFamily="18" charset="0"/>
              </a:rPr>
              <a:t>dalam</a:t>
            </a: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 bertransaksi dan semua aktivitas perawatan yang dilakukan </a:t>
            </a:r>
            <a:r>
              <a:rPr lang="en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oleh</a:t>
            </a: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 Pihak Ketiga harus tercatat dan sesuai dengan kontrak;</a:t>
            </a:r>
            <a:endParaRPr lang="en-ID" sz="23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  <a:p>
            <a:pPr marL="1257300" lvl="2" indent="-342900" algn="just">
              <a:spcAft>
                <a:spcPts val="0"/>
              </a:spcAft>
              <a:buFont typeface="Wingdings" panose="05000000000000000000" pitchFamily="2" charset="2"/>
              <a:buChar char="q"/>
            </a:pP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Mencegah penyalahgunaan </a:t>
            </a:r>
            <a:r>
              <a:rPr lang="id-ID" sz="2300" i="1" dirty="0">
                <a:latin typeface="Tw Cen MT" panose="020B0602020104020603" pitchFamily="34" charset="0"/>
                <a:ea typeface="Times New Roman" panose="02020603050405020304" pitchFamily="18" charset="0"/>
              </a:rPr>
              <a:t>electronic device</a:t>
            </a: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 dan/atau instrument </a:t>
            </a:r>
            <a:r>
              <a:rPr lang="en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oleh</a:t>
            </a:r>
            <a:r>
              <a:rPr lang="id-ID" sz="2300" dirty="0">
                <a:latin typeface="Tw Cen MT" panose="020B0602020104020603" pitchFamily="34" charset="0"/>
                <a:ea typeface="Times New Roman" panose="02020603050405020304" pitchFamily="18" charset="0"/>
              </a:rPr>
              <a:t> pihak lain;</a:t>
            </a:r>
            <a:endParaRPr lang="en-ID" sz="2300" dirty="0">
              <a:latin typeface="Tw Cen MT" panose="020B0602020104020603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2778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296E4-F4EA-4B97-B745-67E038AD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 err="1"/>
              <a:t>Bagaimana</a:t>
            </a:r>
            <a:r>
              <a:rPr lang="en-US" sz="3200" dirty="0"/>
              <a:t> Cara </a:t>
            </a:r>
            <a:r>
              <a:rPr lang="en-US" sz="3200" dirty="0" err="1"/>
              <a:t>menjadi</a:t>
            </a:r>
            <a:r>
              <a:rPr lang="en-US" sz="3200" dirty="0"/>
              <a:t> </a:t>
            </a:r>
            <a:r>
              <a:rPr lang="en-US" sz="3200" dirty="0" err="1"/>
              <a:t>Agen</a:t>
            </a:r>
            <a:r>
              <a:rPr lang="en-US" sz="3200" dirty="0"/>
              <a:t> DUTA</a:t>
            </a:r>
            <a:endParaRPr lang="en-ID" sz="3200" dirty="0"/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9F941290-B101-4F7C-AACB-0B5CDE53EB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1595" y="289129"/>
            <a:ext cx="1678813" cy="48375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F50E8141-C5B8-42B1-AA0E-68FB5DB0CA1A}"/>
              </a:ext>
            </a:extLst>
          </p:cNvPr>
          <p:cNvSpPr/>
          <p:nvPr/>
        </p:nvSpPr>
        <p:spPr>
          <a:xfrm>
            <a:off x="8177459" y="4333548"/>
            <a:ext cx="274637" cy="274638"/>
          </a:xfrm>
          <a:prstGeom prst="ellipse">
            <a:avLst/>
          </a:prstGeom>
          <a:solidFill>
            <a:srgbClr val="8064A2">
              <a:lumMod val="40000"/>
              <a:lumOff val="60000"/>
            </a:srgbClr>
          </a:solidFill>
          <a:ln w="28575" cap="flat" cmpd="sng" algn="ctr">
            <a:solidFill>
              <a:srgbClr val="8064A2">
                <a:lumMod val="75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9ED3F7-66FF-4CF4-BE23-03BB22CE43D7}"/>
              </a:ext>
            </a:extLst>
          </p:cNvPr>
          <p:cNvGrpSpPr/>
          <p:nvPr/>
        </p:nvGrpSpPr>
        <p:grpSpPr>
          <a:xfrm>
            <a:off x="8553976" y="3550305"/>
            <a:ext cx="1828800" cy="1847366"/>
            <a:chOff x="1936189" y="4267200"/>
            <a:chExt cx="1828800" cy="1847366"/>
          </a:xfrm>
        </p:grpSpPr>
        <p:pic>
          <p:nvPicPr>
            <p:cNvPr id="7" name="Picture 3">
              <a:extLst>
                <a:ext uri="{FF2B5EF4-FFF2-40B4-BE49-F238E27FC236}">
                  <a16:creationId xmlns:a16="http://schemas.microsoft.com/office/drawing/2014/main" id="{A89C4779-DED9-4631-A2EB-307B12A158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936189" y="4267200"/>
              <a:ext cx="1828800" cy="1847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ounded Rectangle 20">
              <a:extLst>
                <a:ext uri="{FF2B5EF4-FFF2-40B4-BE49-F238E27FC236}">
                  <a16:creationId xmlns:a16="http://schemas.microsoft.com/office/drawing/2014/main" id="{D03FCA37-91C7-4AFE-9469-9C32862E4BBB}"/>
                </a:ext>
              </a:extLst>
            </p:cNvPr>
            <p:cNvSpPr/>
            <p:nvPr/>
          </p:nvSpPr>
          <p:spPr>
            <a:xfrm>
              <a:off x="1936189" y="5706252"/>
              <a:ext cx="1828800" cy="366713"/>
            </a:xfrm>
            <a:prstGeom prst="roundRect">
              <a:avLst/>
            </a:prstGeom>
            <a:solidFill>
              <a:srgbClr val="4F81BD"/>
            </a:solidFill>
            <a:ln w="381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Kasi Pelayanan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CE7F0AD-47E7-4C99-8B79-6374791CC830}"/>
              </a:ext>
            </a:extLst>
          </p:cNvPr>
          <p:cNvGrpSpPr/>
          <p:nvPr/>
        </p:nvGrpSpPr>
        <p:grpSpPr>
          <a:xfrm>
            <a:off x="4184896" y="4279574"/>
            <a:ext cx="1373188" cy="398462"/>
            <a:chOff x="1339849" y="2878138"/>
            <a:chExt cx="1373188" cy="39846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1EFF885-DA8B-44DF-9033-65E39429BF08}"/>
                </a:ext>
              </a:extLst>
            </p:cNvPr>
            <p:cNvSpPr/>
            <p:nvPr/>
          </p:nvSpPr>
          <p:spPr>
            <a:xfrm>
              <a:off x="2438400" y="2925763"/>
              <a:ext cx="274637" cy="274637"/>
            </a:xfrm>
            <a:prstGeom prst="ellipse">
              <a:avLst/>
            </a:prstGeom>
            <a:solidFill>
              <a:srgbClr val="8064A2">
                <a:lumMod val="40000"/>
                <a:lumOff val="60000"/>
              </a:srgbClr>
            </a:solidFill>
            <a:ln w="28575" cap="flat" cmpd="sng" algn="ctr">
              <a:solidFill>
                <a:srgbClr val="8064A2">
                  <a:lumMod val="75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Right Arrow 21">
              <a:extLst>
                <a:ext uri="{FF2B5EF4-FFF2-40B4-BE49-F238E27FC236}">
                  <a16:creationId xmlns:a16="http://schemas.microsoft.com/office/drawing/2014/main" id="{6D246566-70ED-4961-81FD-B4607DD03ECA}"/>
                </a:ext>
              </a:extLst>
            </p:cNvPr>
            <p:cNvSpPr/>
            <p:nvPr/>
          </p:nvSpPr>
          <p:spPr>
            <a:xfrm>
              <a:off x="1339849" y="2878138"/>
              <a:ext cx="1143000" cy="398462"/>
            </a:xfrm>
            <a:prstGeom prst="rightArrow">
              <a:avLst/>
            </a:prstGeom>
            <a:solidFill>
              <a:srgbClr val="9BBB59">
                <a:lumMod val="60000"/>
                <a:lumOff val="40000"/>
              </a:srgbClr>
            </a:solidFill>
            <a:ln w="38100" cap="flat" cmpd="sng" algn="ctr">
              <a:solidFill>
                <a:srgbClr val="9BBB59">
                  <a:lumMod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2" name="Right Arrow 22">
            <a:extLst>
              <a:ext uri="{FF2B5EF4-FFF2-40B4-BE49-F238E27FC236}">
                <a16:creationId xmlns:a16="http://schemas.microsoft.com/office/drawing/2014/main" id="{BFFB3AE6-8754-485C-B73F-7C1D057052BA}"/>
              </a:ext>
            </a:extLst>
          </p:cNvPr>
          <p:cNvSpPr/>
          <p:nvPr/>
        </p:nvSpPr>
        <p:spPr>
          <a:xfrm>
            <a:off x="7080497" y="4280368"/>
            <a:ext cx="1143000" cy="396875"/>
          </a:xfrm>
          <a:prstGeom prst="rightArrow">
            <a:avLst/>
          </a:prstGeom>
          <a:solidFill>
            <a:srgbClr val="9BBB59">
              <a:lumMod val="60000"/>
              <a:lumOff val="40000"/>
            </a:srgbClr>
          </a:solidFill>
          <a:ln w="38100" cap="flat" cmpd="sng" algn="ctr">
            <a:solidFill>
              <a:srgbClr val="9BBB59">
                <a:lumMod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1140E61-CFCE-453D-9E05-7C30E7BB0550}"/>
              </a:ext>
            </a:extLst>
          </p:cNvPr>
          <p:cNvGrpSpPr/>
          <p:nvPr/>
        </p:nvGrpSpPr>
        <p:grpSpPr>
          <a:xfrm>
            <a:off x="5354219" y="3549675"/>
            <a:ext cx="1828800" cy="1848626"/>
            <a:chOff x="2133600" y="1897874"/>
            <a:chExt cx="1828800" cy="1848626"/>
          </a:xfrm>
        </p:grpSpPr>
        <p:sp>
          <p:nvSpPr>
            <p:cNvPr id="14" name="Rounded Rectangle 19">
              <a:extLst>
                <a:ext uri="{FF2B5EF4-FFF2-40B4-BE49-F238E27FC236}">
                  <a16:creationId xmlns:a16="http://schemas.microsoft.com/office/drawing/2014/main" id="{D23026B8-89A2-440C-A6DF-2D9E8CB5FD8C}"/>
                </a:ext>
              </a:extLst>
            </p:cNvPr>
            <p:cNvSpPr/>
            <p:nvPr/>
          </p:nvSpPr>
          <p:spPr>
            <a:xfrm>
              <a:off x="2133600" y="3381375"/>
              <a:ext cx="1828800" cy="365125"/>
            </a:xfrm>
            <a:prstGeom prst="roundRect">
              <a:avLst/>
            </a:prstGeom>
            <a:solidFill>
              <a:srgbClr val="4F81BD"/>
            </a:solidFill>
            <a:ln w="381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ATM Bank Jateng</a:t>
              </a:r>
            </a:p>
          </p:txBody>
        </p:sp>
        <p:pic>
          <p:nvPicPr>
            <p:cNvPr id="15" name="Picture 2" descr="C:\Documents and Settings\Dell\My Documents\My Pictures\atm2.PNG">
              <a:extLst>
                <a:ext uri="{FF2B5EF4-FFF2-40B4-BE49-F238E27FC236}">
                  <a16:creationId xmlns:a16="http://schemas.microsoft.com/office/drawing/2014/main" id="{12C67B79-FBC8-489E-A431-1296FC9A14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2344" y="1897874"/>
              <a:ext cx="731312" cy="16224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28CEABF-5412-4A7A-8820-EE84C226856A}"/>
              </a:ext>
            </a:extLst>
          </p:cNvPr>
          <p:cNvGrpSpPr/>
          <p:nvPr/>
        </p:nvGrpSpPr>
        <p:grpSpPr>
          <a:xfrm>
            <a:off x="3525419" y="1376606"/>
            <a:ext cx="1828800" cy="1713118"/>
            <a:chOff x="152400" y="2061957"/>
            <a:chExt cx="1828800" cy="1713118"/>
          </a:xfrm>
        </p:grpSpPr>
        <p:sp>
          <p:nvSpPr>
            <p:cNvPr id="17" name="Rounded Rectangle 17">
              <a:extLst>
                <a:ext uri="{FF2B5EF4-FFF2-40B4-BE49-F238E27FC236}">
                  <a16:creationId xmlns:a16="http://schemas.microsoft.com/office/drawing/2014/main" id="{459D4DAE-07FD-468F-BC01-B9AA1C98DF8A}"/>
                </a:ext>
              </a:extLst>
            </p:cNvPr>
            <p:cNvSpPr/>
            <p:nvPr/>
          </p:nvSpPr>
          <p:spPr>
            <a:xfrm>
              <a:off x="152400" y="3409950"/>
              <a:ext cx="1828800" cy="365125"/>
            </a:xfrm>
            <a:prstGeom prst="roundRect">
              <a:avLst/>
            </a:prstGeom>
            <a:solidFill>
              <a:srgbClr val="4F81BD"/>
            </a:solidFill>
            <a:ln w="381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Agen Terpilih</a:t>
              </a:r>
            </a:p>
          </p:txBody>
        </p:sp>
        <p:pic>
          <p:nvPicPr>
            <p:cNvPr id="18" name="Picture 8">
              <a:extLst>
                <a:ext uri="{FF2B5EF4-FFF2-40B4-BE49-F238E27FC236}">
                  <a16:creationId xmlns:a16="http://schemas.microsoft.com/office/drawing/2014/main" id="{E91161DB-16B3-4A52-BB12-57E200CC9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41363" y="2061957"/>
              <a:ext cx="650875" cy="1443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248CE60-92EB-406D-9CBD-EDFBD1FDF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7896" y="5375499"/>
            <a:ext cx="19610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melakukan registrasi di ATM Bank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C45F8B-CCB3-405E-ACCA-3EAD2A382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3976" y="5375499"/>
            <a:ext cx="196102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melaku</a:t>
            </a:r>
            <a:r>
              <a:rPr kumimoji="0" lang="id-ID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kan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aktivasi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user name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agen</a:t>
            </a:r>
            <a:endParaRPr kumimoji="0" lang="id-ID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8D9ED0-3DCE-48F3-BFC4-12E4039DD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416" y="1295405"/>
            <a:ext cx="5535052" cy="919401"/>
          </a:xfrm>
          <a:prstGeom prst="round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Model Rekrutmen Agen DUTA :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Calon Agen mengajukan diri kepada pihak Bank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Bank dapat menawarkan kepada pihak yang dianggap tepat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32C040-8668-4F83-9C54-79CA293A1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816" y="2258727"/>
            <a:ext cx="55350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Setelah lolos Uji Tuntas Calon Agen :</a:t>
            </a:r>
            <a:endParaRPr kumimoji="0" lang="id-ID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Calon Agen menandatangani PKS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id-ID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Mendapatkan surat penunjukkan sebagai Agen Duta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CE4AC80-267F-4F0D-A890-C7CB45879345}"/>
              </a:ext>
            </a:extLst>
          </p:cNvPr>
          <p:cNvGrpSpPr/>
          <p:nvPr/>
        </p:nvGrpSpPr>
        <p:grpSpPr>
          <a:xfrm>
            <a:off x="2137582" y="3550305"/>
            <a:ext cx="1828800" cy="1847366"/>
            <a:chOff x="1936189" y="4267200"/>
            <a:chExt cx="1828800" cy="1847366"/>
          </a:xfrm>
        </p:grpSpPr>
        <p:pic>
          <p:nvPicPr>
            <p:cNvPr id="24" name="Picture 3">
              <a:extLst>
                <a:ext uri="{FF2B5EF4-FFF2-40B4-BE49-F238E27FC236}">
                  <a16:creationId xmlns:a16="http://schemas.microsoft.com/office/drawing/2014/main" id="{BA6FF8F9-83FB-417B-B359-2E2E25E8C9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 flipH="1">
              <a:off x="1936189" y="4267200"/>
              <a:ext cx="1828800" cy="1847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Rounded Rectangle 25">
              <a:extLst>
                <a:ext uri="{FF2B5EF4-FFF2-40B4-BE49-F238E27FC236}">
                  <a16:creationId xmlns:a16="http://schemas.microsoft.com/office/drawing/2014/main" id="{E4D007AC-FEDB-4BAD-96A6-D6F7969EF6F3}"/>
                </a:ext>
              </a:extLst>
            </p:cNvPr>
            <p:cNvSpPr/>
            <p:nvPr/>
          </p:nvSpPr>
          <p:spPr>
            <a:xfrm>
              <a:off x="1936189" y="5706252"/>
              <a:ext cx="1828800" cy="366713"/>
            </a:xfrm>
            <a:prstGeom prst="roundRect">
              <a:avLst/>
            </a:prstGeom>
            <a:solidFill>
              <a:srgbClr val="4F81BD"/>
            </a:solidFill>
            <a:ln w="381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d-ID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CSR Bank Jateng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E7B6D9C1-7566-4AF8-BE7D-D973A79F9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468" y="5375499"/>
            <a:ext cx="196102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menyampaikan kelengkapan persyaratan (apabila ada yang kurang)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1EAC04-4B74-4EE3-B545-EBD0F3A8DBFA}"/>
              </a:ext>
            </a:extLst>
          </p:cNvPr>
          <p:cNvSpPr/>
          <p:nvPr/>
        </p:nvSpPr>
        <p:spPr>
          <a:xfrm>
            <a:off x="2249038" y="3281606"/>
            <a:ext cx="16058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ADMINISTRASI</a:t>
            </a:r>
            <a:endParaRPr kumimoji="0" lang="id-ID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  <p:sp>
        <p:nvSpPr>
          <p:cNvPr id="28" name="Bent Arrow 31">
            <a:extLst>
              <a:ext uri="{FF2B5EF4-FFF2-40B4-BE49-F238E27FC236}">
                <a16:creationId xmlns:a16="http://schemas.microsoft.com/office/drawing/2014/main" id="{13496447-6737-4B17-A229-1656210FD384}"/>
              </a:ext>
            </a:extLst>
          </p:cNvPr>
          <p:cNvSpPr/>
          <p:nvPr/>
        </p:nvSpPr>
        <p:spPr>
          <a:xfrm rot="16200000" flipH="1">
            <a:off x="2453567" y="2057356"/>
            <a:ext cx="1299355" cy="844350"/>
          </a:xfrm>
          <a:prstGeom prst="bentArrow">
            <a:avLst>
              <a:gd name="adj1" fmla="val 21580"/>
              <a:gd name="adj2" fmla="val 20932"/>
              <a:gd name="adj3" fmla="val 25000"/>
              <a:gd name="adj4" fmla="val 61191"/>
            </a:avLst>
          </a:prstGeom>
          <a:solidFill>
            <a:srgbClr val="9BBB59">
              <a:lumMod val="60000"/>
              <a:lumOff val="40000"/>
            </a:srgbClr>
          </a:solidFill>
          <a:ln w="38100" cap="flat" cmpd="sng" algn="ctr">
            <a:solidFill>
              <a:srgbClr val="9BBB59">
                <a:lumMod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F36A141-51A1-4C8C-A8D4-46A3894DA214}"/>
              </a:ext>
            </a:extLst>
          </p:cNvPr>
          <p:cNvSpPr/>
          <p:nvPr/>
        </p:nvSpPr>
        <p:spPr>
          <a:xfrm>
            <a:off x="3505821" y="1787769"/>
            <a:ext cx="274637" cy="274637"/>
          </a:xfrm>
          <a:prstGeom prst="ellipse">
            <a:avLst/>
          </a:prstGeom>
          <a:solidFill>
            <a:srgbClr val="8064A2">
              <a:lumMod val="40000"/>
              <a:lumOff val="60000"/>
            </a:srgbClr>
          </a:solidFill>
          <a:ln w="28575" cap="flat" cmpd="sng" algn="ctr">
            <a:solidFill>
              <a:srgbClr val="8064A2">
                <a:lumMod val="75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3932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32BCE-5484-42A7-A65E-C11FC291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Registrasi</a:t>
            </a:r>
            <a:r>
              <a:rPr lang="en-US" dirty="0"/>
              <a:t> </a:t>
            </a:r>
            <a:r>
              <a:rPr lang="en-US" dirty="0" err="1"/>
              <a:t>laku</a:t>
            </a:r>
            <a:r>
              <a:rPr lang="en-US" dirty="0"/>
              <a:t> </a:t>
            </a:r>
            <a:r>
              <a:rPr lang="en-US" dirty="0" err="1"/>
              <a:t>pandai</a:t>
            </a:r>
            <a:r>
              <a:rPr lang="en-US" dirty="0"/>
              <a:t> g.2</a:t>
            </a:r>
            <a:endParaRPr lang="en-ID" dirty="0"/>
          </a:p>
        </p:txBody>
      </p:sp>
      <p:pic>
        <p:nvPicPr>
          <p:cNvPr id="4" name="Content Placeholder 4" descr="C:\Users\plyts2\AppData\Local\Microsoft\Windows\INetCache\Content.Word\LAKUPANDAI1.png">
            <a:extLst>
              <a:ext uri="{FF2B5EF4-FFF2-40B4-BE49-F238E27FC236}">
                <a16:creationId xmlns:a16="http://schemas.microsoft.com/office/drawing/2014/main" id="{8102C7DB-5D40-4C93-8090-26CFB5294899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610" y="1854462"/>
            <a:ext cx="2612275" cy="2910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8A7F0D-01B9-45FC-A4F1-29FE18A1A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2800" y="1605395"/>
            <a:ext cx="2089820" cy="338819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D5F526-5494-493A-8B0B-CB8A494718D1}"/>
              </a:ext>
            </a:extLst>
          </p:cNvPr>
          <p:cNvCxnSpPr>
            <a:cxnSpLocks/>
          </p:cNvCxnSpPr>
          <p:nvPr/>
        </p:nvCxnSpPr>
        <p:spPr>
          <a:xfrm>
            <a:off x="3523760" y="3224251"/>
            <a:ext cx="609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06F6E4C-5765-4553-BEBF-FC98D9EB1688}"/>
              </a:ext>
            </a:extLst>
          </p:cNvPr>
          <p:cNvSpPr/>
          <p:nvPr/>
        </p:nvSpPr>
        <p:spPr>
          <a:xfrm>
            <a:off x="7201085" y="1854462"/>
            <a:ext cx="1741517" cy="25739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/>
              <a:t>User Supervisor KC u </a:t>
            </a:r>
            <a:r>
              <a:rPr lang="en-ID" sz="2000" dirty="0" err="1"/>
              <a:t>Melakukan</a:t>
            </a:r>
            <a:r>
              <a:rPr lang="en-ID" sz="2000" dirty="0"/>
              <a:t> </a:t>
            </a:r>
            <a:r>
              <a:rPr lang="en-ID" sz="2000" dirty="0" err="1"/>
              <a:t>Aktivasi</a:t>
            </a:r>
            <a:r>
              <a:rPr lang="en-ID" sz="2000" dirty="0"/>
              <a:t> (</a:t>
            </a:r>
            <a:r>
              <a:rPr lang="en-ID" sz="2000" dirty="0" err="1"/>
              <a:t>Isikan</a:t>
            </a:r>
            <a:r>
              <a:rPr lang="en-ID" sz="2000" dirty="0"/>
              <a:t> Email &amp; Token, </a:t>
            </a:r>
            <a:r>
              <a:rPr lang="en-ID" sz="2000" dirty="0" err="1"/>
              <a:t>dst</a:t>
            </a:r>
            <a:r>
              <a:rPr lang="en-ID" sz="2000" dirty="0"/>
              <a:t>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DD6DFFA-5F1C-4118-AC43-8FCBA865D93D}"/>
              </a:ext>
            </a:extLst>
          </p:cNvPr>
          <p:cNvCxnSpPr>
            <a:cxnSpLocks/>
          </p:cNvCxnSpPr>
          <p:nvPr/>
        </p:nvCxnSpPr>
        <p:spPr>
          <a:xfrm>
            <a:off x="6476829" y="3202329"/>
            <a:ext cx="609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56E856F3-68F2-419F-B957-95010EF7BB52}"/>
              </a:ext>
            </a:extLst>
          </p:cNvPr>
          <p:cNvSpPr/>
          <p:nvPr/>
        </p:nvSpPr>
        <p:spPr>
          <a:xfrm>
            <a:off x="9772865" y="1472670"/>
            <a:ext cx="1596785" cy="294507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000" dirty="0"/>
              <a:t>Password </a:t>
            </a:r>
            <a:r>
              <a:rPr lang="en-ID" sz="2000" dirty="0" err="1"/>
              <a:t>Masuk</a:t>
            </a:r>
            <a:r>
              <a:rPr lang="en-ID" sz="2000" dirty="0"/>
              <a:t> di Email </a:t>
            </a:r>
            <a:r>
              <a:rPr lang="en-ID" sz="2000" dirty="0" err="1"/>
              <a:t>yg</a:t>
            </a:r>
            <a:r>
              <a:rPr lang="en-ID" sz="2000" dirty="0"/>
              <a:t> </a:t>
            </a:r>
            <a:r>
              <a:rPr lang="en-ID" sz="2000" dirty="0" err="1"/>
              <a:t>sudah</a:t>
            </a:r>
            <a:r>
              <a:rPr lang="en-ID" sz="2000" dirty="0"/>
              <a:t> </a:t>
            </a:r>
            <a:r>
              <a:rPr lang="en-ID" sz="2000" dirty="0" err="1"/>
              <a:t>didaftarkan</a:t>
            </a:r>
            <a:r>
              <a:rPr lang="en-ID" sz="2000" dirty="0"/>
              <a:t> </a:t>
            </a:r>
            <a:r>
              <a:rPr lang="en-ID" sz="2000" dirty="0" err="1"/>
              <a:t>dan</a:t>
            </a:r>
            <a:r>
              <a:rPr lang="en-ID" sz="2000" dirty="0"/>
              <a:t> PIN di SMS</a:t>
            </a:r>
          </a:p>
          <a:p>
            <a:pPr algn="ctr"/>
            <a:endParaRPr lang="en-ID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CD6336-0449-4D9E-958B-4E6F54D638B4}"/>
              </a:ext>
            </a:extLst>
          </p:cNvPr>
          <p:cNvCxnSpPr>
            <a:cxnSpLocks/>
          </p:cNvCxnSpPr>
          <p:nvPr/>
        </p:nvCxnSpPr>
        <p:spPr>
          <a:xfrm>
            <a:off x="9052968" y="3143591"/>
            <a:ext cx="6095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825C2042-70D8-4AE2-ACBF-52127ED2BB8F}"/>
              </a:ext>
            </a:extLst>
          </p:cNvPr>
          <p:cNvSpPr/>
          <p:nvPr/>
        </p:nvSpPr>
        <p:spPr>
          <a:xfrm>
            <a:off x="6187094" y="5071422"/>
            <a:ext cx="2865874" cy="128624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b="1" dirty="0" err="1">
                <a:latin typeface="Arial Black" panose="020B0A04020102020204" pitchFamily="34" charset="0"/>
              </a:rPr>
              <a:t>Cukup</a:t>
            </a:r>
            <a:r>
              <a:rPr lang="en-ID" b="1" dirty="0">
                <a:latin typeface="Arial Black" panose="020B0A04020102020204" pitchFamily="34" charset="0"/>
              </a:rPr>
              <a:t> </a:t>
            </a:r>
            <a:r>
              <a:rPr lang="en-ID" b="1" dirty="0" err="1">
                <a:latin typeface="Arial Black" panose="020B0A04020102020204" pitchFamily="34" charset="0"/>
              </a:rPr>
              <a:t>Satu</a:t>
            </a:r>
            <a:endParaRPr lang="en-ID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831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315D-EF7D-4839-81B6-0D46E5093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3316" y="193801"/>
            <a:ext cx="7503886" cy="1101604"/>
          </a:xfrm>
        </p:spPr>
        <p:txBody>
          <a:bodyPr>
            <a:normAutofit fontScale="90000"/>
          </a:bodyPr>
          <a:lstStyle/>
          <a:p>
            <a:r>
              <a:rPr lang="en-ID" dirty="0" err="1"/>
              <a:t>url</a:t>
            </a:r>
            <a:br>
              <a:rPr lang="en-ID" dirty="0"/>
            </a:br>
            <a:r>
              <a:rPr lang="en-ID" dirty="0"/>
              <a:t>Uniform Resource Locator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05C2F-8858-4333-A280-87177EEE3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5178" y="2016000"/>
            <a:ext cx="8212976" cy="2289993"/>
          </a:xfrm>
        </p:spPr>
        <p:txBody>
          <a:bodyPr/>
          <a:lstStyle/>
          <a:p>
            <a:r>
              <a:rPr lang="en-ID" dirty="0" err="1"/>
              <a:t>Operasional</a:t>
            </a:r>
            <a:r>
              <a:rPr lang="en-ID" dirty="0"/>
              <a:t> </a:t>
            </a:r>
            <a:r>
              <a:rPr lang="en-ID" dirty="0" err="1"/>
              <a:t>Aplikasi</a:t>
            </a:r>
            <a:endParaRPr lang="en-ID" dirty="0"/>
          </a:p>
          <a:p>
            <a:pPr marL="0" indent="0">
              <a:buNone/>
            </a:pPr>
            <a:r>
              <a:rPr lang="en-ID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https://ibanking.bankjateng.co.id/bpduta</a:t>
            </a:r>
            <a:endParaRPr lang="en-ID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620017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A9A000-0360-4BFF-BFB8-E6979F68D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85" y="1047403"/>
            <a:ext cx="4073581" cy="4172089"/>
          </a:xfrm>
          <a:prstGeom prst="rect">
            <a:avLst/>
          </a:prstGeom>
        </p:spPr>
      </p:pic>
      <p:sp>
        <p:nvSpPr>
          <p:cNvPr id="6" name="Left-Up Arrow 8">
            <a:extLst>
              <a:ext uri="{FF2B5EF4-FFF2-40B4-BE49-F238E27FC236}">
                <a16:creationId xmlns:a16="http://schemas.microsoft.com/office/drawing/2014/main" id="{A51BF132-FBD6-4C80-90AF-3806F4411326}"/>
              </a:ext>
            </a:extLst>
          </p:cNvPr>
          <p:cNvSpPr/>
          <p:nvPr/>
        </p:nvSpPr>
        <p:spPr>
          <a:xfrm rot="5400000">
            <a:off x="2855378" y="5185715"/>
            <a:ext cx="1178411" cy="1318261"/>
          </a:xfrm>
          <a:prstGeom prst="leftUpArrow">
            <a:avLst>
              <a:gd name="adj1" fmla="val 14552"/>
              <a:gd name="adj2" fmla="val 18284"/>
              <a:gd name="adj3" fmla="val 18283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EF15B1-7F07-4E1B-AFE2-E38E57B4C33F}"/>
              </a:ext>
            </a:extLst>
          </p:cNvPr>
          <p:cNvSpPr/>
          <p:nvPr/>
        </p:nvSpPr>
        <p:spPr>
          <a:xfrm>
            <a:off x="4259924" y="6095681"/>
            <a:ext cx="365760" cy="36576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d-ID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F690CD7-2612-4715-B2BB-D8FDA3E10796}"/>
              </a:ext>
            </a:extLst>
          </p:cNvPr>
          <p:cNvSpPr/>
          <p:nvPr/>
        </p:nvSpPr>
        <p:spPr>
          <a:xfrm>
            <a:off x="1897723" y="5219493"/>
            <a:ext cx="365760" cy="36576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D" b="1" dirty="0">
                <a:solidFill>
                  <a:srgbClr val="000000"/>
                </a:solidFill>
              </a:rPr>
              <a:t>1</a:t>
            </a:r>
            <a:endParaRPr lang="id-ID" b="1" dirty="0">
              <a:solidFill>
                <a:srgbClr val="000000"/>
              </a:solidFill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294CB2B-9ED3-4D86-A56C-0E4312615D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7784565"/>
              </p:ext>
            </p:extLst>
          </p:nvPr>
        </p:nvGraphicFramePr>
        <p:xfrm>
          <a:off x="6694515" y="1047402"/>
          <a:ext cx="5225936" cy="5536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1CA9948-4D94-4F58-AD06-C2F5A50D291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3690" t="12072" r="73426" b="17233"/>
          <a:stretch/>
        </p:blipFill>
        <p:spPr>
          <a:xfrm>
            <a:off x="5079076" y="1047403"/>
            <a:ext cx="1615439" cy="55362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EE9B88F-5174-4612-B131-3BE4547294B7}"/>
              </a:ext>
            </a:extLst>
          </p:cNvPr>
          <p:cNvSpPr txBox="1"/>
          <p:nvPr/>
        </p:nvSpPr>
        <p:spPr>
          <a:xfrm>
            <a:off x="4259924" y="315883"/>
            <a:ext cx="76605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/>
              <a:t>Tampilan</a:t>
            </a:r>
            <a:r>
              <a:rPr lang="en-US" sz="3200" b="1" dirty="0"/>
              <a:t> </a:t>
            </a:r>
            <a:r>
              <a:rPr lang="en-US" sz="3200" b="1" dirty="0" err="1"/>
              <a:t>Aplikasi</a:t>
            </a:r>
            <a:r>
              <a:rPr lang="en-US" sz="3200" b="1" dirty="0"/>
              <a:t> </a:t>
            </a:r>
            <a:r>
              <a:rPr lang="en-US" sz="3200" b="1" dirty="0" err="1"/>
              <a:t>Agen</a:t>
            </a:r>
            <a:r>
              <a:rPr lang="en-US" sz="3200" b="1" dirty="0"/>
              <a:t> </a:t>
            </a:r>
            <a:r>
              <a:rPr lang="en-US" sz="3200" b="1" dirty="0" err="1"/>
              <a:t>Laku</a:t>
            </a:r>
            <a:r>
              <a:rPr lang="en-US" sz="3200" b="1" dirty="0"/>
              <a:t> </a:t>
            </a:r>
            <a:r>
              <a:rPr lang="en-US" sz="3200" b="1" dirty="0" err="1"/>
              <a:t>Pandai</a:t>
            </a:r>
            <a:r>
              <a:rPr lang="en-US" sz="3200" b="1" dirty="0"/>
              <a:t> G.2</a:t>
            </a:r>
            <a:endParaRPr lang="en-ID" sz="3200" b="1" dirty="0"/>
          </a:p>
        </p:txBody>
      </p:sp>
    </p:spTree>
    <p:extLst>
      <p:ext uri="{BB962C8B-B14F-4D97-AF65-F5344CB8AC3E}">
        <p14:creationId xmlns:p14="http://schemas.microsoft.com/office/powerpoint/2010/main" val="331871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Graphic spid="9" grpId="0">
        <p:bldAsOne/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122E-0BEF-4D40-A437-B14C41D09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932" y="221937"/>
            <a:ext cx="6336269" cy="792163"/>
          </a:xfrm>
        </p:spPr>
        <p:txBody>
          <a:bodyPr>
            <a:noAutofit/>
          </a:bodyPr>
          <a:lstStyle/>
          <a:p>
            <a:pPr algn="ctr"/>
            <a:r>
              <a:rPr lang="en-US" sz="3200" dirty="0" err="1"/>
              <a:t>Apa</a:t>
            </a:r>
            <a:r>
              <a:rPr lang="en-US" sz="3200" dirty="0"/>
              <a:t> </a:t>
            </a:r>
            <a:r>
              <a:rPr lang="en-US" sz="3200" dirty="0" err="1"/>
              <a:t>itu</a:t>
            </a:r>
            <a:r>
              <a:rPr lang="en-US" sz="3200" dirty="0"/>
              <a:t> Tabungan </a:t>
            </a:r>
            <a:r>
              <a:rPr lang="en-US" sz="3200" dirty="0" err="1"/>
              <a:t>dengan</a:t>
            </a:r>
            <a:r>
              <a:rPr lang="en-US" sz="3200" dirty="0"/>
              <a:t> </a:t>
            </a:r>
            <a:r>
              <a:rPr lang="en-US" sz="3200" dirty="0" err="1"/>
              <a:t>karakteristik</a:t>
            </a:r>
            <a:r>
              <a:rPr lang="en-US" sz="3200" dirty="0"/>
              <a:t> BSA</a:t>
            </a:r>
            <a:endParaRPr lang="en-ID" sz="32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D62DE16-2A04-46EB-A7D7-33324039D3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-740263" y="746284"/>
          <a:ext cx="12312226" cy="37102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object 9">
            <a:extLst>
              <a:ext uri="{FF2B5EF4-FFF2-40B4-BE49-F238E27FC236}">
                <a16:creationId xmlns:a16="http://schemas.microsoft.com/office/drawing/2014/main" id="{E070CFE4-9B26-44B0-9221-C34C0567AA6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1595" y="289129"/>
            <a:ext cx="1678813" cy="48375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286064B-A3EF-424C-BCC0-77FC62E5C009}"/>
              </a:ext>
            </a:extLst>
          </p:cNvPr>
          <p:cNvGrpSpPr/>
          <p:nvPr/>
        </p:nvGrpSpPr>
        <p:grpSpPr>
          <a:xfrm>
            <a:off x="5795840" y="3926786"/>
            <a:ext cx="1585758" cy="1688812"/>
            <a:chOff x="4795645" y="1172771"/>
            <a:chExt cx="1201662" cy="1381221"/>
          </a:xfrm>
          <a:solidFill>
            <a:srgbClr val="006600"/>
          </a:solidFill>
        </p:grpSpPr>
        <p:sp>
          <p:nvSpPr>
            <p:cNvPr id="18" name="Hexagon 17">
              <a:extLst>
                <a:ext uri="{FF2B5EF4-FFF2-40B4-BE49-F238E27FC236}">
                  <a16:creationId xmlns:a16="http://schemas.microsoft.com/office/drawing/2014/main" id="{4E117BE8-2650-4A6C-996A-8136EFE0AF2F}"/>
                </a:ext>
              </a:extLst>
            </p:cNvPr>
            <p:cNvSpPr/>
            <p:nvPr/>
          </p:nvSpPr>
          <p:spPr>
            <a:xfrm rot="5400000">
              <a:off x="4705865" y="1262551"/>
              <a:ext cx="1381221" cy="1201662"/>
            </a:xfrm>
            <a:prstGeom prst="hexagon">
              <a:avLst>
                <a:gd name="adj" fmla="val 2500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Hexagon 4">
              <a:extLst>
                <a:ext uri="{FF2B5EF4-FFF2-40B4-BE49-F238E27FC236}">
                  <a16:creationId xmlns:a16="http://schemas.microsoft.com/office/drawing/2014/main" id="{4CEBB78F-01BA-4EF2-9657-85B160A43A30}"/>
                </a:ext>
              </a:extLst>
            </p:cNvPr>
            <p:cNvSpPr txBox="1"/>
            <p:nvPr/>
          </p:nvSpPr>
          <p:spPr>
            <a:xfrm>
              <a:off x="4996781" y="1425033"/>
              <a:ext cx="723343" cy="917553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53339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 err="1"/>
                <a:t>Bebas</a:t>
              </a:r>
              <a:r>
                <a:rPr lang="en-US" sz="1400" dirty="0"/>
                <a:t> </a:t>
              </a:r>
              <a:r>
                <a:rPr lang="en-US" sz="1400" dirty="0" err="1"/>
                <a:t>biaya</a:t>
              </a:r>
              <a:r>
                <a:rPr lang="en-US" sz="1400" dirty="0"/>
                <a:t> admin </a:t>
              </a:r>
              <a:r>
                <a:rPr lang="en-US" sz="1400" dirty="0" err="1"/>
                <a:t>bulanan</a:t>
              </a:r>
              <a:r>
                <a:rPr lang="en-US" sz="1400" dirty="0"/>
                <a:t> &amp; </a:t>
              </a:r>
              <a:r>
                <a:rPr lang="en-US" sz="1400" dirty="0" err="1"/>
                <a:t>transaksi</a:t>
              </a:r>
              <a:r>
                <a:rPr lang="en-US" sz="1400" dirty="0"/>
                <a:t> </a:t>
              </a:r>
              <a:r>
                <a:rPr lang="en-US" sz="1400" dirty="0" err="1"/>
                <a:t>tertentu</a:t>
              </a:r>
              <a:endParaRPr lang="en-ID" sz="14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77507F0-D1DE-4E55-9E2F-63C3357611B6}"/>
              </a:ext>
            </a:extLst>
          </p:cNvPr>
          <p:cNvGrpSpPr/>
          <p:nvPr/>
        </p:nvGrpSpPr>
        <p:grpSpPr>
          <a:xfrm>
            <a:off x="4815018" y="5122869"/>
            <a:ext cx="1201663" cy="1162466"/>
            <a:chOff x="6035384" y="1172771"/>
            <a:chExt cx="1201662" cy="1381221"/>
          </a:xfrm>
        </p:grpSpPr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79D8E39D-D714-48D5-9675-94296D8AB762}"/>
                </a:ext>
              </a:extLst>
            </p:cNvPr>
            <p:cNvSpPr/>
            <p:nvPr/>
          </p:nvSpPr>
          <p:spPr>
            <a:xfrm rot="5400000">
              <a:off x="5945604" y="1262551"/>
              <a:ext cx="1381221" cy="120166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Hexagon 6">
              <a:extLst>
                <a:ext uri="{FF2B5EF4-FFF2-40B4-BE49-F238E27FC236}">
                  <a16:creationId xmlns:a16="http://schemas.microsoft.com/office/drawing/2014/main" id="{DA3BD8C2-9966-4B2F-8FCB-A5CEE2E2F914}"/>
                </a:ext>
              </a:extLst>
            </p:cNvPr>
            <p:cNvSpPr txBox="1"/>
            <p:nvPr/>
          </p:nvSpPr>
          <p:spPr>
            <a:xfrm>
              <a:off x="6280698" y="1388012"/>
              <a:ext cx="827144" cy="9507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53339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Mata </a:t>
              </a:r>
              <a:r>
                <a:rPr lang="en-US" sz="1400" dirty="0" err="1"/>
                <a:t>uang</a:t>
              </a:r>
              <a:r>
                <a:rPr lang="en-US" sz="1400" dirty="0"/>
                <a:t> rupiah</a:t>
              </a:r>
              <a:endParaRPr lang="en-ID" sz="14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7AC98D-7A4D-4A93-9A0E-A3FE4D54EDB2}"/>
              </a:ext>
            </a:extLst>
          </p:cNvPr>
          <p:cNvGrpSpPr/>
          <p:nvPr/>
        </p:nvGrpSpPr>
        <p:grpSpPr>
          <a:xfrm>
            <a:off x="3184674" y="4796168"/>
            <a:ext cx="1585757" cy="1656511"/>
            <a:chOff x="5436025" y="2183261"/>
            <a:chExt cx="1201662" cy="1381221"/>
          </a:xfrm>
          <a:solidFill>
            <a:srgbClr val="C00000"/>
          </a:solidFill>
        </p:grpSpPr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8E8EF078-0130-45B1-B448-77C43A898133}"/>
                </a:ext>
              </a:extLst>
            </p:cNvPr>
            <p:cNvSpPr/>
            <p:nvPr/>
          </p:nvSpPr>
          <p:spPr>
            <a:xfrm rot="5400000">
              <a:off x="5346245" y="2273041"/>
              <a:ext cx="1381221" cy="1201662"/>
            </a:xfrm>
            <a:prstGeom prst="hexagon">
              <a:avLst>
                <a:gd name="adj" fmla="val 25000"/>
                <a:gd name="vf" fmla="val 115470"/>
              </a:avLst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Hexagon 8">
              <a:extLst>
                <a:ext uri="{FF2B5EF4-FFF2-40B4-BE49-F238E27FC236}">
                  <a16:creationId xmlns:a16="http://schemas.microsoft.com/office/drawing/2014/main" id="{891F90A4-BC1D-4FC0-998A-08EC1028B2F0}"/>
                </a:ext>
              </a:extLst>
            </p:cNvPr>
            <p:cNvSpPr txBox="1"/>
            <p:nvPr/>
          </p:nvSpPr>
          <p:spPr>
            <a:xfrm>
              <a:off x="5621794" y="2422866"/>
              <a:ext cx="823771" cy="812570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53339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 err="1"/>
                <a:t>Tidak</a:t>
              </a:r>
              <a:r>
                <a:rPr lang="en-US" sz="1400" dirty="0"/>
                <a:t> </a:t>
              </a:r>
              <a:r>
                <a:rPr lang="en-US" sz="1400" dirty="0" err="1"/>
                <a:t>bisa</a:t>
              </a:r>
              <a:r>
                <a:rPr lang="en-US" sz="1400" dirty="0"/>
                <a:t> </a:t>
              </a:r>
              <a:r>
                <a:rPr lang="en-US" sz="1400" dirty="0" err="1"/>
                <a:t>rekening</a:t>
              </a:r>
              <a:r>
                <a:rPr lang="en-US" sz="1400" dirty="0"/>
                <a:t> </a:t>
              </a:r>
              <a:r>
                <a:rPr lang="en-US" sz="1400" dirty="0" err="1"/>
                <a:t>bersama</a:t>
              </a:r>
              <a:r>
                <a:rPr lang="en-US" sz="1400" dirty="0"/>
                <a:t> “dan/</a:t>
              </a:r>
              <a:r>
                <a:rPr lang="en-US" sz="1400" dirty="0" err="1"/>
                <a:t>atau</a:t>
              </a:r>
              <a:r>
                <a:rPr lang="en-US" sz="1400" dirty="0"/>
                <a:t>”</a:t>
              </a:r>
              <a:endParaRPr lang="en-ID" sz="14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9BF3680-F069-4F8F-9565-7E1E355A32D4}"/>
              </a:ext>
            </a:extLst>
          </p:cNvPr>
          <p:cNvGrpSpPr/>
          <p:nvPr/>
        </p:nvGrpSpPr>
        <p:grpSpPr>
          <a:xfrm>
            <a:off x="4252918" y="3979209"/>
            <a:ext cx="1385334" cy="1135859"/>
            <a:chOff x="4149233" y="2345152"/>
            <a:chExt cx="1201662" cy="1381221"/>
          </a:xfrm>
        </p:grpSpPr>
        <p:sp>
          <p:nvSpPr>
            <p:cNvPr id="12" name="Hexagon 11">
              <a:extLst>
                <a:ext uri="{FF2B5EF4-FFF2-40B4-BE49-F238E27FC236}">
                  <a16:creationId xmlns:a16="http://schemas.microsoft.com/office/drawing/2014/main" id="{AC300701-D7D1-4DA0-84F1-B5C50620E742}"/>
                </a:ext>
              </a:extLst>
            </p:cNvPr>
            <p:cNvSpPr/>
            <p:nvPr/>
          </p:nvSpPr>
          <p:spPr>
            <a:xfrm rot="5400000">
              <a:off x="4059453" y="2434932"/>
              <a:ext cx="1381221" cy="1201662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66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Hexagon 10">
              <a:extLst>
                <a:ext uri="{FF2B5EF4-FFF2-40B4-BE49-F238E27FC236}">
                  <a16:creationId xmlns:a16="http://schemas.microsoft.com/office/drawing/2014/main" id="{8A862FAE-3CF8-427D-9F2C-876126E7255B}"/>
                </a:ext>
              </a:extLst>
            </p:cNvPr>
            <p:cNvSpPr txBox="1"/>
            <p:nvPr/>
          </p:nvSpPr>
          <p:spPr>
            <a:xfrm>
              <a:off x="4400991" y="2699142"/>
              <a:ext cx="776712" cy="81199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algn="ctr" defTabSz="53339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 err="1"/>
                <a:t>Kena</a:t>
              </a:r>
              <a:r>
                <a:rPr lang="en-US" sz="1400" dirty="0"/>
                <a:t> </a:t>
              </a:r>
              <a:r>
                <a:rPr lang="en-US" sz="1400" dirty="0" err="1"/>
                <a:t>biaya</a:t>
              </a:r>
              <a:r>
                <a:rPr lang="en-US" sz="1400" dirty="0"/>
                <a:t> Tarik </a:t>
              </a:r>
              <a:r>
                <a:rPr lang="en-US" sz="1400" dirty="0" err="1"/>
                <a:t>tunai</a:t>
              </a:r>
              <a:r>
                <a:rPr lang="en-US" sz="1400" dirty="0"/>
                <a:t>, transfer </a:t>
              </a:r>
              <a:r>
                <a:rPr lang="en-US" sz="1400" dirty="0" err="1"/>
                <a:t>kluar</a:t>
              </a:r>
              <a:endParaRPr lang="en-ID" sz="1400" dirty="0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D2143E9-FD5C-4055-9EA7-73E46134EE44}"/>
              </a:ext>
            </a:extLst>
          </p:cNvPr>
          <p:cNvSpPr/>
          <p:nvPr/>
        </p:nvSpPr>
        <p:spPr>
          <a:xfrm>
            <a:off x="8637667" y="3237913"/>
            <a:ext cx="3207480" cy="1198611"/>
          </a:xfrm>
          <a:prstGeom prst="roundRect">
            <a:avLst/>
          </a:prstGeom>
          <a:solidFill>
            <a:srgbClr val="0033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Maksimum</a:t>
            </a:r>
            <a:r>
              <a:rPr lang="en-US" sz="2000" dirty="0"/>
              <a:t> </a:t>
            </a:r>
            <a:r>
              <a:rPr lang="en-US" sz="2000" dirty="0" err="1"/>
              <a:t>kumulatif</a:t>
            </a:r>
            <a:r>
              <a:rPr lang="en-US" sz="2000" dirty="0"/>
              <a:t> </a:t>
            </a:r>
            <a:r>
              <a:rPr lang="en-US" sz="2000" dirty="0" err="1"/>
              <a:t>transaksi</a:t>
            </a:r>
            <a:r>
              <a:rPr lang="en-US" sz="2000" dirty="0"/>
              <a:t> </a:t>
            </a:r>
            <a:r>
              <a:rPr lang="en-US" sz="2000" dirty="0" err="1"/>
              <a:t>debet</a:t>
            </a:r>
            <a:r>
              <a:rPr lang="en-US" sz="2000" dirty="0"/>
              <a:t> </a:t>
            </a:r>
            <a:r>
              <a:rPr lang="en-US" sz="2000" dirty="0" err="1"/>
              <a:t>rekening</a:t>
            </a:r>
            <a:r>
              <a:rPr lang="en-US" sz="2000" dirty="0"/>
              <a:t>/ </a:t>
            </a:r>
            <a:r>
              <a:rPr lang="en-US" sz="2000" dirty="0" err="1"/>
              <a:t>th</a:t>
            </a:r>
            <a:r>
              <a:rPr lang="en-US" sz="2000" dirty="0"/>
              <a:t> Rp60 </a:t>
            </a:r>
            <a:r>
              <a:rPr lang="en-US" sz="2000" dirty="0" err="1"/>
              <a:t>jt</a:t>
            </a:r>
            <a:endParaRPr lang="en-ID" sz="2000" dirty="0"/>
          </a:p>
        </p:txBody>
      </p:sp>
      <p:sp>
        <p:nvSpPr>
          <p:cNvPr id="24" name="Speech Bubble: Oval 23">
            <a:extLst>
              <a:ext uri="{FF2B5EF4-FFF2-40B4-BE49-F238E27FC236}">
                <a16:creationId xmlns:a16="http://schemas.microsoft.com/office/drawing/2014/main" id="{161E3F41-3D6B-45BE-8F09-4925CC5B7E08}"/>
              </a:ext>
            </a:extLst>
          </p:cNvPr>
          <p:cNvSpPr/>
          <p:nvPr/>
        </p:nvSpPr>
        <p:spPr>
          <a:xfrm>
            <a:off x="506935" y="3533186"/>
            <a:ext cx="1385335" cy="1433286"/>
          </a:xfrm>
          <a:prstGeom prst="wedgeEllipseCallout">
            <a:avLst>
              <a:gd name="adj1" fmla="val 206745"/>
              <a:gd name="adj2" fmla="val 13752"/>
            </a:avLst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Biaya</a:t>
            </a:r>
            <a:r>
              <a:rPr lang="en-US" dirty="0"/>
              <a:t> </a:t>
            </a:r>
            <a:r>
              <a:rPr lang="en-US" dirty="0" err="1"/>
              <a:t>murah</a:t>
            </a:r>
            <a:endParaRPr lang="en-ID" dirty="0"/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D13D062A-B217-46D9-9A49-8469F0CB4052}"/>
              </a:ext>
            </a:extLst>
          </p:cNvPr>
          <p:cNvCxnSpPr>
            <a:cxnSpLocks/>
          </p:cNvCxnSpPr>
          <p:nvPr/>
        </p:nvCxnSpPr>
        <p:spPr>
          <a:xfrm>
            <a:off x="6752492" y="3207509"/>
            <a:ext cx="1664882" cy="539129"/>
          </a:xfrm>
          <a:prstGeom prst="curvedConnector3">
            <a:avLst>
              <a:gd name="adj1" fmla="val 50000"/>
            </a:avLst>
          </a:prstGeom>
          <a:ln w="38100" cap="flat" cmpd="sng" algn="ctr">
            <a:solidFill>
              <a:srgbClr val="0066CC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Right Brace 36">
            <a:extLst>
              <a:ext uri="{FF2B5EF4-FFF2-40B4-BE49-F238E27FC236}">
                <a16:creationId xmlns:a16="http://schemas.microsoft.com/office/drawing/2014/main" id="{4BF9BF02-5E40-49D1-95A6-76772638C9B1}"/>
              </a:ext>
            </a:extLst>
          </p:cNvPr>
          <p:cNvSpPr/>
          <p:nvPr/>
        </p:nvSpPr>
        <p:spPr>
          <a:xfrm>
            <a:off x="7272997" y="1322363"/>
            <a:ext cx="253218" cy="1001022"/>
          </a:xfrm>
          <a:prstGeom prst="rightBrace">
            <a:avLst/>
          </a:prstGeom>
          <a:ln w="57150"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4E0C9A6-390A-4503-ABF2-D003B68C00A5}"/>
              </a:ext>
            </a:extLst>
          </p:cNvPr>
          <p:cNvSpPr/>
          <p:nvPr/>
        </p:nvSpPr>
        <p:spPr>
          <a:xfrm>
            <a:off x="7686141" y="1462005"/>
            <a:ext cx="2977169" cy="792163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Memberikan</a:t>
            </a:r>
            <a:r>
              <a:rPr lang="en-US" sz="2000" dirty="0"/>
              <a:t> </a:t>
            </a:r>
            <a:r>
              <a:rPr lang="en-US" sz="2000" dirty="0" err="1"/>
              <a:t>manfaat</a:t>
            </a:r>
            <a:r>
              <a:rPr lang="en-US" sz="2000" dirty="0"/>
              <a:t> dan </a:t>
            </a:r>
            <a:r>
              <a:rPr lang="en-US" sz="2000" dirty="0" err="1"/>
              <a:t>berbagai</a:t>
            </a:r>
            <a:r>
              <a:rPr lang="en-US" sz="2000" dirty="0"/>
              <a:t> </a:t>
            </a:r>
            <a:r>
              <a:rPr lang="en-US" sz="2000" dirty="0" err="1"/>
              <a:t>kemudahan</a:t>
            </a:r>
            <a:endParaRPr lang="en-ID" sz="2000" dirty="0"/>
          </a:p>
        </p:txBody>
      </p:sp>
      <p:sp>
        <p:nvSpPr>
          <p:cNvPr id="40" name="Flowchart: Alternate Process 39">
            <a:extLst>
              <a:ext uri="{FF2B5EF4-FFF2-40B4-BE49-F238E27FC236}">
                <a16:creationId xmlns:a16="http://schemas.microsoft.com/office/drawing/2014/main" id="{EAB1054C-3E2F-405C-9231-1169E9215C5F}"/>
              </a:ext>
            </a:extLst>
          </p:cNvPr>
          <p:cNvSpPr/>
          <p:nvPr/>
        </p:nvSpPr>
        <p:spPr>
          <a:xfrm>
            <a:off x="7584933" y="5292359"/>
            <a:ext cx="3588063" cy="1295376"/>
          </a:xfrm>
          <a:prstGeom prst="flowChartAlternateProcess">
            <a:avLst/>
          </a:prstGeom>
          <a:solidFill>
            <a:schemeClr val="accent6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tx1"/>
                </a:solidFill>
              </a:rPr>
              <a:t>BSA </a:t>
            </a:r>
            <a:r>
              <a:rPr lang="en-US" sz="2000" dirty="0" err="1">
                <a:solidFill>
                  <a:schemeClr val="tx1"/>
                </a:solidFill>
              </a:rPr>
              <a:t>Sebagai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Simpanan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Dijamin</a:t>
            </a:r>
            <a:r>
              <a:rPr lang="en-US" sz="2000" dirty="0">
                <a:solidFill>
                  <a:schemeClr val="tx1"/>
                </a:solidFill>
              </a:rPr>
              <a:t> Oleh LPS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dirty="0" err="1">
                <a:solidFill>
                  <a:schemeClr val="tx1"/>
                </a:solidFill>
              </a:rPr>
              <a:t>Rekening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Pasif</a:t>
            </a:r>
            <a:r>
              <a:rPr lang="en-US" sz="2000" dirty="0">
                <a:solidFill>
                  <a:schemeClr val="tx1"/>
                </a:solidFill>
              </a:rPr>
              <a:t> Tab BSA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   (</a:t>
            </a:r>
            <a:r>
              <a:rPr lang="en-US" sz="2000" dirty="0" err="1">
                <a:solidFill>
                  <a:schemeClr val="tx1"/>
                </a:solidFill>
              </a:rPr>
              <a:t>saldo</a:t>
            </a:r>
            <a:r>
              <a:rPr lang="en-US" sz="2000" dirty="0">
                <a:solidFill>
                  <a:schemeClr val="tx1"/>
                </a:solidFill>
              </a:rPr>
              <a:t> Rp0,- dan JW 6 </a:t>
            </a:r>
            <a:r>
              <a:rPr lang="en-US" sz="2000" dirty="0" err="1">
                <a:solidFill>
                  <a:schemeClr val="tx1"/>
                </a:solidFill>
              </a:rPr>
              <a:t>bln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45" name="Speech Bubble: Rectangle with Corners Rounded 44">
            <a:extLst>
              <a:ext uri="{FF2B5EF4-FFF2-40B4-BE49-F238E27FC236}">
                <a16:creationId xmlns:a16="http://schemas.microsoft.com/office/drawing/2014/main" id="{7E95D54C-9C73-4C2D-94B1-2E2DC340608D}"/>
              </a:ext>
            </a:extLst>
          </p:cNvPr>
          <p:cNvSpPr/>
          <p:nvPr/>
        </p:nvSpPr>
        <p:spPr>
          <a:xfrm>
            <a:off x="309363" y="1544157"/>
            <a:ext cx="2318374" cy="829993"/>
          </a:xfrm>
          <a:prstGeom prst="wedgeRoundRectCallout">
            <a:avLst>
              <a:gd name="adj1" fmla="val 85489"/>
              <a:gd name="adj2" fmla="val -66313"/>
              <a:gd name="adj3" fmla="val 16667"/>
            </a:avLst>
          </a:prstGeom>
          <a:noFill/>
          <a:ln>
            <a:solidFill>
              <a:srgbClr val="0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Belum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memiliki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err="1">
                <a:solidFill>
                  <a:schemeClr val="tx1"/>
                </a:solidFill>
              </a:rPr>
              <a:t>rek</a:t>
            </a:r>
            <a:r>
              <a:rPr lang="en-US" sz="2000" dirty="0">
                <a:solidFill>
                  <a:schemeClr val="tx1"/>
                </a:solidFill>
              </a:rPr>
              <a:t> regular/Non BSA </a:t>
            </a:r>
            <a:endParaRPr lang="en-ID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106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4294-80C5-437C-B45E-1C98198DF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93801"/>
            <a:ext cx="5791202" cy="792162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ALUR PEMBUKAAN REKENING BSA </a:t>
            </a:r>
            <a:r>
              <a:rPr lang="en-US" sz="3200" dirty="0" err="1"/>
              <a:t>BimaKU</a:t>
            </a:r>
            <a:r>
              <a:rPr lang="en-US" sz="3200" dirty="0"/>
              <a:t> PANDAI</a:t>
            </a:r>
            <a:endParaRPr lang="en-ID" sz="3200" dirty="0"/>
          </a:p>
        </p:txBody>
      </p:sp>
      <p:pic>
        <p:nvPicPr>
          <p:cNvPr id="4" name="object 9">
            <a:extLst>
              <a:ext uri="{FF2B5EF4-FFF2-40B4-BE49-F238E27FC236}">
                <a16:creationId xmlns:a16="http://schemas.microsoft.com/office/drawing/2014/main" id="{5C67773E-26E7-45D3-8F29-2685B00739C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1595" y="289129"/>
            <a:ext cx="1678813" cy="483755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1904565E-E2A0-4BF7-8B62-E3BF32718ECE}"/>
              </a:ext>
            </a:extLst>
          </p:cNvPr>
          <p:cNvSpPr/>
          <p:nvPr/>
        </p:nvSpPr>
        <p:spPr>
          <a:xfrm>
            <a:off x="7245278" y="2157543"/>
            <a:ext cx="274638" cy="27305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B87E50A-E25C-496F-B540-B575AD2D9776}"/>
              </a:ext>
            </a:extLst>
          </p:cNvPr>
          <p:cNvSpPr/>
          <p:nvPr/>
        </p:nvSpPr>
        <p:spPr>
          <a:xfrm>
            <a:off x="8814198" y="4090349"/>
            <a:ext cx="273050" cy="27463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rgbClr val="000000"/>
                </a:solidFill>
              </a:rPr>
              <a:t>3</a:t>
            </a:r>
          </a:p>
        </p:txBody>
      </p:sp>
      <p:pic>
        <p:nvPicPr>
          <p:cNvPr id="64" name="Picture 8">
            <a:extLst>
              <a:ext uri="{FF2B5EF4-FFF2-40B4-BE49-F238E27FC236}">
                <a16:creationId xmlns:a16="http://schemas.microsoft.com/office/drawing/2014/main" id="{21A4D0CC-9D17-4597-863B-C4E31C51C4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60430" y="1676870"/>
            <a:ext cx="1153527" cy="1671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Oval 64">
            <a:extLst>
              <a:ext uri="{FF2B5EF4-FFF2-40B4-BE49-F238E27FC236}">
                <a16:creationId xmlns:a16="http://schemas.microsoft.com/office/drawing/2014/main" id="{632EEEE4-40F5-4BD5-9B15-E735BCCDDBB3}"/>
              </a:ext>
            </a:extLst>
          </p:cNvPr>
          <p:cNvSpPr/>
          <p:nvPr/>
        </p:nvSpPr>
        <p:spPr>
          <a:xfrm>
            <a:off x="4221685" y="2493013"/>
            <a:ext cx="274637" cy="27463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rgbClr val="000000"/>
                </a:solidFill>
              </a:rPr>
              <a:t>6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3091323-9753-4FC1-9E97-D813DA4560AA}"/>
              </a:ext>
            </a:extLst>
          </p:cNvPr>
          <p:cNvSpPr/>
          <p:nvPr/>
        </p:nvSpPr>
        <p:spPr>
          <a:xfrm>
            <a:off x="7896324" y="2793531"/>
            <a:ext cx="274637" cy="27463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46F8DCB-B987-430D-96DA-1BB51B5CA231}"/>
              </a:ext>
            </a:extLst>
          </p:cNvPr>
          <p:cNvSpPr/>
          <p:nvPr/>
        </p:nvSpPr>
        <p:spPr>
          <a:xfrm>
            <a:off x="4770438" y="2930850"/>
            <a:ext cx="274637" cy="274637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8" name="Rounded Rectangle 49">
            <a:extLst>
              <a:ext uri="{FF2B5EF4-FFF2-40B4-BE49-F238E27FC236}">
                <a16:creationId xmlns:a16="http://schemas.microsoft.com/office/drawing/2014/main" id="{89918A2F-8F61-44D7-9452-B3B9C6350A7B}"/>
              </a:ext>
            </a:extLst>
          </p:cNvPr>
          <p:cNvSpPr/>
          <p:nvPr/>
        </p:nvSpPr>
        <p:spPr>
          <a:xfrm>
            <a:off x="1972452" y="3509236"/>
            <a:ext cx="2386551" cy="578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ID" dirty="0" err="1"/>
              <a:t>Calon</a:t>
            </a:r>
            <a:r>
              <a:rPr lang="en-ID" dirty="0"/>
              <a:t> </a:t>
            </a:r>
            <a:r>
              <a:rPr lang="id-ID" dirty="0"/>
              <a:t>Nasabah</a:t>
            </a:r>
            <a:r>
              <a:rPr lang="en-ID" dirty="0"/>
              <a:t> </a:t>
            </a:r>
            <a:r>
              <a:rPr lang="en-ID" dirty="0" err="1"/>
              <a:t>Agen</a:t>
            </a:r>
            <a:endParaRPr lang="id-ID" dirty="0"/>
          </a:p>
        </p:txBody>
      </p:sp>
      <p:pic>
        <p:nvPicPr>
          <p:cNvPr id="69" name="Picture 9">
            <a:extLst>
              <a:ext uri="{FF2B5EF4-FFF2-40B4-BE49-F238E27FC236}">
                <a16:creationId xmlns:a16="http://schemas.microsoft.com/office/drawing/2014/main" id="{CC4A0C41-28C0-4F53-9687-A6E81778B5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35359" y="1725612"/>
            <a:ext cx="1873250" cy="148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" name="Rounded Rectangle 40">
            <a:extLst>
              <a:ext uri="{FF2B5EF4-FFF2-40B4-BE49-F238E27FC236}">
                <a16:creationId xmlns:a16="http://schemas.microsoft.com/office/drawing/2014/main" id="{CBB3B7E1-85CC-414E-8707-19F4352DEDB0}"/>
              </a:ext>
            </a:extLst>
          </p:cNvPr>
          <p:cNvSpPr/>
          <p:nvPr/>
        </p:nvSpPr>
        <p:spPr>
          <a:xfrm>
            <a:off x="5737009" y="3418637"/>
            <a:ext cx="1371600" cy="3651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d-ID" dirty="0"/>
              <a:t>Agen</a:t>
            </a:r>
          </a:p>
        </p:txBody>
      </p:sp>
      <p:sp>
        <p:nvSpPr>
          <p:cNvPr id="71" name="Rounded Rectangle 41">
            <a:extLst>
              <a:ext uri="{FF2B5EF4-FFF2-40B4-BE49-F238E27FC236}">
                <a16:creationId xmlns:a16="http://schemas.microsoft.com/office/drawing/2014/main" id="{D2317802-4BCB-40F7-9984-6DBE85BCD35C}"/>
              </a:ext>
            </a:extLst>
          </p:cNvPr>
          <p:cNvSpPr/>
          <p:nvPr/>
        </p:nvSpPr>
        <p:spPr>
          <a:xfrm>
            <a:off x="8625881" y="1204373"/>
            <a:ext cx="1371600" cy="3667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id-ID" dirty="0"/>
              <a:t>Bank Jateng</a:t>
            </a:r>
          </a:p>
        </p:txBody>
      </p:sp>
      <p:sp>
        <p:nvSpPr>
          <p:cNvPr id="72" name="Right Arrow 23">
            <a:extLst>
              <a:ext uri="{FF2B5EF4-FFF2-40B4-BE49-F238E27FC236}">
                <a16:creationId xmlns:a16="http://schemas.microsoft.com/office/drawing/2014/main" id="{C1A22271-3AAD-4553-A448-94D2C8A25C8D}"/>
              </a:ext>
            </a:extLst>
          </p:cNvPr>
          <p:cNvSpPr/>
          <p:nvPr/>
        </p:nvSpPr>
        <p:spPr>
          <a:xfrm>
            <a:off x="4199978" y="2852835"/>
            <a:ext cx="549275" cy="39846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dirty="0"/>
          </a:p>
        </p:txBody>
      </p:sp>
      <p:sp>
        <p:nvSpPr>
          <p:cNvPr id="73" name="Right Arrow 28">
            <a:extLst>
              <a:ext uri="{FF2B5EF4-FFF2-40B4-BE49-F238E27FC236}">
                <a16:creationId xmlns:a16="http://schemas.microsoft.com/office/drawing/2014/main" id="{5BDB1DDC-4142-453C-86DB-71B0B66943F6}"/>
              </a:ext>
            </a:extLst>
          </p:cNvPr>
          <p:cNvSpPr/>
          <p:nvPr/>
        </p:nvSpPr>
        <p:spPr>
          <a:xfrm rot="5400000">
            <a:off x="8676086" y="3542505"/>
            <a:ext cx="549275" cy="398463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dirty="0"/>
          </a:p>
        </p:txBody>
      </p:sp>
      <p:sp>
        <p:nvSpPr>
          <p:cNvPr id="74" name="Right Arrow 30">
            <a:extLst>
              <a:ext uri="{FF2B5EF4-FFF2-40B4-BE49-F238E27FC236}">
                <a16:creationId xmlns:a16="http://schemas.microsoft.com/office/drawing/2014/main" id="{113DA4E4-AC6E-4BF2-9C5F-B00C389CA6DF}"/>
              </a:ext>
            </a:extLst>
          </p:cNvPr>
          <p:cNvSpPr/>
          <p:nvPr/>
        </p:nvSpPr>
        <p:spPr>
          <a:xfrm>
            <a:off x="7312987" y="2679034"/>
            <a:ext cx="549275" cy="396875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dirty="0"/>
          </a:p>
        </p:txBody>
      </p:sp>
      <p:sp>
        <p:nvSpPr>
          <p:cNvPr id="75" name="Rounded Rectangle 32">
            <a:extLst>
              <a:ext uri="{FF2B5EF4-FFF2-40B4-BE49-F238E27FC236}">
                <a16:creationId xmlns:a16="http://schemas.microsoft.com/office/drawing/2014/main" id="{1CA772D2-876E-4C8C-8477-A25B73A9F204}"/>
              </a:ext>
            </a:extLst>
          </p:cNvPr>
          <p:cNvSpPr/>
          <p:nvPr/>
        </p:nvSpPr>
        <p:spPr>
          <a:xfrm>
            <a:off x="7830410" y="6093034"/>
            <a:ext cx="1371600" cy="3651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 err="1"/>
              <a:t>Kemendagri</a:t>
            </a:r>
            <a:endParaRPr lang="id-ID" dirty="0"/>
          </a:p>
        </p:txBody>
      </p:sp>
      <p:sp>
        <p:nvSpPr>
          <p:cNvPr id="76" name="Right Arrow 34">
            <a:extLst>
              <a:ext uri="{FF2B5EF4-FFF2-40B4-BE49-F238E27FC236}">
                <a16:creationId xmlns:a16="http://schemas.microsoft.com/office/drawing/2014/main" id="{DD062BF1-8530-4DA3-8D94-693DD82FE8DB}"/>
              </a:ext>
            </a:extLst>
          </p:cNvPr>
          <p:cNvSpPr/>
          <p:nvPr/>
        </p:nvSpPr>
        <p:spPr>
          <a:xfrm rot="10800000">
            <a:off x="7511194" y="2135501"/>
            <a:ext cx="549275" cy="39846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dirty="0"/>
          </a:p>
        </p:txBody>
      </p:sp>
      <p:sp>
        <p:nvSpPr>
          <p:cNvPr id="77" name="Right Arrow 36">
            <a:extLst>
              <a:ext uri="{FF2B5EF4-FFF2-40B4-BE49-F238E27FC236}">
                <a16:creationId xmlns:a16="http://schemas.microsoft.com/office/drawing/2014/main" id="{683D8CAA-D6E2-463F-8719-8FBE507BF07D}"/>
              </a:ext>
            </a:extLst>
          </p:cNvPr>
          <p:cNvSpPr/>
          <p:nvPr/>
        </p:nvSpPr>
        <p:spPr>
          <a:xfrm rot="10800000">
            <a:off x="4543339" y="2401240"/>
            <a:ext cx="549275" cy="39846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dirty="0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4DEE97B-79BC-4C27-8F59-EFDB0B52401C}"/>
              </a:ext>
            </a:extLst>
          </p:cNvPr>
          <p:cNvSpPr/>
          <p:nvPr/>
        </p:nvSpPr>
        <p:spPr>
          <a:xfrm>
            <a:off x="9397787" y="3518981"/>
            <a:ext cx="274638" cy="27463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79" name="Rounded Rectangle 2">
            <a:extLst>
              <a:ext uri="{FF2B5EF4-FFF2-40B4-BE49-F238E27FC236}">
                <a16:creationId xmlns:a16="http://schemas.microsoft.com/office/drawing/2014/main" id="{E2623614-5998-44CD-B027-55C29CF93A22}"/>
              </a:ext>
            </a:extLst>
          </p:cNvPr>
          <p:cNvSpPr/>
          <p:nvPr/>
        </p:nvSpPr>
        <p:spPr>
          <a:xfrm>
            <a:off x="2596884" y="1049298"/>
            <a:ext cx="1455551" cy="5217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2400" b="1" dirty="0"/>
              <a:t>e</a:t>
            </a:r>
            <a:r>
              <a:rPr lang="en-ID" b="1" dirty="0"/>
              <a:t> -  KTP</a:t>
            </a:r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5830F3CF-B9DF-44D4-B388-01F11F2BF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984" y="4441752"/>
            <a:ext cx="4343400" cy="1489075"/>
          </a:xfrm>
          <a:prstGeom prst="rect">
            <a:avLst/>
          </a:prstGeom>
        </p:spPr>
      </p:pic>
      <p:sp>
        <p:nvSpPr>
          <p:cNvPr id="82" name="Left Arrow 24">
            <a:hlinkClick r:id="" action="ppaction://noaction"/>
            <a:extLst>
              <a:ext uri="{FF2B5EF4-FFF2-40B4-BE49-F238E27FC236}">
                <a16:creationId xmlns:a16="http://schemas.microsoft.com/office/drawing/2014/main" id="{928FA2AD-8830-4D9D-9F53-CBE142BF71C7}"/>
              </a:ext>
            </a:extLst>
          </p:cNvPr>
          <p:cNvSpPr/>
          <p:nvPr/>
        </p:nvSpPr>
        <p:spPr>
          <a:xfrm>
            <a:off x="10599899" y="4859791"/>
            <a:ext cx="952500" cy="5334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dirty="0"/>
              <a:t>Back</a:t>
            </a:r>
          </a:p>
        </p:txBody>
      </p:sp>
      <p:pic>
        <p:nvPicPr>
          <p:cNvPr id="84" name="Picture 3">
            <a:extLst>
              <a:ext uri="{FF2B5EF4-FFF2-40B4-BE49-F238E27FC236}">
                <a16:creationId xmlns:a16="http://schemas.microsoft.com/office/drawing/2014/main" id="{289A6C60-C48C-4274-8647-6E07B3B41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13330" y="1598629"/>
            <a:ext cx="1873250" cy="1892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loud 2">
            <a:extLst>
              <a:ext uri="{FF2B5EF4-FFF2-40B4-BE49-F238E27FC236}">
                <a16:creationId xmlns:a16="http://schemas.microsoft.com/office/drawing/2014/main" id="{B2EAE633-C4B0-4B89-9A8A-33618FB76661}"/>
              </a:ext>
            </a:extLst>
          </p:cNvPr>
          <p:cNvSpPr/>
          <p:nvPr/>
        </p:nvSpPr>
        <p:spPr>
          <a:xfrm>
            <a:off x="1392026" y="4435356"/>
            <a:ext cx="3843333" cy="2133515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Bank </a:t>
            </a:r>
            <a:r>
              <a:rPr lang="en-US" dirty="0" err="1">
                <a:solidFill>
                  <a:schemeClr val="tx1"/>
                </a:solidFill>
              </a:rPr>
              <a:t>hanya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dapat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membukakan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rekening</a:t>
            </a:r>
            <a:r>
              <a:rPr lang="en-US" dirty="0">
                <a:solidFill>
                  <a:schemeClr val="tx1"/>
                </a:solidFill>
              </a:rPr>
              <a:t> BSA </a:t>
            </a:r>
            <a:r>
              <a:rPr lang="en-US" dirty="0" err="1">
                <a:solidFill>
                  <a:schemeClr val="tx1"/>
                </a:solidFill>
              </a:rPr>
              <a:t>kepada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calon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nasabah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b="1" dirty="0" err="1">
                <a:solidFill>
                  <a:srgbClr val="C00000"/>
                </a:solidFill>
              </a:rPr>
              <a:t>tidak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memiliki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err="1">
                <a:solidFill>
                  <a:srgbClr val="C00000"/>
                </a:solidFill>
              </a:rPr>
              <a:t>tabungan</a:t>
            </a:r>
            <a:r>
              <a:rPr lang="en-US" b="1" dirty="0">
                <a:solidFill>
                  <a:srgbClr val="C00000"/>
                </a:solidFill>
              </a:rPr>
              <a:t> lain</a:t>
            </a:r>
            <a:endParaRPr lang="en-ID" b="1" dirty="0">
              <a:solidFill>
                <a:srgbClr val="C00000"/>
              </a:solidFill>
            </a:endParaRPr>
          </a:p>
        </p:txBody>
      </p:sp>
      <p:sp>
        <p:nvSpPr>
          <p:cNvPr id="86" name="Right Arrow 25">
            <a:extLst>
              <a:ext uri="{FF2B5EF4-FFF2-40B4-BE49-F238E27FC236}">
                <a16:creationId xmlns:a16="http://schemas.microsoft.com/office/drawing/2014/main" id="{10F4E5F1-0064-42D2-9F31-09C6609725D3}"/>
              </a:ext>
            </a:extLst>
          </p:cNvPr>
          <p:cNvSpPr/>
          <p:nvPr/>
        </p:nvSpPr>
        <p:spPr>
          <a:xfrm rot="16200000">
            <a:off x="9260469" y="3907408"/>
            <a:ext cx="549275" cy="39846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445771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FF8A7-CCDD-4524-81BA-A8B1DC088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7428" y="292275"/>
            <a:ext cx="7849772" cy="792162"/>
          </a:xfrm>
        </p:spPr>
        <p:txBody>
          <a:bodyPr>
            <a:noAutofit/>
          </a:bodyPr>
          <a:lstStyle/>
          <a:p>
            <a:r>
              <a:rPr lang="en-US" sz="3200" dirty="0"/>
              <a:t>PELAPORAN</a:t>
            </a:r>
            <a:endParaRPr lang="en-ID" sz="32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41CFE2E-7785-4069-B0AE-06EEB1144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353014"/>
              </p:ext>
            </p:extLst>
          </p:nvPr>
        </p:nvGraphicFramePr>
        <p:xfrm>
          <a:off x="406400" y="1659987"/>
          <a:ext cx="10833686" cy="4452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28239667"/>
      </p:ext>
    </p:extLst>
  </p:cSld>
  <p:clrMapOvr>
    <a:masterClrMapping/>
  </p:clrMapOvr>
</p:sld>
</file>

<file path=ppt/theme/theme1.xml><?xml version="1.0" encoding="utf-8"?>
<a:theme xmlns:a="http://schemas.openxmlformats.org/drawingml/2006/main" name="1_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13819</TotalTime>
  <Words>2651</Words>
  <Application>Microsoft Office PowerPoint</Application>
  <PresentationFormat>Widescreen</PresentationFormat>
  <Paragraphs>471</Paragraphs>
  <Slides>26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Arial</vt:lpstr>
      <vt:lpstr>Arial Black</vt:lpstr>
      <vt:lpstr>Arial MT</vt:lpstr>
      <vt:lpstr>Arial Narrow</vt:lpstr>
      <vt:lpstr>Bahnschrift</vt:lpstr>
      <vt:lpstr>Calibri</vt:lpstr>
      <vt:lpstr>Gill Sans MT</vt:lpstr>
      <vt:lpstr>Times New Roman</vt:lpstr>
      <vt:lpstr>Tw Cen MT</vt:lpstr>
      <vt:lpstr>Wingdings</vt:lpstr>
      <vt:lpstr>1_Droplet</vt:lpstr>
      <vt:lpstr>Document</vt:lpstr>
      <vt:lpstr>PowerPoint Presentation</vt:lpstr>
      <vt:lpstr>PowerPoint Presentation</vt:lpstr>
      <vt:lpstr>PowerPoint Presentation</vt:lpstr>
      <vt:lpstr>SIAPAKAH AGEN LAKU PANDAI BANK JATENG?</vt:lpstr>
      <vt:lpstr>Manfaat Menjadi Agen Duta</vt:lpstr>
      <vt:lpstr>Layanan Agen Duta Bank Jateng</vt:lpstr>
      <vt:lpstr>Perjanjian Kerjasama</vt:lpstr>
      <vt:lpstr>HAK &amp; KEWAJIBAN AGEN DUTA</vt:lpstr>
      <vt:lpstr>Perjanjian Kerjasama Agen Duta</vt:lpstr>
      <vt:lpstr>Insentif agen duta</vt:lpstr>
      <vt:lpstr>Tarif insentif baru</vt:lpstr>
      <vt:lpstr>Tarif insentif baru</vt:lpstr>
      <vt:lpstr>Pelatihan &amp; edukasi agen</vt:lpstr>
      <vt:lpstr>SURAT PENUNJUKAN AGEN &amp; TANda pengenal agen duta</vt:lpstr>
      <vt:lpstr>Penghentian PKS</vt:lpstr>
      <vt:lpstr>Penghentian PKS</vt:lpstr>
      <vt:lpstr>Operasionalisasi agen duta</vt:lpstr>
      <vt:lpstr>PowerPoint Presentation</vt:lpstr>
      <vt:lpstr>PowerPoint Presentation</vt:lpstr>
      <vt:lpstr>Bagaimana Cara menjadi Agen DUTA</vt:lpstr>
      <vt:lpstr>Registrasi laku pandai g.2</vt:lpstr>
      <vt:lpstr>url Uniform Resource Locator</vt:lpstr>
      <vt:lpstr>PowerPoint Presentation</vt:lpstr>
      <vt:lpstr>Apa itu Tabungan dengan karakteristik BSA</vt:lpstr>
      <vt:lpstr>ALUR PEMBUKAAN REKENING BSA BimaKU PANDAI</vt:lpstr>
      <vt:lpstr>PELAPORAN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admins</dc:creator>
  <cp:lastModifiedBy>optiplex</cp:lastModifiedBy>
  <cp:revision>135</cp:revision>
  <dcterms:created xsi:type="dcterms:W3CDTF">2022-06-15T03:42:45Z</dcterms:created>
  <dcterms:modified xsi:type="dcterms:W3CDTF">2022-09-14T09:33:23Z</dcterms:modified>
</cp:coreProperties>
</file>