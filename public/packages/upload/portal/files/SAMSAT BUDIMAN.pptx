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8" r:id="rId2"/>
    <p:sldId id="261" r:id="rId3"/>
    <p:sldId id="271" r:id="rId4"/>
    <p:sldId id="263" r:id="rId5"/>
    <p:sldId id="265" r:id="rId6"/>
    <p:sldId id="270" r:id="rId7"/>
    <p:sldId id="272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8" autoAdjust="0"/>
    <p:restoredTop sz="94660"/>
  </p:normalViewPr>
  <p:slideViewPr>
    <p:cSldViewPr snapToGrid="0">
      <p:cViewPr varScale="1">
        <p:scale>
          <a:sx n="82" d="100"/>
          <a:sy n="82" d="100"/>
        </p:scale>
        <p:origin x="86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10" Type="http://schemas.openxmlformats.org/officeDocument/2006/relationships/image" Target="../media/image2.emf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8229601" y="0"/>
            <a:ext cx="39624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id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en-US" altLang="id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altLang="id-ID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Kamis, 15 September 2022</a:t>
            </a:r>
            <a:endParaRPr lang="id-ID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id-ID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id-ID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id-ID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id-ID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id-ID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id-ID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id-ID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id-ID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774"/>
            <a:ext cx="8060675" cy="35818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2178" y="5305371"/>
            <a:ext cx="3945050" cy="293071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 rot="5400000" flipV="1">
            <a:off x="-408874" y="542193"/>
            <a:ext cx="1155600" cy="7121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-61769" y="3882643"/>
            <a:ext cx="8184211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SAMSAT </a:t>
            </a:r>
            <a:r>
              <a:rPr lang="en-US" sz="3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BUMDes</a:t>
            </a: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DIGITAL MANDIRI “SAMSAT BUDIMAN”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UNTUK MENINGKATKAN MUTU PELAYANAN </a:t>
            </a:r>
          </a:p>
          <a:p>
            <a:pPr algn="ctr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PEMBAYARAN PAJAK KENDARAAN BERMOTOR </a:t>
            </a:r>
          </a:p>
          <a:p>
            <a:pPr algn="ctr"/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 PROVINSI JAWA TENGAH</a:t>
            </a:r>
            <a:endParaRPr lang="en-US" sz="1600" dirty="0">
              <a:solidFill>
                <a:srgbClr val="13317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893"/>
            <a:ext cx="6172187" cy="34718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37" r="133" b="11341"/>
          <a:stretch>
            <a:fillRect/>
          </a:stretch>
        </p:blipFill>
        <p:spPr>
          <a:xfrm>
            <a:off x="6168568" y="0"/>
            <a:ext cx="6019846" cy="3463962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6160120" y="-7893"/>
            <a:ext cx="6027868" cy="3471856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2" t="34208" r="13037"/>
          <a:stretch>
            <a:fillRect/>
          </a:stretch>
        </p:blipFill>
        <p:spPr>
          <a:xfrm>
            <a:off x="-10759" y="3485477"/>
            <a:ext cx="6174891" cy="3372521"/>
          </a:xfrm>
          <a:prstGeom prst="rect">
            <a:avLst/>
          </a:prstGeom>
          <a:noFill/>
        </p:spPr>
      </p:pic>
      <p:sp>
        <p:nvSpPr>
          <p:cNvPr id="28" name="Rectangle 27"/>
          <p:cNvSpPr/>
          <p:nvPr/>
        </p:nvSpPr>
        <p:spPr>
          <a:xfrm>
            <a:off x="-10759" y="3474720"/>
            <a:ext cx="6174891" cy="3383280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06"/>
          <a:stretch>
            <a:fillRect/>
          </a:stretch>
        </p:blipFill>
        <p:spPr>
          <a:xfrm>
            <a:off x="6168569" y="3474720"/>
            <a:ext cx="6023431" cy="33886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1" y="1"/>
            <a:ext cx="6168571" cy="3474719"/>
          </a:xfrm>
          <a:prstGeom prst="rect">
            <a:avLst/>
          </a:prstGeom>
          <a:solidFill>
            <a:srgbClr val="604900">
              <a:alpha val="756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371317" y="4212072"/>
            <a:ext cx="34259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700" b="1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</a:t>
            </a:r>
            <a:r>
              <a:rPr lang="en-US" sz="17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d-ID" sz="17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Masyarakat / Komunitas</a:t>
            </a:r>
            <a:endParaRPr lang="en-US" sz="17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68570" y="3474720"/>
            <a:ext cx="6023430" cy="3383279"/>
          </a:xfrm>
          <a:prstGeom prst="rect">
            <a:avLst/>
          </a:prstGeom>
          <a:solidFill>
            <a:srgbClr val="13317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00840" y="4698983"/>
            <a:ext cx="4648737" cy="192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Menerima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kemudahan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layanan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pembayaran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pajak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kendaraan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bermotor</a:t>
            </a:r>
            <a:r>
              <a:rPr lang="id-ID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US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Dengan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meningkatnya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PAD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dari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sektor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Pajak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Daerah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akan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berimbas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pada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pembangunan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sarana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prasarana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yang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berkualitas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(Melalui Bagi Hasil Pajak ke Kab/ Kota, Bantuan Sosial ke Masyarakat)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362" y="5139861"/>
            <a:ext cx="880863" cy="8808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06808" y="273345"/>
            <a:ext cx="249696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</a:t>
            </a:r>
            <a:r>
              <a:rPr lang="en-US" sz="17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d-ID" sz="17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Dunia Usaha</a:t>
            </a:r>
            <a:endParaRPr lang="en-US" sz="17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91238" y="728635"/>
            <a:ext cx="4033906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Meningkatkan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kualitas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pelayanan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pembayaran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pajak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kendaraan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bermotor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lvl="0" algn="just"/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Efisiensi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waktu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pelayanan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kepada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masyarakat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lvl="0" algn="just"/>
            <a:r>
              <a:rPr lang="en-US" sz="17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Mampu</a:t>
            </a:r>
            <a:r>
              <a:rPr lang="en-US" sz="17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mengembangkan</a:t>
            </a:r>
            <a:r>
              <a:rPr lang="en-US" sz="17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potensi</a:t>
            </a:r>
            <a:r>
              <a:rPr lang="en-US" sz="17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usaha</a:t>
            </a:r>
            <a:r>
              <a:rPr lang="en-US" sz="17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1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2094" y="1348842"/>
            <a:ext cx="880863" cy="8808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71353" y="616212"/>
            <a:ext cx="262283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7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</a:t>
            </a:r>
            <a:r>
              <a:rPr lang="en-US" sz="17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d-ID" sz="17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Perguruan Tinggi</a:t>
            </a:r>
            <a:endParaRPr lang="en-US" sz="17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42408" y="1469713"/>
            <a:ext cx="4266969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7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Terbentuknya</a:t>
            </a:r>
            <a:r>
              <a:rPr lang="en-US" sz="17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id-ID" sz="17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jejaring dan kolaborasi riset terkait dengan </a:t>
            </a:r>
            <a:r>
              <a:rPr lang="en-US" sz="17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mekanisme</a:t>
            </a:r>
            <a:r>
              <a:rPr lang="en-US" sz="17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pemungutan</a:t>
            </a:r>
            <a:r>
              <a:rPr lang="en-US" sz="17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pajak</a:t>
            </a:r>
            <a:r>
              <a:rPr lang="en-US" sz="17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daerah</a:t>
            </a:r>
            <a:endParaRPr lang="en-US" sz="17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10520" y="1493776"/>
            <a:ext cx="880863" cy="8808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12169" y="3993079"/>
            <a:ext cx="160199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7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 </a:t>
            </a:r>
            <a:r>
              <a:rPr lang="id-ID" sz="17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</a:t>
            </a:r>
            <a:endParaRPr lang="nb-NO" sz="1700" b="1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77626" y="4362411"/>
            <a:ext cx="4512774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d-ID" dirty="0">
                <a:solidFill>
                  <a:schemeClr val="bg1"/>
                </a:solidFill>
              </a:rPr>
              <a:t>Menerima manfaat berupa akses informasi terkait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pelayanan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pembayaran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pajak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kendaraan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bermotor</a:t>
            </a:r>
            <a:r>
              <a:rPr lang="en-US" dirty="0">
                <a:solidFill>
                  <a:schemeClr val="bg1"/>
                </a:solidFill>
              </a:rPr>
              <a:t> di </a:t>
            </a:r>
            <a:r>
              <a:rPr lang="en-US" dirty="0" err="1">
                <a:solidFill>
                  <a:schemeClr val="bg1"/>
                </a:solidFill>
              </a:rPr>
              <a:t>BUMDes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710375" y="4662455"/>
            <a:ext cx="880863" cy="8808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68" y="1573164"/>
            <a:ext cx="631872" cy="631872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026" y="1454975"/>
            <a:ext cx="673058" cy="673058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48" y="5270259"/>
            <a:ext cx="625716" cy="625716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645" y="4797746"/>
            <a:ext cx="629366" cy="62936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648269" y="2748064"/>
            <a:ext cx="4888228" cy="1360398"/>
          </a:xfrm>
          <a:prstGeom prst="rect">
            <a:avLst/>
          </a:prstGeom>
          <a:solidFill>
            <a:srgbClr val="0C1F48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id-ID" sz="17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 Pemerintah :</a:t>
            </a:r>
          </a:p>
          <a:p>
            <a:r>
              <a:rPr lang="en-US" sz="17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Mendukung</a:t>
            </a:r>
            <a:r>
              <a:rPr lang="en-US" sz="17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pencapaian</a:t>
            </a:r>
            <a:r>
              <a:rPr lang="en-US" sz="17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target </a:t>
            </a:r>
            <a:r>
              <a:rPr lang="en-US" sz="17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penerimaan</a:t>
            </a:r>
            <a:r>
              <a:rPr lang="en-US" sz="17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</a:t>
            </a:r>
            <a:r>
              <a:rPr lang="en-US" sz="17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Pajak</a:t>
            </a:r>
            <a:r>
              <a:rPr lang="en-US" sz="17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Kendaraan</a:t>
            </a:r>
            <a:r>
              <a:rPr lang="en-US" sz="17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Bermotor</a:t>
            </a:r>
            <a:r>
              <a:rPr lang="en-US" sz="17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endParaRPr lang="en-US" sz="17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972525" y="5613226"/>
            <a:ext cx="3945050" cy="2930715"/>
          </a:xfrm>
          <a:prstGeom prst="rect">
            <a:avLst/>
          </a:prstGeom>
        </p:spPr>
      </p:pic>
      <p:sp>
        <p:nvSpPr>
          <p:cNvPr id="41" name="Flowchart: Preparation 40"/>
          <p:cNvSpPr/>
          <p:nvPr/>
        </p:nvSpPr>
        <p:spPr>
          <a:xfrm>
            <a:off x="11709400" y="6347691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fld id="{6390FB38-D6F0-4FD4-8FCF-1C1CBE27A4B5}" type="slidenum">
              <a:rPr lang="en-US" sz="12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fld>
            <a:endParaRPr lang="en-US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0" y="3060437"/>
            <a:ext cx="31474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4800" b="1" dirty="0">
                <a:solidFill>
                  <a:srgbClr val="0C1F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MANFAAT</a:t>
            </a:r>
            <a:endParaRPr lang="en-US" sz="4800" b="1" dirty="0">
              <a:solidFill>
                <a:srgbClr val="0C1F4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8229601" y="0"/>
            <a:ext cx="39624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id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en-US" altLang="id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id-ID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id-ID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id-ID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id-ID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id-ID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id-ID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id-ID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id-ID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20" y="183816"/>
            <a:ext cx="8096282" cy="26019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2178" y="5305371"/>
            <a:ext cx="3945050" cy="293071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 rot="5400000" flipV="1">
            <a:off x="-408874" y="542193"/>
            <a:ext cx="1155600" cy="7121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5391" y="2655424"/>
            <a:ext cx="81842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id-ID" sz="3600" b="1" spc="-40" dirty="0">
                <a:solidFill>
                  <a:srgbClr val="0070C0"/>
                </a:solidFill>
                <a:latin typeface="Baskerville Old Face" pitchFamily="18" charset="0"/>
                <a:cs typeface="Arial" panose="020B0604020202020204" pitchFamily="34" charset="0"/>
              </a:rPr>
              <a:t>SEMUA PROSES PEMBAYARAN </a:t>
            </a:r>
          </a:p>
          <a:p>
            <a:pPr algn="ctr"/>
            <a:r>
              <a:rPr lang="en-US" altLang="id-ID" sz="3600" b="1" spc="-40" dirty="0">
                <a:solidFill>
                  <a:srgbClr val="0070C0"/>
                </a:solidFill>
                <a:latin typeface="Baskerville Old Face" pitchFamily="18" charset="0"/>
                <a:cs typeface="Arial" panose="020B0604020202020204" pitchFamily="34" charset="0"/>
              </a:rPr>
              <a:t>PAJAK KENDARAAN BERMOTOR </a:t>
            </a:r>
          </a:p>
          <a:p>
            <a:pPr algn="ctr"/>
            <a:r>
              <a:rPr lang="en-US" altLang="id-ID" sz="3600" b="1" spc="-40" dirty="0">
                <a:solidFill>
                  <a:srgbClr val="0070C0"/>
                </a:solidFill>
                <a:latin typeface="Baskerville Old Face" pitchFamily="18" charset="0"/>
                <a:cs typeface="Arial" panose="020B0604020202020204" pitchFamily="34" charset="0"/>
              </a:rPr>
              <a:t>DAPAT SELESAI DI </a:t>
            </a:r>
            <a:r>
              <a:rPr lang="en-US" altLang="id-ID" sz="3600" b="1" spc="-40" dirty="0" err="1">
                <a:solidFill>
                  <a:srgbClr val="0070C0"/>
                </a:solidFill>
                <a:latin typeface="Baskerville Old Face" pitchFamily="18" charset="0"/>
                <a:cs typeface="Arial" panose="020B0604020202020204" pitchFamily="34" charset="0"/>
              </a:rPr>
              <a:t>BUMDesa</a:t>
            </a:r>
            <a:r>
              <a:rPr lang="id-ID" sz="3600" b="1" spc="-40" dirty="0">
                <a:solidFill>
                  <a:srgbClr val="0070C0"/>
                </a:solidFill>
                <a:latin typeface="Baskerville Old Face" pitchFamily="18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altLang="id-ID" sz="3600" b="1" spc="-40" dirty="0" err="1">
                <a:solidFill>
                  <a:srgbClr val="0070C0"/>
                </a:solidFill>
                <a:latin typeface="Baskerville Old Face" pitchFamily="18" charset="0"/>
                <a:cs typeface="Arial" panose="020B0604020202020204" pitchFamily="34" charset="0"/>
              </a:rPr>
              <a:t>Dengan</a:t>
            </a:r>
            <a:br>
              <a:rPr lang="en-US" altLang="id-ID" sz="3600" b="1" spc="-40" dirty="0">
                <a:latin typeface="Baskerville Old Face" pitchFamily="18" charset="0"/>
                <a:cs typeface="Arial" panose="020B0604020202020204" pitchFamily="34" charset="0"/>
              </a:rPr>
            </a:br>
            <a:r>
              <a:rPr lang="en-US" altLang="id-ID" sz="3600" b="1" spc="-40" dirty="0">
                <a:latin typeface="Baskerville Old Face" pitchFamily="18" charset="0"/>
                <a:cs typeface="Arial" panose="020B0604020202020204" pitchFamily="34" charset="0"/>
              </a:rPr>
              <a:t>SAMSAT BUDIMAN</a:t>
            </a:r>
          </a:p>
        </p:txBody>
      </p:sp>
      <p:sp>
        <p:nvSpPr>
          <p:cNvPr id="8" name="Oval 7"/>
          <p:cNvSpPr/>
          <p:nvPr/>
        </p:nvSpPr>
        <p:spPr>
          <a:xfrm>
            <a:off x="9255100" y="2473299"/>
            <a:ext cx="1911401" cy="1911401"/>
          </a:xfrm>
          <a:prstGeom prst="ellipse">
            <a:avLst/>
          </a:prstGeom>
          <a:noFill/>
          <a:ln w="28575" cap="rnd">
            <a:solidFill>
              <a:schemeClr val="bg1"/>
            </a:solidFill>
            <a:prstDash val="sys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900" y="2832098"/>
            <a:ext cx="1193801" cy="1193801"/>
          </a:xfrm>
          <a:prstGeom prst="rect">
            <a:avLst/>
          </a:prstGeom>
        </p:spPr>
      </p:pic>
      <p:sp>
        <p:nvSpPr>
          <p:cNvPr id="10" name="Flowchart: Preparation 9"/>
          <p:cNvSpPr/>
          <p:nvPr/>
        </p:nvSpPr>
        <p:spPr>
          <a:xfrm>
            <a:off x="11709400" y="6347691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id-I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endParaRPr lang="en-US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68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371475" y="829339"/>
            <a:ext cx="11449050" cy="5708851"/>
          </a:xfrm>
          <a:prstGeom prst="roundRect">
            <a:avLst>
              <a:gd name="adj" fmla="val 1862"/>
            </a:avLst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726288" y="84495"/>
            <a:ext cx="239585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E-TBPKP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78" y="124902"/>
            <a:ext cx="612756" cy="61275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112787"/>
            <a:ext cx="609743" cy="60974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6175" y="-1641109"/>
            <a:ext cx="3945050" cy="293071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605337"/>
            <a:ext cx="12192000" cy="2526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5400000" flipV="1">
            <a:off x="-408874" y="542193"/>
            <a:ext cx="1155600" cy="7121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72525" y="5613226"/>
            <a:ext cx="3945050" cy="2930715"/>
          </a:xfrm>
          <a:prstGeom prst="rect">
            <a:avLst/>
          </a:prstGeom>
        </p:spPr>
      </p:pic>
      <p:sp>
        <p:nvSpPr>
          <p:cNvPr id="17" name="Flowchart: Preparation 16"/>
          <p:cNvSpPr/>
          <p:nvPr/>
        </p:nvSpPr>
        <p:spPr>
          <a:xfrm>
            <a:off x="11709400" y="6347691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fld id="{6390FB38-D6F0-4FD4-8FCF-1C1CBE27A4B5}" type="slidenum">
              <a:rPr lang="en-US" sz="12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fld>
            <a:endParaRPr lang="en-US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Content Placeholder 1" descr="e TBPKP"/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871855" y="1450975"/>
            <a:ext cx="10443845" cy="45015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371475" y="829339"/>
            <a:ext cx="11449050" cy="5708851"/>
          </a:xfrm>
          <a:prstGeom prst="roundRect">
            <a:avLst>
              <a:gd name="adj" fmla="val 1862"/>
            </a:avLst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55168" y="94655"/>
            <a:ext cx="458787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E-PENGESAHAAN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78" y="124902"/>
            <a:ext cx="612756" cy="61275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112787"/>
            <a:ext cx="609743" cy="60974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6175" y="-1641109"/>
            <a:ext cx="3945050" cy="293071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605337"/>
            <a:ext cx="12192000" cy="2526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5400000" flipV="1">
            <a:off x="-408874" y="542193"/>
            <a:ext cx="1155600" cy="7121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72525" y="5613226"/>
            <a:ext cx="3945050" cy="2930715"/>
          </a:xfrm>
          <a:prstGeom prst="rect">
            <a:avLst/>
          </a:prstGeom>
        </p:spPr>
      </p:pic>
      <p:sp>
        <p:nvSpPr>
          <p:cNvPr id="17" name="Flowchart: Preparation 16"/>
          <p:cNvSpPr/>
          <p:nvPr/>
        </p:nvSpPr>
        <p:spPr>
          <a:xfrm>
            <a:off x="11709400" y="6347691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fld id="{6390FB38-D6F0-4FD4-8FCF-1C1CBE27A4B5}" type="slidenum">
              <a:rPr lang="en-US" sz="12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fld>
            <a:endParaRPr lang="en-US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Content Placeholder 3" descr="e sah"/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852930" y="929005"/>
            <a:ext cx="8275955" cy="55492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19" y="125392"/>
            <a:ext cx="11888395" cy="65462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2178" y="5305371"/>
            <a:ext cx="3945050" cy="293071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 rot="5400000" flipV="1">
            <a:off x="-408874" y="542193"/>
            <a:ext cx="1155600" cy="7121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9592" y="1389196"/>
            <a:ext cx="2219691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i-FI" b="1" dirty="0">
                <a:solidFill>
                  <a:schemeClr val="tx2">
                    <a:lumMod val="75000"/>
                  </a:schemeClr>
                </a:solidFill>
                <a:latin typeface="Baskerville Old Face" pitchFamily="18" charset="0"/>
              </a:rPr>
              <a:t>BUMDES MENGAJUKAN PERMOHONAN KERJASAMA KE UPPD</a:t>
            </a:r>
          </a:p>
        </p:txBody>
      </p:sp>
      <p:sp>
        <p:nvSpPr>
          <p:cNvPr id="8" name="Rectangle 7"/>
          <p:cNvSpPr/>
          <p:nvPr/>
        </p:nvSpPr>
        <p:spPr>
          <a:xfrm>
            <a:off x="2628486" y="1708493"/>
            <a:ext cx="2985506" cy="25853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Baskerville Old Face" pitchFamily="18" charset="0"/>
              </a:rPr>
              <a:t>UPPD VERIFIKASI PERSYARATAN :</a:t>
            </a: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Baskerville Old Face" pitchFamily="18" charset="0"/>
              </a:rPr>
              <a:t>- LOKASI</a:t>
            </a: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Baskerville Old Face" pitchFamily="18" charset="0"/>
              </a:rPr>
              <a:t>- TEMPAT PELAYANAN</a:t>
            </a: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Baskerville Old Face" pitchFamily="18" charset="0"/>
              </a:rPr>
              <a:t>- SDM</a:t>
            </a: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Baskerville Old Face" pitchFamily="18" charset="0"/>
              </a:rPr>
              <a:t>-  JARINGAN INTERNET</a:t>
            </a: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Baskerville Old Face" pitchFamily="18" charset="0"/>
              </a:rPr>
              <a:t>- KOMPUTER/LAPTOP</a:t>
            </a: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Baskerville Old Face" pitchFamily="18" charset="0"/>
              </a:rPr>
              <a:t>- PRINTER WARNA</a:t>
            </a: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Baskerville Old Face" pitchFamily="18" charset="0"/>
              </a:rPr>
              <a:t>- WEB CAM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141B9-7FEE-42DE-BD4D-B2DA5189DC39}"/>
              </a:ext>
            </a:extLst>
          </p:cNvPr>
          <p:cNvSpPr txBox="1"/>
          <p:nvPr/>
        </p:nvSpPr>
        <p:spPr>
          <a:xfrm>
            <a:off x="5869170" y="2327486"/>
            <a:ext cx="2434857" cy="1754326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id-ID" b="1" spc="-40" dirty="0">
                <a:solidFill>
                  <a:schemeClr val="tx2">
                    <a:lumMod val="75000"/>
                  </a:schemeClr>
                </a:solidFill>
                <a:latin typeface="Baskerville Old Face" pitchFamily="18" charset="0"/>
                <a:cs typeface="Arial" panose="020B0604020202020204" pitchFamily="34" charset="0"/>
              </a:rPr>
              <a:t>PERJANJIAN TEKNIS </a:t>
            </a:r>
          </a:p>
          <a:p>
            <a:r>
              <a:rPr lang="en-US" altLang="id-ID" b="1" spc="-40" dirty="0">
                <a:solidFill>
                  <a:schemeClr val="tx2">
                    <a:lumMod val="75000"/>
                  </a:schemeClr>
                </a:solidFill>
                <a:latin typeface="Baskerville Old Face" pitchFamily="18" charset="0"/>
                <a:cs typeface="Arial" panose="020B0604020202020204" pitchFamily="34" charset="0"/>
              </a:rPr>
              <a:t>1. UPPD DGN BUMDES</a:t>
            </a:r>
          </a:p>
          <a:p>
            <a:r>
              <a:rPr lang="en-US" altLang="id-ID" b="1" spc="-40" dirty="0">
                <a:solidFill>
                  <a:schemeClr val="tx2">
                    <a:lumMod val="75000"/>
                  </a:schemeClr>
                </a:solidFill>
                <a:latin typeface="Baskerville Old Face" pitchFamily="18" charset="0"/>
                <a:cs typeface="Arial" panose="020B0604020202020204" pitchFamily="34" charset="0"/>
              </a:rPr>
              <a:t>2. BUMDES DGN BANK JATENG SETEMPAT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128B27-C3A6-43E7-B9C1-A384972732E8}"/>
              </a:ext>
            </a:extLst>
          </p:cNvPr>
          <p:cNvSpPr txBox="1"/>
          <p:nvPr/>
        </p:nvSpPr>
        <p:spPr>
          <a:xfrm>
            <a:off x="8640472" y="2578201"/>
            <a:ext cx="3236095" cy="4093428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id-ID" sz="2000" b="1" spc="-4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UPPD MEREKAP BUMDES YG SDH MELAKUKAN PERJANJIAN TEKNIS DAN MENGIRIM DATA TSB UTK AKTIVASI LAYANAN GUNA MENDAPATKAN USERNAME PASSWORD PENGAJUAN PERMOHONAN IMPLEMENTASI SAMSAT BUDIMAN KE </a:t>
            </a:r>
            <a:r>
              <a:rPr lang="en-US" altLang="id-ID" sz="2000" b="1" u="sng" spc="-4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BAPENDA</a:t>
            </a:r>
            <a:endParaRPr lang="en-US" altLang="id-ID" sz="3600" u="sng" spc="-4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0C6A57-F8CC-4AA8-8773-4FFA7C2E9BA1}"/>
              </a:ext>
            </a:extLst>
          </p:cNvPr>
          <p:cNvSpPr txBox="1"/>
          <p:nvPr/>
        </p:nvSpPr>
        <p:spPr>
          <a:xfrm>
            <a:off x="5613992" y="5789920"/>
            <a:ext cx="2104053" cy="40011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id-ID" sz="2000" b="1" spc="-4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PELAKSANAAN</a:t>
            </a:r>
            <a:endParaRPr lang="en-US" altLang="id-ID" sz="3600" spc="-4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0C6A57-F8CC-4AA8-8773-4FFA7C2E9BA1}"/>
              </a:ext>
            </a:extLst>
          </p:cNvPr>
          <p:cNvSpPr txBox="1"/>
          <p:nvPr/>
        </p:nvSpPr>
        <p:spPr>
          <a:xfrm>
            <a:off x="1084005" y="955545"/>
            <a:ext cx="315432" cy="40011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id-ID" sz="2000" b="1" spc="-4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altLang="id-ID" sz="3600" spc="-4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0C6A57-F8CC-4AA8-8773-4FFA7C2E9BA1}"/>
              </a:ext>
            </a:extLst>
          </p:cNvPr>
          <p:cNvSpPr txBox="1"/>
          <p:nvPr/>
        </p:nvSpPr>
        <p:spPr>
          <a:xfrm>
            <a:off x="3963523" y="1285412"/>
            <a:ext cx="315432" cy="40011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id-ID" sz="2000" b="1" spc="-4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altLang="id-ID" sz="3600" spc="-4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0C6A57-F8CC-4AA8-8773-4FFA7C2E9BA1}"/>
              </a:ext>
            </a:extLst>
          </p:cNvPr>
          <p:cNvSpPr txBox="1"/>
          <p:nvPr/>
        </p:nvSpPr>
        <p:spPr>
          <a:xfrm>
            <a:off x="6928882" y="1919626"/>
            <a:ext cx="315432" cy="40011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id-ID" sz="2000" b="1" spc="-4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altLang="id-ID" sz="3600" spc="-4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0C6A57-F8CC-4AA8-8773-4FFA7C2E9BA1}"/>
              </a:ext>
            </a:extLst>
          </p:cNvPr>
          <p:cNvSpPr txBox="1"/>
          <p:nvPr/>
        </p:nvSpPr>
        <p:spPr>
          <a:xfrm>
            <a:off x="9943087" y="2179010"/>
            <a:ext cx="315432" cy="40011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id-ID" sz="2000" b="1" spc="-4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altLang="id-ID" sz="3600" spc="-4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0C6A57-F8CC-4AA8-8773-4FFA7C2E9BA1}"/>
              </a:ext>
            </a:extLst>
          </p:cNvPr>
          <p:cNvSpPr txBox="1"/>
          <p:nvPr/>
        </p:nvSpPr>
        <p:spPr>
          <a:xfrm>
            <a:off x="6508302" y="5338832"/>
            <a:ext cx="315432" cy="40011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id-ID" sz="2000" b="1" spc="-4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altLang="id-ID" sz="3600" spc="-4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0C6A57-F8CC-4AA8-8773-4FFA7C2E9BA1}"/>
              </a:ext>
            </a:extLst>
          </p:cNvPr>
          <p:cNvSpPr txBox="1"/>
          <p:nvPr/>
        </p:nvSpPr>
        <p:spPr>
          <a:xfrm>
            <a:off x="1967023" y="146677"/>
            <a:ext cx="8814391" cy="95410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id-ID" sz="2800" b="1" spc="-40" dirty="0">
                <a:solidFill>
                  <a:schemeClr val="bg1"/>
                </a:solidFill>
                <a:latin typeface="Baskerville Old Face" pitchFamily="18" charset="0"/>
                <a:cs typeface="Arial" panose="020B0604020202020204" pitchFamily="34" charset="0"/>
              </a:rPr>
              <a:t>ALUR PELAKSANAAN IMPLEMENTASI </a:t>
            </a:r>
          </a:p>
          <a:p>
            <a:pPr algn="ctr"/>
            <a:r>
              <a:rPr lang="en-US" altLang="id-ID" sz="2800" b="1" spc="-40" dirty="0">
                <a:solidFill>
                  <a:schemeClr val="bg1"/>
                </a:solidFill>
                <a:latin typeface="Baskerville Old Face" pitchFamily="18" charset="0"/>
                <a:cs typeface="Arial" panose="020B0604020202020204" pitchFamily="34" charset="0"/>
              </a:rPr>
              <a:t>SAMSAT BUDIMAN</a:t>
            </a:r>
            <a:endParaRPr lang="en-US" altLang="id-ID" sz="2800" spc="-40" dirty="0">
              <a:solidFill>
                <a:schemeClr val="bg1"/>
              </a:solidFill>
              <a:latin typeface="Baskerville Old Face" pitchFamily="18" charset="0"/>
              <a:cs typeface="Arial" panose="020B0604020202020204" pitchFamily="34" charset="0"/>
            </a:endParaRPr>
          </a:p>
        </p:txBody>
      </p:sp>
      <p:sp>
        <p:nvSpPr>
          <p:cNvPr id="22" name="Flowchart: Preparation 21"/>
          <p:cNvSpPr/>
          <p:nvPr/>
        </p:nvSpPr>
        <p:spPr>
          <a:xfrm>
            <a:off x="11709400" y="6347691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id-ID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  <a:endParaRPr lang="en-US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132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19" y="125392"/>
            <a:ext cx="11888395" cy="65462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2178" y="5305371"/>
            <a:ext cx="3945050" cy="293071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 rot="5400000" flipV="1">
            <a:off x="-408874" y="542193"/>
            <a:ext cx="1155600" cy="7121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0C6A57-F8CC-4AA8-8773-4FFA7C2E9BA1}"/>
              </a:ext>
            </a:extLst>
          </p:cNvPr>
          <p:cNvSpPr txBox="1"/>
          <p:nvPr/>
        </p:nvSpPr>
        <p:spPr>
          <a:xfrm>
            <a:off x="3387012" y="3198455"/>
            <a:ext cx="5281127" cy="40011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id-ID" sz="2000" b="1" spc="-40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http://bit.ly/bergabungsamsatbudiman</a:t>
            </a:r>
            <a:endParaRPr lang="en-US" altLang="id-ID" sz="3600" b="1" spc="-40" dirty="0">
              <a:solidFill>
                <a:schemeClr val="tx2">
                  <a:lumMod val="7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lowchart: Preparation 21"/>
          <p:cNvSpPr/>
          <p:nvPr/>
        </p:nvSpPr>
        <p:spPr>
          <a:xfrm>
            <a:off x="11709400" y="6347691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93487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8744877" y="0"/>
            <a:ext cx="3447123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455" y="0"/>
            <a:ext cx="10105260" cy="39465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4972" y="2152262"/>
            <a:ext cx="34545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 pembangunan Provinsi Jawa Tengah</a:t>
            </a:r>
            <a:endParaRPr lang="en-ID"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2178" y="5305371"/>
            <a:ext cx="3945050" cy="293071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 rot="5400000" flipV="1">
            <a:off x="-408874" y="542193"/>
            <a:ext cx="1155600" cy="7121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/>
          <p:cNvSpPr txBox="1"/>
          <p:nvPr/>
        </p:nvSpPr>
        <p:spPr>
          <a:xfrm>
            <a:off x="484599" y="3444949"/>
            <a:ext cx="7809905" cy="2676348"/>
          </a:xfrm>
          <a:prstGeom prst="rect">
            <a:avLst/>
          </a:prstGeom>
          <a:effectLst>
            <a:outerShdw blurRad="50800" dist="101600" dir="3000000" algn="t" rotWithShape="0">
              <a:prstClr val="black">
                <a:alpha val="62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1500" dirty="0" err="1">
                <a:solidFill>
                  <a:schemeClr val="tx2">
                    <a:lumMod val="75000"/>
                  </a:schemeClr>
                </a:solidFill>
                <a:latin typeface="Yesteryear" panose="03020802040607070802" pitchFamily="66" charset="0"/>
              </a:rPr>
              <a:t>Terima</a:t>
            </a:r>
            <a:r>
              <a:rPr lang="en-US" sz="11500" dirty="0">
                <a:solidFill>
                  <a:schemeClr val="tx2">
                    <a:lumMod val="75000"/>
                  </a:schemeClr>
                </a:solidFill>
                <a:latin typeface="Yesteryear" panose="03020802040607070802" pitchFamily="66" charset="0"/>
              </a:rPr>
              <a:t>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248</Words>
  <Application>Microsoft Office PowerPoint</Application>
  <PresentationFormat>Widescreen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Arial Black</vt:lpstr>
      <vt:lpstr>Baskerville Old Face</vt:lpstr>
      <vt:lpstr>Calibri</vt:lpstr>
      <vt:lpstr>Calibri Light</vt:lpstr>
      <vt:lpstr>Tahoma</vt:lpstr>
      <vt:lpstr>Yesteryear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PajakROG</dc:creator>
  <cp:lastModifiedBy>PKB ROG</cp:lastModifiedBy>
  <cp:revision>22</cp:revision>
  <dcterms:created xsi:type="dcterms:W3CDTF">2022-08-18T00:48:28Z</dcterms:created>
  <dcterms:modified xsi:type="dcterms:W3CDTF">2022-09-15T05:14:33Z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38679B3B8A5245758EB377D2900BA76B</vt:lpwstr>
  </property>
  <property fmtid="{D5CDD505-2E9C-101B-9397-08002B2CF9AE}" pid="3" name="KSOProductBuildVer">
    <vt:lpwstr>1033-11.2.0.11254</vt:lpwstr>
  </property>
</Properties>
</file>